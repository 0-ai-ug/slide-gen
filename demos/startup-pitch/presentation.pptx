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energy. Pause after the tagline.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pain. Each point should resonate with technical buyers.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the product here. Show the CLI flow live if possible.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chart is the star. Let the numbers speak.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Name-drop the big logos. Mention Stripe case study.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Google Brain and Meta AI pedigree.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direct about the ask. $42M at $420M pre-money.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3"/>
          <p:cNvSpPr/>
          <p:nvPr/>
        </p:nvSpPr>
        <p:spPr>
          <a:xfrm>
            <a:off x="7111822" y="-1270000"/>
            <a:ext cx="5714857" cy="5715000"/>
          </a:xfrm>
          <a:prstGeom prst="roundRect">
            <a:avLst>
              <a:gd name="adj" fmla="val 50000"/>
            </a:avLst>
          </a:prstGeom>
          <a:gradFill rotWithShape="0">
            <a:gsLst>
              <a:gs pos="23333">
                <a:srgbClr val="FF6B35">
                  <a:alpha val="15000"/>
                </a:srgbClr>
              </a:gs>
              <a:gs pos="26250">
                <a:srgbClr val="DE5F63">
                  <a:alpha val="13250"/>
                </a:srgbClr>
              </a:gs>
              <a:gs pos="29167">
                <a:srgbClr val="BE5391">
                  <a:alpha val="11500"/>
                </a:srgbClr>
              </a:gs>
              <a:gs pos="32083">
                <a:srgbClr val="9D46BF">
                  <a:alpha val="9750"/>
                </a:srgbClr>
              </a:gs>
              <a:gs pos="35000">
                <a:srgbClr val="7C3AED">
                  <a:alpha val="8000"/>
                </a:srgbClr>
              </a:gs>
              <a:gs pos="38500">
                <a:srgbClr val="5D2CB2">
                  <a:alpha val="6000"/>
                </a:srgbClr>
              </a:gs>
              <a:gs pos="42000">
                <a:srgbClr val="3E1D77">
                  <a:alpha val="4000"/>
                </a:srgbClr>
              </a:gs>
              <a:gs pos="45500">
                <a:srgbClr val="1F0F3B">
                  <a:alpha val="2000"/>
                </a:srgbClr>
              </a:gs>
              <a:gs pos="49000">
                <a:srgbClr val="000000">
                  <a:alpha val="0"/>
                </a:srgbClr>
              </a:gs>
            </a:gsLst>
            <a:path path="circle">
              <a:fillToRect l="25000" t="25000" r="25000" b="25000"/>
            </a:path>
          </a:gradFill>
          <a:ln/>
        </p:spPr>
      </p:sp>
      <p:sp>
        <p:nvSpPr>
          <p:cNvPr id="4" name="Shape 4"/>
          <p:cNvSpPr/>
          <p:nvPr/>
        </p:nvSpPr>
        <p:spPr>
          <a:xfrm>
            <a:off x="761981" y="0"/>
            <a:ext cx="6350" cy="6858000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5" name="Shape 5"/>
          <p:cNvSpPr/>
          <p:nvPr/>
        </p:nvSpPr>
        <p:spPr>
          <a:xfrm>
            <a:off x="3047924" y="0"/>
            <a:ext cx="6350" cy="6858000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6" name="Shape 6"/>
          <p:cNvSpPr/>
          <p:nvPr/>
        </p:nvSpPr>
        <p:spPr>
          <a:xfrm>
            <a:off x="5333867" y="0"/>
            <a:ext cx="6350" cy="6858000"/>
          </a:xfrm>
          <a:prstGeom prst="rect">
            <a:avLst/>
          </a:prstGeom>
          <a:solidFill>
            <a:srgbClr val="FF6B35">
              <a:alpha val="8000"/>
            </a:srgbClr>
          </a:solidFill>
          <a:ln/>
        </p:spPr>
      </p:sp>
      <p:sp>
        <p:nvSpPr>
          <p:cNvPr id="7" name="Shape 7"/>
          <p:cNvSpPr/>
          <p:nvPr/>
        </p:nvSpPr>
        <p:spPr>
          <a:xfrm>
            <a:off x="761981" y="508000"/>
            <a:ext cx="228594" cy="228600"/>
          </a:xfrm>
          <a:prstGeom prst="roundRect">
            <a:avLst>
              <a:gd name="adj" fmla="val 22222"/>
            </a:avLst>
          </a:prstGeom>
          <a:gradFill>
            <a:gsLst>
              <a:gs pos="0">
                <a:srgbClr val="FF6B35"/>
              </a:gs>
              <a:gs pos="100000">
                <a:srgbClr val="7C3AED"/>
              </a:gs>
            </a:gsLst>
            <a:lin ang="2700000" scaled="1"/>
          </a:gradFill>
          <a:ln/>
        </p:spPr>
      </p:sp>
      <p:sp>
        <p:nvSpPr>
          <p:cNvPr id="8" name="Shape 8"/>
          <p:cNvSpPr/>
          <p:nvPr/>
        </p:nvSpPr>
        <p:spPr>
          <a:xfrm>
            <a:off x="9856144" y="533400"/>
            <a:ext cx="157357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6B35"/>
            </a:solidFill>
          </a:ln>
        </p:spPr>
      </p:sp>
      <p:sp>
        <p:nvSpPr>
          <p:cNvPr id="9" name="Shape 9"/>
          <p:cNvSpPr/>
          <p:nvPr/>
        </p:nvSpPr>
        <p:spPr>
          <a:xfrm>
            <a:off x="0" y="5965825"/>
            <a:ext cx="12191695" cy="6350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10" name="Shape 10"/>
          <p:cNvSpPr/>
          <p:nvPr/>
        </p:nvSpPr>
        <p:spPr>
          <a:xfrm>
            <a:off x="3328904" y="6226175"/>
            <a:ext cx="6350" cy="381000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11" name="Shape 11"/>
          <p:cNvSpPr/>
          <p:nvPr/>
        </p:nvSpPr>
        <p:spPr>
          <a:xfrm>
            <a:off x="6283168" y="6226175"/>
            <a:ext cx="6350" cy="381000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12" name="Shape 12"/>
          <p:cNvSpPr/>
          <p:nvPr/>
        </p:nvSpPr>
        <p:spPr>
          <a:xfrm>
            <a:off x="9237432" y="6226175"/>
            <a:ext cx="6350" cy="381000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13" name="Text 13"/>
          <p:cNvSpPr/>
          <p:nvPr/>
        </p:nvSpPr>
        <p:spPr>
          <a:xfrm>
            <a:off x="1066773" y="533400"/>
            <a:ext cx="697986" cy="195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100" dirty="0" spc="0">
                <a:solidFill>
                  <a:srgbClr val="F5F5F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Luminar</a:t>
            </a:r>
            <a:endParaRPr lang="en-US" sz="1100" dirty="0"/>
          </a:p>
        </p:txBody>
      </p:sp>
      <p:sp>
        <p:nvSpPr>
          <p:cNvPr id="14" name="Text 14"/>
          <p:cNvSpPr/>
          <p:nvPr/>
        </p:nvSpPr>
        <p:spPr>
          <a:xfrm>
            <a:off x="9989491" y="590550"/>
            <a:ext cx="1633596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spc="1">
                <a:solidFill>
                  <a:srgbClr val="FF6B3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 SERIES B · $42M RAISE </a:t>
            </a:r>
            <a:endParaRPr lang="en-US" sz="700" dirty="0"/>
          </a:p>
        </p:txBody>
      </p:sp>
      <p:sp>
        <p:nvSpPr>
          <p:cNvPr id="15" name="Text 15"/>
          <p:cNvSpPr/>
          <p:nvPr/>
        </p:nvSpPr>
        <p:spPr>
          <a:xfrm>
            <a:off x="761981" y="1905000"/>
            <a:ext cx="2589545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 spc="1">
                <a:solidFill>
                  <a:srgbClr val="FF6B3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 INFRASTRUCTURE FOR THE AI ERA </a:t>
            </a:r>
            <a:endParaRPr lang="en-US" sz="750" dirty="0"/>
          </a:p>
        </p:txBody>
      </p:sp>
      <p:sp>
        <p:nvSpPr>
          <p:cNvPr id="16" name="Text 16"/>
          <p:cNvSpPr/>
          <p:nvPr/>
        </p:nvSpPr>
        <p:spPr>
          <a:xfrm>
            <a:off x="761981" y="2127250"/>
            <a:ext cx="8000800" cy="1993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00000"/>
              </a:lnSpc>
              <a:buNone/>
            </a:pPr>
            <a:r>
              <a:rPr lang="en-US" sz="4800" dirty="0" spc="-1">
                <a:solidFill>
                  <a:srgbClr val="F5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 Deploy models</a:t>
            </a:r>
            <a:endParaRPr lang="en-US" sz="48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00000"/>
              </a:lnSpc>
              <a:buNone/>
            </a:pPr>
            <a:r>
              <a:rPr lang="en-US" sz="4800" dirty="0" spc="-1">
                <a:solidFill>
                  <a:srgbClr val="F5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 the speed</a:t>
            </a:r>
            <a:endParaRPr lang="en-US" sz="48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00000"/>
              </a:lnSpc>
              <a:buNone/>
            </a:pPr>
            <a:r>
              <a:rPr lang="en-US" sz="4800" dirty="0" spc="-1">
                <a:solidFill>
                  <a:srgbClr val="F5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thought. </a:t>
            </a:r>
            <a:endParaRPr lang="en-US" sz="4800" dirty="0"/>
          </a:p>
        </p:txBody>
      </p:sp>
      <p:sp>
        <p:nvSpPr>
          <p:cNvPr id="17" name="Text 17"/>
          <p:cNvSpPr/>
          <p:nvPr/>
        </p:nvSpPr>
        <p:spPr>
          <a:xfrm>
            <a:off x="761981" y="6219825"/>
            <a:ext cx="200045" cy="106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00" dirty="0" spc="1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ARR</a:t>
            </a:r>
            <a:endParaRPr lang="en-US" sz="600" dirty="0"/>
          </a:p>
        </p:txBody>
      </p:sp>
      <p:sp>
        <p:nvSpPr>
          <p:cNvPr id="18" name="Text 18"/>
          <p:cNvSpPr/>
          <p:nvPr/>
        </p:nvSpPr>
        <p:spPr>
          <a:xfrm>
            <a:off x="761981" y="6321425"/>
            <a:ext cx="992783" cy="320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800" dirty="0">
                <a:solidFill>
                  <a:srgbClr val="FF6B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$18.4M</a:t>
            </a:r>
            <a:endParaRPr lang="en-US" sz="1800" dirty="0"/>
          </a:p>
        </p:txBody>
      </p:sp>
      <p:sp>
        <p:nvSpPr>
          <p:cNvPr id="19" name="Text 19"/>
          <p:cNvSpPr/>
          <p:nvPr/>
        </p:nvSpPr>
        <p:spPr>
          <a:xfrm>
            <a:off x="3716245" y="6219825"/>
            <a:ext cx="600134" cy="106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00" dirty="0" spc="1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CUSTOMERS</a:t>
            </a:r>
            <a:endParaRPr lang="en-US" sz="600" dirty="0"/>
          </a:p>
        </p:txBody>
      </p:sp>
      <p:sp>
        <p:nvSpPr>
          <p:cNvPr id="20" name="Text 20"/>
          <p:cNvSpPr/>
          <p:nvPr/>
        </p:nvSpPr>
        <p:spPr>
          <a:xfrm>
            <a:off x="3716245" y="6321425"/>
            <a:ext cx="717830" cy="320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800" dirty="0">
                <a:solidFill>
                  <a:srgbClr val="F5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340+</a:t>
            </a:r>
            <a:endParaRPr lang="en-US" sz="1800" dirty="0"/>
          </a:p>
        </p:txBody>
      </p:sp>
      <p:sp>
        <p:nvSpPr>
          <p:cNvPr id="21" name="Text 21"/>
          <p:cNvSpPr/>
          <p:nvPr/>
        </p:nvSpPr>
        <p:spPr>
          <a:xfrm>
            <a:off x="6670508" y="6219825"/>
            <a:ext cx="266768" cy="106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00" dirty="0" spc="1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TEAM</a:t>
            </a:r>
            <a:endParaRPr lang="en-US" sz="600" dirty="0"/>
          </a:p>
        </p:txBody>
      </p:sp>
      <p:sp>
        <p:nvSpPr>
          <p:cNvPr id="22" name="Text 22"/>
          <p:cNvSpPr/>
          <p:nvPr/>
        </p:nvSpPr>
        <p:spPr>
          <a:xfrm>
            <a:off x="6670508" y="6321425"/>
            <a:ext cx="348125" cy="320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800" dirty="0">
                <a:solidFill>
                  <a:srgbClr val="F5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86</a:t>
            </a:r>
            <a:endParaRPr lang="en-US" sz="1800" dirty="0"/>
          </a:p>
        </p:txBody>
      </p:sp>
      <p:sp>
        <p:nvSpPr>
          <p:cNvPr id="23" name="Text 23"/>
          <p:cNvSpPr/>
          <p:nvPr/>
        </p:nvSpPr>
        <p:spPr>
          <a:xfrm>
            <a:off x="9624772" y="6219825"/>
            <a:ext cx="200045" cy="106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00" dirty="0" spc="1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NRR</a:t>
            </a:r>
            <a:endParaRPr lang="en-US" sz="600" dirty="0"/>
          </a:p>
        </p:txBody>
      </p:sp>
      <p:sp>
        <p:nvSpPr>
          <p:cNvPr id="24" name="Text 24"/>
          <p:cNvSpPr/>
          <p:nvPr/>
        </p:nvSpPr>
        <p:spPr>
          <a:xfrm>
            <a:off x="9624772" y="6321425"/>
            <a:ext cx="697242" cy="3200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800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142%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3"/>
          <p:cNvSpPr/>
          <p:nvPr/>
        </p:nvSpPr>
        <p:spPr>
          <a:xfrm>
            <a:off x="761981" y="539750"/>
            <a:ext cx="50799" cy="50800"/>
          </a:xfrm>
          <a:prstGeom prst="roundRect">
            <a:avLst>
              <a:gd name="adj" fmla="val 49999"/>
            </a:avLst>
          </a:prstGeom>
          <a:solidFill>
            <a:srgbClr val="FF6B35"/>
          </a:solidFill>
          <a:ln/>
        </p:spPr>
      </p:sp>
      <p:sp>
        <p:nvSpPr>
          <p:cNvPr id="4" name="Shape 4"/>
          <p:cNvSpPr/>
          <p:nvPr/>
        </p:nvSpPr>
        <p:spPr>
          <a:xfrm>
            <a:off x="761981" y="2794000"/>
            <a:ext cx="3454314" cy="1555750"/>
          </a:xfrm>
          <a:prstGeom prst="roundRect">
            <a:avLst>
              <a:gd name="adj" fmla="val 4898"/>
            </a:avLst>
          </a:prstGeom>
          <a:solidFill>
            <a:srgbClr val="16161F"/>
          </a:solidFill>
          <a:ln w="6350">
            <a:solidFill>
              <a:srgbClr val="2A2A3A"/>
            </a:solidFill>
          </a:ln>
        </p:spPr>
      </p:sp>
      <p:sp>
        <p:nvSpPr>
          <p:cNvPr id="5" name="Shape 5"/>
          <p:cNvSpPr/>
          <p:nvPr/>
        </p:nvSpPr>
        <p:spPr>
          <a:xfrm>
            <a:off x="4368691" y="2794000"/>
            <a:ext cx="3454314" cy="1555750"/>
          </a:xfrm>
          <a:prstGeom prst="roundRect">
            <a:avLst>
              <a:gd name="adj" fmla="val 4898"/>
            </a:avLst>
          </a:prstGeom>
          <a:solidFill>
            <a:srgbClr val="16161F"/>
          </a:solidFill>
          <a:ln w="6350">
            <a:solidFill>
              <a:srgbClr val="2A2A3A"/>
            </a:solidFill>
          </a:ln>
        </p:spPr>
      </p:sp>
      <p:sp>
        <p:nvSpPr>
          <p:cNvPr id="6" name="Shape 6"/>
          <p:cNvSpPr/>
          <p:nvPr/>
        </p:nvSpPr>
        <p:spPr>
          <a:xfrm>
            <a:off x="7975401" y="2794000"/>
            <a:ext cx="3454314" cy="1555750"/>
          </a:xfrm>
          <a:prstGeom prst="roundRect">
            <a:avLst>
              <a:gd name="adj" fmla="val 4898"/>
            </a:avLst>
          </a:prstGeom>
          <a:solidFill>
            <a:srgbClr val="16161F"/>
          </a:solidFill>
          <a:ln w="6350">
            <a:solidFill>
              <a:srgbClr val="2A2A3A"/>
            </a:solidFill>
          </a:ln>
        </p:spPr>
      </p:sp>
      <p:sp>
        <p:nvSpPr>
          <p:cNvPr id="7" name="Text 7"/>
          <p:cNvSpPr/>
          <p:nvPr/>
        </p:nvSpPr>
        <p:spPr>
          <a:xfrm>
            <a:off x="914377" y="508000"/>
            <a:ext cx="1280138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spc="1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 / THE PROBLEM</a:t>
            </a:r>
            <a:endParaRPr lang="en-US" sz="700" dirty="0"/>
          </a:p>
        </p:txBody>
      </p:sp>
      <p:sp>
        <p:nvSpPr>
          <p:cNvPr id="8" name="Text 8"/>
          <p:cNvSpPr/>
          <p:nvPr/>
        </p:nvSpPr>
        <p:spPr>
          <a:xfrm>
            <a:off x="761981" y="1111250"/>
            <a:ext cx="6000600" cy="98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15000"/>
              </a:lnSpc>
              <a:buNone/>
            </a:pPr>
            <a:r>
              <a:rPr lang="en-US" sz="3200" dirty="0" spc="-1">
                <a:solidFill>
                  <a:srgbClr val="F5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 ML teams waste </a:t>
            </a:r>
            <a:r>
              <a:rPr lang="en-US" sz="3200" dirty="0" spc="-1">
                <a:solidFill>
                  <a:srgbClr val="FF6B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73% of their time</a:t>
            </a:r>
            <a:r>
              <a:rPr lang="en-US" sz="3200" dirty="0" spc="-1">
                <a:solidFill>
                  <a:srgbClr val="F5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 on infrastructure. </a:t>
            </a:r>
            <a:endParaRPr lang="en-US" sz="3200" dirty="0"/>
          </a:p>
        </p:txBody>
      </p:sp>
      <p:sp>
        <p:nvSpPr>
          <p:cNvPr id="9" name="Text 9"/>
          <p:cNvSpPr/>
          <p:nvPr/>
        </p:nvSpPr>
        <p:spPr>
          <a:xfrm>
            <a:off x="1022324" y="3105150"/>
            <a:ext cx="1725619" cy="497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800" dirty="0">
                <a:solidFill>
                  <a:srgbClr val="FF6B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 weeks</a:t>
            </a:r>
            <a:endParaRPr lang="en-US" sz="2800" dirty="0"/>
          </a:p>
        </p:txBody>
      </p:sp>
      <p:sp>
        <p:nvSpPr>
          <p:cNvPr id="10" name="Text 10"/>
          <p:cNvSpPr/>
          <p:nvPr/>
        </p:nvSpPr>
        <p:spPr>
          <a:xfrm>
            <a:off x="1022324" y="3670300"/>
            <a:ext cx="30803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 Average time from model training to first production deployment </a:t>
            </a:r>
            <a:endParaRPr lang="en-US" sz="1000" dirty="0"/>
          </a:p>
        </p:txBody>
      </p:sp>
      <p:sp>
        <p:nvSpPr>
          <p:cNvPr id="11" name="Text 11"/>
          <p:cNvSpPr/>
          <p:nvPr/>
        </p:nvSpPr>
        <p:spPr>
          <a:xfrm>
            <a:off x="4629034" y="3105150"/>
            <a:ext cx="1235739" cy="497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800" dirty="0">
                <a:solidFill>
                  <a:srgbClr val="7C3AE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$2.1M</a:t>
            </a:r>
            <a:endParaRPr lang="en-US" sz="2800" dirty="0"/>
          </a:p>
        </p:txBody>
      </p:sp>
      <p:sp>
        <p:nvSpPr>
          <p:cNvPr id="12" name="Text 12"/>
          <p:cNvSpPr/>
          <p:nvPr/>
        </p:nvSpPr>
        <p:spPr>
          <a:xfrm>
            <a:off x="4629034" y="3670300"/>
            <a:ext cx="30803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 Annual cost of idle GPU compute from poor orchestration </a:t>
            </a:r>
            <a:endParaRPr lang="en-US" sz="1000" dirty="0"/>
          </a:p>
        </p:txBody>
      </p:sp>
      <p:sp>
        <p:nvSpPr>
          <p:cNvPr id="13" name="Text 13"/>
          <p:cNvSpPr/>
          <p:nvPr/>
        </p:nvSpPr>
        <p:spPr>
          <a:xfrm>
            <a:off x="8235744" y="3105150"/>
            <a:ext cx="954833" cy="497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800" dirty="0">
                <a:solidFill>
                  <a:srgbClr val="F5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4.2×</a:t>
            </a:r>
            <a:endParaRPr lang="en-US" sz="2800" dirty="0"/>
          </a:p>
        </p:txBody>
      </p:sp>
      <p:sp>
        <p:nvSpPr>
          <p:cNvPr id="14" name="Text 14"/>
          <p:cNvSpPr/>
          <p:nvPr/>
        </p:nvSpPr>
        <p:spPr>
          <a:xfrm>
            <a:off x="8235744" y="3670300"/>
            <a:ext cx="30803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 More engineers needed vs. companies with modern MLOps tooling </a:t>
            </a:r>
            <a:endParaRPr lang="en-US" sz="1000" dirty="0"/>
          </a:p>
        </p:txBody>
      </p:sp>
      <p:sp>
        <p:nvSpPr>
          <p:cNvPr id="15" name="Text 15"/>
          <p:cNvSpPr/>
          <p:nvPr/>
        </p:nvSpPr>
        <p:spPr>
          <a:xfrm>
            <a:off x="761981" y="6375400"/>
            <a:ext cx="2971775" cy="106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00" dirty="0">
                <a:solidFill>
                  <a:srgbClr val="6B7280">
                    <a:alpha val="60000"/>
                  </a:srgbClr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 Source: Gartner MLOps Survey 2025 · n=1,200 ML teams </a:t>
            </a:r>
            <a:endParaRPr lang="en-US" sz="600" dirty="0"/>
          </a:p>
        </p:txBody>
      </p:sp>
      <p:sp>
        <p:nvSpPr>
          <p:cNvPr id="16" name="Text 16"/>
          <p:cNvSpPr/>
          <p:nvPr/>
        </p:nvSpPr>
        <p:spPr>
          <a:xfrm>
            <a:off x="11322958" y="6362700"/>
            <a:ext cx="133446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3"/>
          <p:cNvSpPr/>
          <p:nvPr/>
        </p:nvSpPr>
        <p:spPr>
          <a:xfrm>
            <a:off x="761981" y="539750"/>
            <a:ext cx="50799" cy="50800"/>
          </a:xfrm>
          <a:prstGeom prst="roundRect">
            <a:avLst>
              <a:gd name="adj" fmla="val 49999"/>
            </a:avLst>
          </a:prstGeom>
          <a:solidFill>
            <a:srgbClr val="FF6B35"/>
          </a:solidFill>
          <a:ln/>
        </p:spPr>
      </p:sp>
      <p:sp>
        <p:nvSpPr>
          <p:cNvPr id="4" name="Shape 4"/>
          <p:cNvSpPr/>
          <p:nvPr/>
        </p:nvSpPr>
        <p:spPr>
          <a:xfrm>
            <a:off x="6222844" y="1016000"/>
            <a:ext cx="5206870" cy="2667000"/>
          </a:xfrm>
          <a:prstGeom prst="roundRect">
            <a:avLst>
              <a:gd name="adj" fmla="val 2857"/>
            </a:avLst>
          </a:prstGeom>
          <a:solidFill>
            <a:srgbClr val="0D0D12"/>
          </a:solidFill>
          <a:ln w="6350">
            <a:solidFill>
              <a:srgbClr val="2A2A3A"/>
            </a:solidFill>
          </a:ln>
        </p:spPr>
      </p:sp>
      <p:sp>
        <p:nvSpPr>
          <p:cNvPr id="5" name="Shape 5"/>
          <p:cNvSpPr/>
          <p:nvPr/>
        </p:nvSpPr>
        <p:spPr>
          <a:xfrm>
            <a:off x="6229194" y="1022350"/>
            <a:ext cx="5194170" cy="279400"/>
          </a:xfrm>
          <a:prstGeom prst="rect">
            <a:avLst/>
          </a:prstGeom>
          <a:solidFill>
            <a:srgbClr val="111118"/>
          </a:solidFill>
          <a:ln/>
        </p:spPr>
      </p:sp>
      <p:sp>
        <p:nvSpPr>
          <p:cNvPr id="6" name="Shape 6"/>
          <p:cNvSpPr/>
          <p:nvPr/>
        </p:nvSpPr>
        <p:spPr>
          <a:xfrm>
            <a:off x="6229194" y="1298575"/>
            <a:ext cx="5194170" cy="6350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7" name="Shape 7"/>
          <p:cNvSpPr/>
          <p:nvPr/>
        </p:nvSpPr>
        <p:spPr>
          <a:xfrm>
            <a:off x="6330792" y="1120775"/>
            <a:ext cx="76198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8" name="Shape 8"/>
          <p:cNvSpPr/>
          <p:nvPr/>
        </p:nvSpPr>
        <p:spPr>
          <a:xfrm>
            <a:off x="6457789" y="1120775"/>
            <a:ext cx="76198" cy="76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9" name="Shape 9"/>
          <p:cNvSpPr/>
          <p:nvPr/>
        </p:nvSpPr>
        <p:spPr>
          <a:xfrm>
            <a:off x="6584785" y="1120775"/>
            <a:ext cx="76198" cy="76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0" name="Shape 10"/>
          <p:cNvSpPr/>
          <p:nvPr/>
        </p:nvSpPr>
        <p:spPr>
          <a:xfrm>
            <a:off x="761981" y="4064000"/>
            <a:ext cx="2571686" cy="1139825"/>
          </a:xfrm>
          <a:prstGeom prst="roundRect">
            <a:avLst>
              <a:gd name="adj" fmla="val 6685"/>
            </a:avLst>
          </a:prstGeom>
          <a:solidFill>
            <a:srgbClr val="16161F"/>
          </a:solidFill>
          <a:ln w="6350">
            <a:solidFill>
              <a:srgbClr val="2A2A3A"/>
            </a:solidFill>
          </a:ln>
        </p:spPr>
      </p:sp>
      <p:sp>
        <p:nvSpPr>
          <p:cNvPr id="11" name="Shape 11"/>
          <p:cNvSpPr/>
          <p:nvPr/>
        </p:nvSpPr>
        <p:spPr>
          <a:xfrm>
            <a:off x="3460663" y="4064000"/>
            <a:ext cx="2571686" cy="1139825"/>
          </a:xfrm>
          <a:prstGeom prst="roundRect">
            <a:avLst>
              <a:gd name="adj" fmla="val 6685"/>
            </a:avLst>
          </a:prstGeom>
          <a:solidFill>
            <a:srgbClr val="16161F"/>
          </a:solidFill>
          <a:ln w="6350">
            <a:solidFill>
              <a:srgbClr val="2A2A3A"/>
            </a:solidFill>
          </a:ln>
        </p:spPr>
      </p:sp>
      <p:sp>
        <p:nvSpPr>
          <p:cNvPr id="12" name="Shape 12"/>
          <p:cNvSpPr/>
          <p:nvPr/>
        </p:nvSpPr>
        <p:spPr>
          <a:xfrm>
            <a:off x="6159346" y="4064000"/>
            <a:ext cx="2571686" cy="1139825"/>
          </a:xfrm>
          <a:prstGeom prst="roundRect">
            <a:avLst>
              <a:gd name="adj" fmla="val 6685"/>
            </a:avLst>
          </a:prstGeom>
          <a:solidFill>
            <a:srgbClr val="16161F"/>
          </a:solidFill>
          <a:ln w="6350">
            <a:solidFill>
              <a:srgbClr val="2A2A3A"/>
            </a:solidFill>
          </a:ln>
        </p:spPr>
      </p:sp>
      <p:sp>
        <p:nvSpPr>
          <p:cNvPr id="13" name="Shape 13"/>
          <p:cNvSpPr/>
          <p:nvPr/>
        </p:nvSpPr>
        <p:spPr>
          <a:xfrm>
            <a:off x="8858029" y="4064000"/>
            <a:ext cx="2571686" cy="1139825"/>
          </a:xfrm>
          <a:prstGeom prst="roundRect">
            <a:avLst>
              <a:gd name="adj" fmla="val 6685"/>
            </a:avLst>
          </a:prstGeom>
          <a:solidFill>
            <a:srgbClr val="16161F"/>
          </a:solidFill>
          <a:ln w="6350">
            <a:solidFill>
              <a:srgbClr val="2A2A3A"/>
            </a:solidFill>
          </a:ln>
        </p:spPr>
      </p:sp>
      <p:sp>
        <p:nvSpPr>
          <p:cNvPr id="14" name="Text 14"/>
          <p:cNvSpPr/>
          <p:nvPr/>
        </p:nvSpPr>
        <p:spPr>
          <a:xfrm>
            <a:off x="914377" y="508000"/>
            <a:ext cx="1360255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spc="1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 / THE SOLUTION</a:t>
            </a:r>
            <a:endParaRPr lang="en-US" sz="700" dirty="0"/>
          </a:p>
        </p:txBody>
      </p:sp>
      <p:sp>
        <p:nvSpPr>
          <p:cNvPr id="15" name="Text 15"/>
          <p:cNvSpPr/>
          <p:nvPr/>
        </p:nvSpPr>
        <p:spPr>
          <a:xfrm>
            <a:off x="761981" y="1054100"/>
            <a:ext cx="4667133" cy="859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15000"/>
              </a:lnSpc>
              <a:buNone/>
            </a:pPr>
            <a:r>
              <a:rPr lang="en-US" sz="2800" dirty="0" spc="-1">
                <a:solidFill>
                  <a:srgbClr val="F5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 One command.</a:t>
            </a:r>
            <a:endParaRPr lang="en-US" sz="28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15000"/>
              </a:lnSpc>
              <a:buNone/>
            </a:pPr>
            <a:r>
              <a:rPr lang="en-US" sz="2800" dirty="0" spc="-1">
                <a:solidFill>
                  <a:srgbClr val="F5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Production-ready. </a:t>
            </a:r>
            <a:endParaRPr lang="en-US" sz="2800" dirty="0"/>
          </a:p>
        </p:txBody>
      </p:sp>
      <p:sp>
        <p:nvSpPr>
          <p:cNvPr id="16" name="Text 16"/>
          <p:cNvSpPr/>
          <p:nvPr/>
        </p:nvSpPr>
        <p:spPr>
          <a:xfrm>
            <a:off x="761981" y="2068711"/>
            <a:ext cx="373370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6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 Luminar abstracts away GPU provisioning, model packaging, traffic routing, and monitoring — so your team ships models, not YAML. </a:t>
            </a:r>
            <a:endParaRPr lang="en-US" sz="1000" dirty="0"/>
          </a:p>
        </p:txBody>
      </p:sp>
      <p:sp>
        <p:nvSpPr>
          <p:cNvPr id="17" name="Text 17"/>
          <p:cNvSpPr/>
          <p:nvPr/>
        </p:nvSpPr>
        <p:spPr>
          <a:xfrm>
            <a:off x="6787980" y="1104900"/>
            <a:ext cx="495337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terminal</a:t>
            </a:r>
            <a:endParaRPr lang="en-US" sz="650" dirty="0"/>
          </a:p>
        </p:txBody>
      </p:sp>
      <p:sp>
        <p:nvSpPr>
          <p:cNvPr id="18" name="Text 18"/>
          <p:cNvSpPr/>
          <p:nvPr/>
        </p:nvSpPr>
        <p:spPr>
          <a:xfrm>
            <a:off x="6406990" y="1511300"/>
            <a:ext cx="1714457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00000"/>
              </a:lnSpc>
              <a:buNone/>
            </a:pPr>
            <a:r>
              <a:rPr lang="en-US" sz="750" dirty="0">
                <a:solidFill>
                  <a:srgbClr val="22C55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$</a:t>
            </a:r>
            <a:r>
              <a:rPr lang="en-US" sz="750" dirty="0">
                <a:solidFill>
                  <a:srgbClr val="F5F5F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luminar deploy ./model</a:t>
            </a:r>
            <a:endParaRPr lang="en-US" sz="750" dirty="0"/>
          </a:p>
        </p:txBody>
      </p:sp>
      <p:sp>
        <p:nvSpPr>
          <p:cNvPr id="19" name="Text 19"/>
          <p:cNvSpPr/>
          <p:nvPr/>
        </p:nvSpPr>
        <p:spPr>
          <a:xfrm>
            <a:off x="6406990" y="1701800"/>
            <a:ext cx="2153117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0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 ⣾ Packaging model artifacts...</a:t>
            </a:r>
            <a:endParaRPr lang="en-US" sz="750" dirty="0"/>
          </a:p>
        </p:txBody>
      </p:sp>
      <p:sp>
        <p:nvSpPr>
          <p:cNvPr id="20" name="Text 20"/>
          <p:cNvSpPr/>
          <p:nvPr/>
        </p:nvSpPr>
        <p:spPr>
          <a:xfrm>
            <a:off x="6406990" y="1892300"/>
            <a:ext cx="1714705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0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 ✓ Container built (2.1s)</a:t>
            </a:r>
            <a:endParaRPr lang="en-US" sz="750" dirty="0"/>
          </a:p>
        </p:txBody>
      </p:sp>
      <p:sp>
        <p:nvSpPr>
          <p:cNvPr id="21" name="Text 21"/>
          <p:cNvSpPr/>
          <p:nvPr/>
        </p:nvSpPr>
        <p:spPr>
          <a:xfrm>
            <a:off x="6406990" y="2082800"/>
            <a:ext cx="2286191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0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 ✓ GPU cluster allocated (A100×4)</a:t>
            </a:r>
            <a:endParaRPr lang="en-US" sz="750" dirty="0"/>
          </a:p>
        </p:txBody>
      </p:sp>
      <p:sp>
        <p:nvSpPr>
          <p:cNvPr id="22" name="Text 22"/>
          <p:cNvSpPr/>
          <p:nvPr/>
        </p:nvSpPr>
        <p:spPr>
          <a:xfrm>
            <a:off x="6406990" y="2273300"/>
            <a:ext cx="2286439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0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 ✓ Canary deployed → 100% traffic</a:t>
            </a:r>
            <a:endParaRPr lang="en-US" sz="750" dirty="0"/>
          </a:p>
        </p:txBody>
      </p:sp>
      <p:sp>
        <p:nvSpPr>
          <p:cNvPr id="23" name="Text 23"/>
          <p:cNvSpPr/>
          <p:nvPr/>
        </p:nvSpPr>
        <p:spPr>
          <a:xfrm>
            <a:off x="6406990" y="2463800"/>
            <a:ext cx="2500498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00000"/>
              </a:lnSpc>
              <a:buNone/>
            </a:pPr>
            <a:r>
              <a:rPr lang="en-US" sz="750" dirty="0">
                <a:solidFill>
                  <a:srgbClr val="22C55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 ✓ Live at api.luminar.ai/v1/predict</a:t>
            </a:r>
            <a:endParaRPr lang="en-US" sz="750" dirty="0"/>
          </a:p>
        </p:txBody>
      </p:sp>
      <p:sp>
        <p:nvSpPr>
          <p:cNvPr id="24" name="Text 24"/>
          <p:cNvSpPr/>
          <p:nvPr/>
        </p:nvSpPr>
        <p:spPr>
          <a:xfrm>
            <a:off x="6406990" y="2844800"/>
            <a:ext cx="214307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200000"/>
              </a:lnSpc>
              <a:buNone/>
            </a:pPr>
            <a:r>
              <a:rPr lang="en-US" sz="750" dirty="0">
                <a:solidFill>
                  <a:srgbClr val="22C55E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$</a:t>
            </a:r>
            <a:r>
              <a:rPr lang="en-US" sz="750" dirty="0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_</a:t>
            </a:r>
            <a:endParaRPr lang="en-US" sz="750" dirty="0"/>
          </a:p>
        </p:txBody>
      </p:sp>
      <p:sp>
        <p:nvSpPr>
          <p:cNvPr id="25" name="Text 25"/>
          <p:cNvSpPr/>
          <p:nvPr/>
        </p:nvSpPr>
        <p:spPr>
          <a:xfrm>
            <a:off x="971526" y="4298950"/>
            <a:ext cx="866778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spc="1">
                <a:solidFill>
                  <a:srgbClr val="FF6B3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AUTO-SCALING</a:t>
            </a:r>
            <a:endParaRPr lang="en-US" sz="650" dirty="0"/>
          </a:p>
        </p:txBody>
      </p:sp>
      <p:sp>
        <p:nvSpPr>
          <p:cNvPr id="26" name="Text 26"/>
          <p:cNvSpPr/>
          <p:nvPr/>
        </p:nvSpPr>
        <p:spPr>
          <a:xfrm>
            <a:off x="971526" y="4489450"/>
            <a:ext cx="2260226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850" dirty="0">
                <a:solidFill>
                  <a:srgbClr val="F5F5F0">
                    <a:alpha val="7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 Scale from zero to thousands of GPUs based on real-time demand. Pay only for what you use. </a:t>
            </a:r>
            <a:endParaRPr lang="en-US" sz="850" dirty="0"/>
          </a:p>
        </p:txBody>
      </p:sp>
      <p:sp>
        <p:nvSpPr>
          <p:cNvPr id="27" name="Text 27"/>
          <p:cNvSpPr/>
          <p:nvPr/>
        </p:nvSpPr>
        <p:spPr>
          <a:xfrm>
            <a:off x="3670208" y="4298950"/>
            <a:ext cx="1011262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spc="1">
                <a:solidFill>
                  <a:srgbClr val="FF6B3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MODEL REGISTRY</a:t>
            </a:r>
            <a:endParaRPr lang="en-US" sz="650" dirty="0"/>
          </a:p>
        </p:txBody>
      </p:sp>
      <p:sp>
        <p:nvSpPr>
          <p:cNvPr id="28" name="Text 28"/>
          <p:cNvSpPr/>
          <p:nvPr/>
        </p:nvSpPr>
        <p:spPr>
          <a:xfrm>
            <a:off x="3670208" y="4489450"/>
            <a:ext cx="226022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850" dirty="0">
                <a:solidFill>
                  <a:srgbClr val="F5F5F0">
                    <a:alpha val="7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 Version, tag, and rollback any model with full lineage tracking and audit logs. </a:t>
            </a:r>
            <a:endParaRPr lang="en-US" sz="850" dirty="0"/>
          </a:p>
        </p:txBody>
      </p:sp>
      <p:sp>
        <p:nvSpPr>
          <p:cNvPr id="29" name="Text 29"/>
          <p:cNvSpPr/>
          <p:nvPr/>
        </p:nvSpPr>
        <p:spPr>
          <a:xfrm>
            <a:off x="6368891" y="4298950"/>
            <a:ext cx="939082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spc="1">
                <a:solidFill>
                  <a:srgbClr val="FF6B3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OBSERVABILITY</a:t>
            </a:r>
            <a:endParaRPr lang="en-US" sz="650" dirty="0"/>
          </a:p>
        </p:txBody>
      </p:sp>
      <p:sp>
        <p:nvSpPr>
          <p:cNvPr id="30" name="Text 30"/>
          <p:cNvSpPr/>
          <p:nvPr/>
        </p:nvSpPr>
        <p:spPr>
          <a:xfrm>
            <a:off x="6368891" y="4489450"/>
            <a:ext cx="2260226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850" dirty="0">
                <a:solidFill>
                  <a:srgbClr val="F5F5F0">
                    <a:alpha val="7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 Latency, throughput, drift detection — built-in dashboards with PagerDuty integration. </a:t>
            </a:r>
            <a:endParaRPr lang="en-US" sz="850" dirty="0"/>
          </a:p>
        </p:txBody>
      </p:sp>
      <p:sp>
        <p:nvSpPr>
          <p:cNvPr id="31" name="Text 31"/>
          <p:cNvSpPr/>
          <p:nvPr/>
        </p:nvSpPr>
        <p:spPr>
          <a:xfrm>
            <a:off x="9067573" y="4298950"/>
            <a:ext cx="794598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spc="1">
                <a:solidFill>
                  <a:srgbClr val="FF6B3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MULTI-CLOUD</a:t>
            </a:r>
            <a:endParaRPr lang="en-US" sz="650" dirty="0"/>
          </a:p>
        </p:txBody>
      </p:sp>
      <p:sp>
        <p:nvSpPr>
          <p:cNvPr id="32" name="Text 32"/>
          <p:cNvSpPr/>
          <p:nvPr/>
        </p:nvSpPr>
        <p:spPr>
          <a:xfrm>
            <a:off x="9067573" y="4489450"/>
            <a:ext cx="2260226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850" dirty="0">
                <a:solidFill>
                  <a:srgbClr val="F5F5F0">
                    <a:alpha val="7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 Deploy across AWS, GCP, and Azure with unified networking and cost management. </a:t>
            </a:r>
            <a:endParaRPr lang="en-US" sz="850" dirty="0"/>
          </a:p>
        </p:txBody>
      </p:sp>
      <p:sp>
        <p:nvSpPr>
          <p:cNvPr id="33" name="Text 33"/>
          <p:cNvSpPr/>
          <p:nvPr/>
        </p:nvSpPr>
        <p:spPr>
          <a:xfrm>
            <a:off x="11322958" y="6362700"/>
            <a:ext cx="133446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3"/>
          <p:cNvSpPr/>
          <p:nvPr/>
        </p:nvSpPr>
        <p:spPr>
          <a:xfrm>
            <a:off x="761981" y="539750"/>
            <a:ext cx="50799" cy="50800"/>
          </a:xfrm>
          <a:prstGeom prst="roundRect">
            <a:avLst>
              <a:gd name="adj" fmla="val 49999"/>
            </a:avLst>
          </a:prstGeom>
          <a:solidFill>
            <a:srgbClr val="FF6B35"/>
          </a:solidFill>
          <a:ln/>
        </p:spPr>
      </p:sp>
      <p:sp>
        <p:nvSpPr>
          <p:cNvPr id="4" name="Shape 4"/>
          <p:cNvSpPr/>
          <p:nvPr/>
        </p:nvSpPr>
        <p:spPr>
          <a:xfrm>
            <a:off x="761981" y="5486400"/>
            <a:ext cx="1044946" cy="203200"/>
          </a:xfrm>
          <a:custGeom>
            <a:avLst/>
            <a:gdLst/>
            <a:ahLst/>
            <a:cxnLst/>
            <a:rect l="0" t="0" r="0" b="0"/>
            <a:pathLst>
              <a:path w="1044946" h="203200">
                <a:moveTo>
                  <a:pt x="38099" y="0"/>
                </a:moveTo>
                <a:lnTo>
                  <a:pt x="1006847" y="0"/>
                </a:lnTo>
                <a:arcTo wR="38099" hR="38099" stAng="16200000" swAng="5400000"/>
                <a:lnTo>
                  <a:pt x="1044946" y="203200"/>
                </a:lnTo>
                <a:lnTo>
                  <a:pt x="0" y="203200"/>
                </a:lnTo>
                <a:lnTo>
                  <a:pt x="0" y="38099"/>
                </a:lnTo>
                <a:arcTo wR="38099" hR="38099" stAng="10800000" swAng="5400000"/>
                <a:close/>
              </a:path>
            </a:pathLst>
          </a:custGeom>
          <a:gradFill>
            <a:gsLst>
              <a:gs pos="0">
                <a:srgbClr val="FF6B35">
                  <a:alpha val="30000"/>
                </a:srgbClr>
              </a:gs>
              <a:gs pos="100000">
                <a:srgbClr val="FF6B35">
                  <a:alpha val="10000"/>
                </a:srgbClr>
              </a:gs>
            </a:gsLst>
            <a:lin ang="5400000" scaled="1"/>
          </a:gradFill>
          <a:ln/>
        </p:spPr>
      </p:sp>
      <p:sp>
        <p:nvSpPr>
          <p:cNvPr id="5" name="Shape 5"/>
          <p:cNvSpPr/>
          <p:nvPr/>
        </p:nvSpPr>
        <p:spPr>
          <a:xfrm>
            <a:off x="1921224" y="5321300"/>
            <a:ext cx="1045045" cy="368300"/>
          </a:xfrm>
          <a:custGeom>
            <a:avLst/>
            <a:gdLst/>
            <a:ahLst/>
            <a:cxnLst/>
            <a:rect l="0" t="0" r="0" b="0"/>
            <a:pathLst>
              <a:path w="1045045" h="368300">
                <a:moveTo>
                  <a:pt x="38099" y="0"/>
                </a:moveTo>
                <a:lnTo>
                  <a:pt x="1006946" y="0"/>
                </a:lnTo>
                <a:arcTo wR="38099" hR="38099" stAng="16200000" swAng="5400000"/>
                <a:lnTo>
                  <a:pt x="1045045" y="368300"/>
                </a:lnTo>
                <a:lnTo>
                  <a:pt x="0" y="368300"/>
                </a:lnTo>
                <a:lnTo>
                  <a:pt x="0" y="38099"/>
                </a:lnTo>
                <a:arcTo wR="38099" hR="38099" stAng="10800000" swAng="5400000"/>
                <a:close/>
              </a:path>
            </a:pathLst>
          </a:custGeom>
          <a:gradFill>
            <a:gsLst>
              <a:gs pos="0">
                <a:srgbClr val="FF6B35">
                  <a:alpha val="35000"/>
                </a:srgbClr>
              </a:gs>
              <a:gs pos="100000">
                <a:srgbClr val="FF6B35">
                  <a:alpha val="12000"/>
                </a:srgbClr>
              </a:gs>
            </a:gsLst>
            <a:lin ang="5400000" scaled="1"/>
          </a:gradFill>
          <a:ln/>
        </p:spPr>
      </p:sp>
      <p:sp>
        <p:nvSpPr>
          <p:cNvPr id="6" name="Shape 6"/>
          <p:cNvSpPr/>
          <p:nvPr/>
        </p:nvSpPr>
        <p:spPr>
          <a:xfrm>
            <a:off x="3080566" y="5054600"/>
            <a:ext cx="1044946" cy="635000"/>
          </a:xfrm>
          <a:custGeom>
            <a:avLst/>
            <a:gdLst/>
            <a:ahLst/>
            <a:cxnLst/>
            <a:rect l="0" t="0" r="0" b="0"/>
            <a:pathLst>
              <a:path w="1044946" h="635000">
                <a:moveTo>
                  <a:pt x="38099" y="0"/>
                </a:moveTo>
                <a:lnTo>
                  <a:pt x="1006847" y="0"/>
                </a:lnTo>
                <a:arcTo wR="38099" hR="38099" stAng="16200000" swAng="5400000"/>
                <a:lnTo>
                  <a:pt x="1044946" y="635000"/>
                </a:lnTo>
                <a:lnTo>
                  <a:pt x="0" y="635000"/>
                </a:lnTo>
                <a:lnTo>
                  <a:pt x="0" y="38099"/>
                </a:lnTo>
                <a:arcTo wR="38099" hR="38099" stAng="10800000" swAng="5400000"/>
                <a:close/>
              </a:path>
            </a:pathLst>
          </a:custGeom>
          <a:gradFill>
            <a:gsLst>
              <a:gs pos="0">
                <a:srgbClr val="FF6B35">
                  <a:alpha val="40000"/>
                </a:srgbClr>
              </a:gs>
              <a:gs pos="100000">
                <a:srgbClr val="FF6B35">
                  <a:alpha val="15000"/>
                </a:srgbClr>
              </a:gs>
            </a:gsLst>
            <a:lin ang="5400000" scaled="1"/>
          </a:gradFill>
          <a:ln/>
        </p:spPr>
      </p:sp>
      <p:sp>
        <p:nvSpPr>
          <p:cNvPr id="7" name="Shape 7"/>
          <p:cNvSpPr/>
          <p:nvPr/>
        </p:nvSpPr>
        <p:spPr>
          <a:xfrm>
            <a:off x="4239809" y="4641850"/>
            <a:ext cx="1045045" cy="1047750"/>
          </a:xfrm>
          <a:custGeom>
            <a:avLst/>
            <a:gdLst/>
            <a:ahLst/>
            <a:cxnLst/>
            <a:rect l="0" t="0" r="0" b="0"/>
            <a:pathLst>
              <a:path w="1045045" h="1047750">
                <a:moveTo>
                  <a:pt x="38099" y="0"/>
                </a:moveTo>
                <a:lnTo>
                  <a:pt x="1006946" y="0"/>
                </a:lnTo>
                <a:arcTo wR="38099" hR="38099" stAng="16200000" swAng="5400000"/>
                <a:lnTo>
                  <a:pt x="1045045" y="1047750"/>
                </a:lnTo>
                <a:lnTo>
                  <a:pt x="0" y="1047750"/>
                </a:lnTo>
                <a:lnTo>
                  <a:pt x="0" y="38099"/>
                </a:lnTo>
                <a:arcTo wR="38099" hR="38099" stAng="10800000" swAng="5400000"/>
                <a:close/>
              </a:path>
            </a:pathLst>
          </a:custGeom>
          <a:gradFill>
            <a:gsLst>
              <a:gs pos="0">
                <a:srgbClr val="FF6B35">
                  <a:alpha val="50000"/>
                </a:srgbClr>
              </a:gs>
              <a:gs pos="100000">
                <a:srgbClr val="FF6B35">
                  <a:alpha val="18000"/>
                </a:srgbClr>
              </a:gs>
            </a:gsLst>
            <a:lin ang="5400000" scaled="1"/>
          </a:gradFill>
          <a:ln/>
        </p:spPr>
      </p:sp>
      <p:sp>
        <p:nvSpPr>
          <p:cNvPr id="8" name="Shape 8"/>
          <p:cNvSpPr/>
          <p:nvPr/>
        </p:nvSpPr>
        <p:spPr>
          <a:xfrm>
            <a:off x="5399151" y="4038600"/>
            <a:ext cx="1044946" cy="1651000"/>
          </a:xfrm>
          <a:custGeom>
            <a:avLst/>
            <a:gdLst/>
            <a:ahLst/>
            <a:cxnLst/>
            <a:rect l="0" t="0" r="0" b="0"/>
            <a:pathLst>
              <a:path w="1044946" h="1651000">
                <a:moveTo>
                  <a:pt x="38099" y="0"/>
                </a:moveTo>
                <a:lnTo>
                  <a:pt x="1006847" y="0"/>
                </a:lnTo>
                <a:arcTo wR="38099" hR="38099" stAng="16200000" swAng="5400000"/>
                <a:lnTo>
                  <a:pt x="1044946" y="1651000"/>
                </a:lnTo>
                <a:lnTo>
                  <a:pt x="0" y="1651000"/>
                </a:lnTo>
                <a:lnTo>
                  <a:pt x="0" y="38099"/>
                </a:lnTo>
                <a:arcTo wR="38099" hR="38099" stAng="10800000" swAng="5400000"/>
                <a:close/>
              </a:path>
            </a:pathLst>
          </a:custGeom>
          <a:gradFill>
            <a:gsLst>
              <a:gs pos="0">
                <a:srgbClr val="FF6B35">
                  <a:alpha val="60000"/>
                </a:srgbClr>
              </a:gs>
              <a:gs pos="100000">
                <a:srgbClr val="FF6B35">
                  <a:alpha val="20000"/>
                </a:srgbClr>
              </a:gs>
            </a:gsLst>
            <a:lin ang="5400000" scaled="1"/>
          </a:gradFill>
          <a:ln/>
        </p:spPr>
      </p:sp>
      <p:sp>
        <p:nvSpPr>
          <p:cNvPr id="9" name="Shape 9"/>
          <p:cNvSpPr/>
          <p:nvPr/>
        </p:nvSpPr>
        <p:spPr>
          <a:xfrm>
            <a:off x="6558394" y="3276600"/>
            <a:ext cx="1045045" cy="2413000"/>
          </a:xfrm>
          <a:custGeom>
            <a:avLst/>
            <a:gdLst/>
            <a:ahLst/>
            <a:cxnLst/>
            <a:rect l="0" t="0" r="0" b="0"/>
            <a:pathLst>
              <a:path w="1045045" h="2413000">
                <a:moveTo>
                  <a:pt x="38099" y="0"/>
                </a:moveTo>
                <a:lnTo>
                  <a:pt x="1006946" y="0"/>
                </a:lnTo>
                <a:arcTo wR="38099" hR="38099" stAng="16200000" swAng="5400000"/>
                <a:lnTo>
                  <a:pt x="1045045" y="2413000"/>
                </a:lnTo>
                <a:lnTo>
                  <a:pt x="0" y="2413000"/>
                </a:lnTo>
                <a:lnTo>
                  <a:pt x="0" y="38099"/>
                </a:lnTo>
                <a:arcTo wR="38099" hR="38099" stAng="10800000" swAng="5400000"/>
                <a:close/>
              </a:path>
            </a:pathLst>
          </a:custGeom>
          <a:gradFill>
            <a:gsLst>
              <a:gs pos="0">
                <a:srgbClr val="FF6B35">
                  <a:alpha val="70000"/>
                </a:srgbClr>
              </a:gs>
              <a:gs pos="100000">
                <a:srgbClr val="FF6B35">
                  <a:alpha val="25000"/>
                </a:srgbClr>
              </a:gs>
            </a:gsLst>
            <a:lin ang="5400000" scaled="1"/>
          </a:gradFill>
          <a:ln/>
        </p:spPr>
      </p:sp>
      <p:sp>
        <p:nvSpPr>
          <p:cNvPr id="10" name="Shape 10"/>
          <p:cNvSpPr/>
          <p:nvPr/>
        </p:nvSpPr>
        <p:spPr>
          <a:xfrm>
            <a:off x="7717736" y="2514600"/>
            <a:ext cx="1045045" cy="3175000"/>
          </a:xfrm>
          <a:custGeom>
            <a:avLst/>
            <a:gdLst/>
            <a:ahLst/>
            <a:cxnLst/>
            <a:rect l="0" t="0" r="0" b="0"/>
            <a:pathLst>
              <a:path w="1045045" h="3175000">
                <a:moveTo>
                  <a:pt x="38099" y="0"/>
                </a:moveTo>
                <a:lnTo>
                  <a:pt x="1006946" y="0"/>
                </a:lnTo>
                <a:arcTo wR="38099" hR="38099" stAng="16200000" swAng="5400000"/>
                <a:lnTo>
                  <a:pt x="1045045" y="3175000"/>
                </a:lnTo>
                <a:lnTo>
                  <a:pt x="0" y="3175000"/>
                </a:lnTo>
                <a:lnTo>
                  <a:pt x="0" y="38099"/>
                </a:lnTo>
                <a:arcTo wR="38099" hR="38099" stAng="10800000" swAng="5400000"/>
                <a:close/>
              </a:path>
            </a:pathLst>
          </a:custGeom>
          <a:gradFill>
            <a:gsLst>
              <a:gs pos="0">
                <a:srgbClr val="FF6B35"/>
              </a:gs>
              <a:gs pos="100000">
                <a:srgbClr val="FF6B35">
                  <a:alpha val="30000"/>
                </a:srgbClr>
              </a:gs>
            </a:gsLst>
            <a:lin ang="5400000" scaled="1"/>
          </a:gradFill>
          <a:ln/>
        </p:spPr>
      </p:sp>
      <p:sp>
        <p:nvSpPr>
          <p:cNvPr id="11" name="Shape 11"/>
          <p:cNvSpPr/>
          <p:nvPr/>
        </p:nvSpPr>
        <p:spPr>
          <a:xfrm>
            <a:off x="9143771" y="2981325"/>
            <a:ext cx="2285943" cy="6350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12" name="Shape 12"/>
          <p:cNvSpPr/>
          <p:nvPr/>
        </p:nvSpPr>
        <p:spPr>
          <a:xfrm>
            <a:off x="9143771" y="3933825"/>
            <a:ext cx="2285943" cy="6350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13" name="Shape 13"/>
          <p:cNvSpPr/>
          <p:nvPr/>
        </p:nvSpPr>
        <p:spPr>
          <a:xfrm>
            <a:off x="9143771" y="4886325"/>
            <a:ext cx="2285943" cy="6350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14" name="Text 14"/>
          <p:cNvSpPr/>
          <p:nvPr/>
        </p:nvSpPr>
        <p:spPr>
          <a:xfrm>
            <a:off x="914377" y="508000"/>
            <a:ext cx="1040159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spc="1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 / TRACTION</a:t>
            </a:r>
            <a:endParaRPr lang="en-US" sz="700" dirty="0"/>
          </a:p>
        </p:txBody>
      </p:sp>
      <p:sp>
        <p:nvSpPr>
          <p:cNvPr id="15" name="Text 15"/>
          <p:cNvSpPr/>
          <p:nvPr/>
        </p:nvSpPr>
        <p:spPr>
          <a:xfrm>
            <a:off x="761981" y="1079500"/>
            <a:ext cx="4613060" cy="497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800" dirty="0" spc="-1">
                <a:solidFill>
                  <a:srgbClr val="F5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 Hockey-stick </a:t>
            </a:r>
            <a:r>
              <a:rPr lang="en-US" sz="2800" dirty="0" spc="-1">
                <a:solidFill>
                  <a:srgbClr val="FF6B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revenue</a:t>
            </a:r>
            <a:r>
              <a:rPr lang="en-US" sz="2800" dirty="0" spc="-1">
                <a:solidFill>
                  <a:srgbClr val="F5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 </a:t>
            </a:r>
            <a:endParaRPr lang="en-US" sz="2800" dirty="0"/>
          </a:p>
        </p:txBody>
      </p:sp>
      <p:sp>
        <p:nvSpPr>
          <p:cNvPr id="16" name="Text 16"/>
          <p:cNvSpPr/>
          <p:nvPr/>
        </p:nvSpPr>
        <p:spPr>
          <a:xfrm>
            <a:off x="1147238" y="5740400"/>
            <a:ext cx="342916" cy="106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00" dirty="0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Q1 '24</a:t>
            </a:r>
            <a:endParaRPr lang="en-US" sz="600" dirty="0"/>
          </a:p>
        </p:txBody>
      </p:sp>
      <p:sp>
        <p:nvSpPr>
          <p:cNvPr id="17" name="Text 17"/>
          <p:cNvSpPr/>
          <p:nvPr/>
        </p:nvSpPr>
        <p:spPr>
          <a:xfrm>
            <a:off x="2306580" y="5740400"/>
            <a:ext cx="342916" cy="106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00" dirty="0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Q2 '24</a:t>
            </a:r>
            <a:endParaRPr lang="en-US" sz="600" dirty="0"/>
          </a:p>
        </p:txBody>
      </p:sp>
      <p:sp>
        <p:nvSpPr>
          <p:cNvPr id="18" name="Text 18"/>
          <p:cNvSpPr/>
          <p:nvPr/>
        </p:nvSpPr>
        <p:spPr>
          <a:xfrm>
            <a:off x="3465823" y="5740400"/>
            <a:ext cx="342916" cy="106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00" dirty="0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Q3 '24</a:t>
            </a:r>
            <a:endParaRPr lang="en-US" sz="600" dirty="0"/>
          </a:p>
        </p:txBody>
      </p:sp>
      <p:sp>
        <p:nvSpPr>
          <p:cNvPr id="19" name="Text 19"/>
          <p:cNvSpPr/>
          <p:nvPr/>
        </p:nvSpPr>
        <p:spPr>
          <a:xfrm>
            <a:off x="4625165" y="5740400"/>
            <a:ext cx="342916" cy="106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00" dirty="0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Q4 '24</a:t>
            </a:r>
            <a:endParaRPr lang="en-US" sz="600" dirty="0"/>
          </a:p>
        </p:txBody>
      </p:sp>
      <p:sp>
        <p:nvSpPr>
          <p:cNvPr id="20" name="Text 20"/>
          <p:cNvSpPr/>
          <p:nvPr/>
        </p:nvSpPr>
        <p:spPr>
          <a:xfrm>
            <a:off x="5784408" y="5740400"/>
            <a:ext cx="342916" cy="106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00" dirty="0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Q1 '25</a:t>
            </a:r>
            <a:endParaRPr lang="en-US" sz="600" dirty="0"/>
          </a:p>
        </p:txBody>
      </p:sp>
      <p:sp>
        <p:nvSpPr>
          <p:cNvPr id="21" name="Text 21"/>
          <p:cNvSpPr/>
          <p:nvPr/>
        </p:nvSpPr>
        <p:spPr>
          <a:xfrm>
            <a:off x="6943750" y="5740400"/>
            <a:ext cx="342916" cy="106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00" dirty="0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Q2 '25</a:t>
            </a:r>
            <a:endParaRPr lang="en-US" sz="600" dirty="0"/>
          </a:p>
        </p:txBody>
      </p:sp>
      <p:sp>
        <p:nvSpPr>
          <p:cNvPr id="22" name="Text 22"/>
          <p:cNvSpPr/>
          <p:nvPr/>
        </p:nvSpPr>
        <p:spPr>
          <a:xfrm>
            <a:off x="8103092" y="5740400"/>
            <a:ext cx="342916" cy="106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00" dirty="0">
                <a:solidFill>
                  <a:srgbClr val="FF6B3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Q3 '25</a:t>
            </a:r>
            <a:endParaRPr lang="en-US" sz="600" dirty="0"/>
          </a:p>
        </p:txBody>
      </p:sp>
      <p:sp>
        <p:nvSpPr>
          <p:cNvPr id="23" name="Text 23"/>
          <p:cNvSpPr/>
          <p:nvPr/>
        </p:nvSpPr>
        <p:spPr>
          <a:xfrm>
            <a:off x="9143771" y="2235200"/>
            <a:ext cx="1600234" cy="106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00" dirty="0" spc="1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ANNUAL RECURRING REVENUE</a:t>
            </a:r>
            <a:endParaRPr lang="en-US" sz="600" dirty="0"/>
          </a:p>
        </p:txBody>
      </p:sp>
      <p:sp>
        <p:nvSpPr>
          <p:cNvPr id="24" name="Text 24"/>
          <p:cNvSpPr/>
          <p:nvPr/>
        </p:nvSpPr>
        <p:spPr>
          <a:xfrm>
            <a:off x="9143771" y="2387600"/>
            <a:ext cx="1323669" cy="4267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400" dirty="0">
                <a:solidFill>
                  <a:srgbClr val="FF6B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$18.4M</a:t>
            </a:r>
            <a:endParaRPr lang="en-US" sz="2400" dirty="0"/>
          </a:p>
        </p:txBody>
      </p:sp>
      <p:sp>
        <p:nvSpPr>
          <p:cNvPr id="25" name="Text 25"/>
          <p:cNvSpPr/>
          <p:nvPr/>
        </p:nvSpPr>
        <p:spPr>
          <a:xfrm>
            <a:off x="9143771" y="3187700"/>
            <a:ext cx="666733" cy="106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00" dirty="0" spc="1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QOQ GROWTH</a:t>
            </a:r>
            <a:endParaRPr lang="en-US" sz="600" dirty="0"/>
          </a:p>
        </p:txBody>
      </p:sp>
      <p:sp>
        <p:nvSpPr>
          <p:cNvPr id="26" name="Text 26"/>
          <p:cNvSpPr/>
          <p:nvPr/>
        </p:nvSpPr>
        <p:spPr>
          <a:xfrm>
            <a:off x="9143771" y="3340100"/>
            <a:ext cx="749083" cy="4267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400" dirty="0">
                <a:solidFill>
                  <a:srgbClr val="10B98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38%</a:t>
            </a:r>
            <a:endParaRPr lang="en-US" sz="2400" dirty="0"/>
          </a:p>
        </p:txBody>
      </p:sp>
      <p:sp>
        <p:nvSpPr>
          <p:cNvPr id="27" name="Text 27"/>
          <p:cNvSpPr/>
          <p:nvPr/>
        </p:nvSpPr>
        <p:spPr>
          <a:xfrm>
            <a:off x="9143771" y="4140200"/>
            <a:ext cx="1400190" cy="106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00" dirty="0" spc="1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NET REVENUE RETENTION</a:t>
            </a:r>
            <a:endParaRPr lang="en-US" sz="600" dirty="0"/>
          </a:p>
        </p:txBody>
      </p:sp>
      <p:sp>
        <p:nvSpPr>
          <p:cNvPr id="28" name="Text 28"/>
          <p:cNvSpPr/>
          <p:nvPr/>
        </p:nvSpPr>
        <p:spPr>
          <a:xfrm>
            <a:off x="9143771" y="4292600"/>
            <a:ext cx="929656" cy="4267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400" dirty="0">
                <a:solidFill>
                  <a:srgbClr val="F5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142%</a:t>
            </a:r>
            <a:endParaRPr lang="en-US" sz="2400" dirty="0"/>
          </a:p>
        </p:txBody>
      </p:sp>
      <p:sp>
        <p:nvSpPr>
          <p:cNvPr id="29" name="Text 29"/>
          <p:cNvSpPr/>
          <p:nvPr/>
        </p:nvSpPr>
        <p:spPr>
          <a:xfrm>
            <a:off x="9143771" y="5092700"/>
            <a:ext cx="800179" cy="106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00" dirty="0" spc="1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GROSS MARGIN</a:t>
            </a:r>
            <a:endParaRPr lang="en-US" sz="600" dirty="0"/>
          </a:p>
        </p:txBody>
      </p:sp>
      <p:sp>
        <p:nvSpPr>
          <p:cNvPr id="30" name="Text 30"/>
          <p:cNvSpPr/>
          <p:nvPr/>
        </p:nvSpPr>
        <p:spPr>
          <a:xfrm>
            <a:off x="9143771" y="5245100"/>
            <a:ext cx="728495" cy="4267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400" dirty="0">
                <a:solidFill>
                  <a:srgbClr val="F5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78%</a:t>
            </a:r>
            <a:endParaRPr lang="en-US" sz="2400" dirty="0"/>
          </a:p>
        </p:txBody>
      </p:sp>
      <p:sp>
        <p:nvSpPr>
          <p:cNvPr id="31" name="Text 31"/>
          <p:cNvSpPr/>
          <p:nvPr/>
        </p:nvSpPr>
        <p:spPr>
          <a:xfrm>
            <a:off x="11322958" y="6362700"/>
            <a:ext cx="133446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3"/>
          <p:cNvSpPr/>
          <p:nvPr/>
        </p:nvSpPr>
        <p:spPr>
          <a:xfrm>
            <a:off x="761981" y="539750"/>
            <a:ext cx="50799" cy="50800"/>
          </a:xfrm>
          <a:prstGeom prst="roundRect">
            <a:avLst>
              <a:gd name="adj" fmla="val 49999"/>
            </a:avLst>
          </a:prstGeom>
          <a:solidFill>
            <a:srgbClr val="FF6B35"/>
          </a:solidFill>
          <a:ln/>
        </p:spPr>
      </p:sp>
      <p:sp>
        <p:nvSpPr>
          <p:cNvPr id="4" name="Shape 4"/>
          <p:cNvSpPr/>
          <p:nvPr/>
        </p:nvSpPr>
        <p:spPr>
          <a:xfrm>
            <a:off x="761981" y="2413000"/>
            <a:ext cx="2571686" cy="762000"/>
          </a:xfrm>
          <a:prstGeom prst="roundRect">
            <a:avLst>
              <a:gd name="adj" fmla="val 10000"/>
            </a:avLst>
          </a:prstGeom>
          <a:solidFill>
            <a:srgbClr val="16161F"/>
          </a:solidFill>
          <a:ln w="6350">
            <a:solidFill>
              <a:srgbClr val="2A2A3A"/>
            </a:solidFill>
          </a:ln>
        </p:spPr>
      </p:sp>
      <p:sp>
        <p:nvSpPr>
          <p:cNvPr id="5" name="Shape 5"/>
          <p:cNvSpPr/>
          <p:nvPr/>
        </p:nvSpPr>
        <p:spPr>
          <a:xfrm>
            <a:off x="3460663" y="2413000"/>
            <a:ext cx="2571686" cy="762000"/>
          </a:xfrm>
          <a:prstGeom prst="roundRect">
            <a:avLst>
              <a:gd name="adj" fmla="val 10000"/>
            </a:avLst>
          </a:prstGeom>
          <a:solidFill>
            <a:srgbClr val="16161F"/>
          </a:solidFill>
          <a:ln w="6350">
            <a:solidFill>
              <a:srgbClr val="2A2A3A"/>
            </a:solidFill>
          </a:ln>
        </p:spPr>
      </p:sp>
      <p:sp>
        <p:nvSpPr>
          <p:cNvPr id="6" name="Shape 6"/>
          <p:cNvSpPr/>
          <p:nvPr/>
        </p:nvSpPr>
        <p:spPr>
          <a:xfrm>
            <a:off x="6159346" y="2413000"/>
            <a:ext cx="2571686" cy="762000"/>
          </a:xfrm>
          <a:prstGeom prst="roundRect">
            <a:avLst>
              <a:gd name="adj" fmla="val 10000"/>
            </a:avLst>
          </a:prstGeom>
          <a:solidFill>
            <a:srgbClr val="16161F"/>
          </a:solidFill>
          <a:ln w="6350">
            <a:solidFill>
              <a:srgbClr val="2A2A3A"/>
            </a:solidFill>
          </a:ln>
        </p:spPr>
      </p:sp>
      <p:sp>
        <p:nvSpPr>
          <p:cNvPr id="7" name="Shape 7"/>
          <p:cNvSpPr/>
          <p:nvPr/>
        </p:nvSpPr>
        <p:spPr>
          <a:xfrm>
            <a:off x="8858029" y="2413000"/>
            <a:ext cx="2571686" cy="762000"/>
          </a:xfrm>
          <a:prstGeom prst="roundRect">
            <a:avLst>
              <a:gd name="adj" fmla="val 10000"/>
            </a:avLst>
          </a:prstGeom>
          <a:solidFill>
            <a:srgbClr val="16161F"/>
          </a:solidFill>
          <a:ln w="6350">
            <a:solidFill>
              <a:srgbClr val="2A2A3A"/>
            </a:solidFill>
          </a:ln>
        </p:spPr>
      </p:sp>
      <p:sp>
        <p:nvSpPr>
          <p:cNvPr id="8" name="Shape 8"/>
          <p:cNvSpPr/>
          <p:nvPr/>
        </p:nvSpPr>
        <p:spPr>
          <a:xfrm>
            <a:off x="761981" y="3302000"/>
            <a:ext cx="2571686" cy="762000"/>
          </a:xfrm>
          <a:prstGeom prst="roundRect">
            <a:avLst>
              <a:gd name="adj" fmla="val 10000"/>
            </a:avLst>
          </a:prstGeom>
          <a:solidFill>
            <a:srgbClr val="16161F"/>
          </a:solidFill>
          <a:ln w="6350">
            <a:solidFill>
              <a:srgbClr val="2A2A3A"/>
            </a:solidFill>
          </a:ln>
        </p:spPr>
      </p:sp>
      <p:sp>
        <p:nvSpPr>
          <p:cNvPr id="9" name="Shape 9"/>
          <p:cNvSpPr/>
          <p:nvPr/>
        </p:nvSpPr>
        <p:spPr>
          <a:xfrm>
            <a:off x="3460663" y="3302000"/>
            <a:ext cx="2571686" cy="762000"/>
          </a:xfrm>
          <a:prstGeom prst="roundRect">
            <a:avLst>
              <a:gd name="adj" fmla="val 10000"/>
            </a:avLst>
          </a:prstGeom>
          <a:solidFill>
            <a:srgbClr val="16161F"/>
          </a:solidFill>
          <a:ln w="6350">
            <a:solidFill>
              <a:srgbClr val="2A2A3A"/>
            </a:solidFill>
          </a:ln>
        </p:spPr>
      </p:sp>
      <p:sp>
        <p:nvSpPr>
          <p:cNvPr id="10" name="Shape 10"/>
          <p:cNvSpPr/>
          <p:nvPr/>
        </p:nvSpPr>
        <p:spPr>
          <a:xfrm>
            <a:off x="6159346" y="3302000"/>
            <a:ext cx="2571686" cy="762000"/>
          </a:xfrm>
          <a:prstGeom prst="roundRect">
            <a:avLst>
              <a:gd name="adj" fmla="val 10000"/>
            </a:avLst>
          </a:prstGeom>
          <a:solidFill>
            <a:srgbClr val="16161F"/>
          </a:solidFill>
          <a:ln w="6350">
            <a:solidFill>
              <a:srgbClr val="2A2A3A"/>
            </a:solidFill>
          </a:ln>
        </p:spPr>
      </p:sp>
      <p:sp>
        <p:nvSpPr>
          <p:cNvPr id="11" name="Shape 11"/>
          <p:cNvSpPr/>
          <p:nvPr/>
        </p:nvSpPr>
        <p:spPr>
          <a:xfrm>
            <a:off x="8858029" y="3302000"/>
            <a:ext cx="2571686" cy="762000"/>
          </a:xfrm>
          <a:prstGeom prst="roundRect">
            <a:avLst>
              <a:gd name="adj" fmla="val 10000"/>
            </a:avLst>
          </a:prstGeom>
          <a:solidFill>
            <a:srgbClr val="16161F"/>
          </a:solidFill>
          <a:ln w="6350">
            <a:solidFill>
              <a:srgbClr val="2A2A3A"/>
            </a:solidFill>
          </a:ln>
        </p:spPr>
      </p:sp>
      <p:sp>
        <p:nvSpPr>
          <p:cNvPr id="12" name="Shape 12"/>
          <p:cNvSpPr/>
          <p:nvPr/>
        </p:nvSpPr>
        <p:spPr>
          <a:xfrm>
            <a:off x="761981" y="5255419"/>
            <a:ext cx="10667733" cy="967581"/>
          </a:xfrm>
          <a:custGeom>
            <a:avLst/>
            <a:gdLst/>
            <a:ahLst/>
            <a:cxnLst/>
            <a:rect l="0" t="0" r="0" b="0"/>
            <a:pathLst>
              <a:path w="10667733" h="967581">
                <a:moveTo>
                  <a:pt x="0" y="0"/>
                </a:moveTo>
                <a:lnTo>
                  <a:pt x="10591535" y="0"/>
                </a:lnTo>
                <a:arcTo wR="76198" hR="76198" stAng="16200000" swAng="5400000"/>
                <a:lnTo>
                  <a:pt x="10667733" y="891383"/>
                </a:lnTo>
                <a:arcTo wR="76198" hR="76198" stAng="0" swAng="5400000"/>
                <a:lnTo>
                  <a:pt x="0" y="967581"/>
                </a:lnTo>
                <a:lnTo>
                  <a:pt x="0" y="0"/>
                </a:lnTo>
                <a:close/>
              </a:path>
            </a:pathLst>
          </a:custGeom>
          <a:solidFill>
            <a:srgbClr val="16161F"/>
          </a:solidFill>
          <a:ln/>
        </p:spPr>
      </p:sp>
      <p:sp>
        <p:nvSpPr>
          <p:cNvPr id="13" name="Shape 13"/>
          <p:cNvSpPr/>
          <p:nvPr/>
        </p:nvSpPr>
        <p:spPr>
          <a:xfrm>
            <a:off x="761981" y="5252244"/>
            <a:ext cx="10667733" cy="6350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14" name="Shape 14"/>
          <p:cNvSpPr/>
          <p:nvPr/>
        </p:nvSpPr>
        <p:spPr>
          <a:xfrm>
            <a:off x="761981" y="6219825"/>
            <a:ext cx="10667733" cy="6350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15" name="Shape 15"/>
          <p:cNvSpPr/>
          <p:nvPr/>
        </p:nvSpPr>
        <p:spPr>
          <a:xfrm>
            <a:off x="752456" y="5255419"/>
            <a:ext cx="19050" cy="967581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Shape 16"/>
          <p:cNvSpPr/>
          <p:nvPr/>
        </p:nvSpPr>
        <p:spPr>
          <a:xfrm>
            <a:off x="11426539" y="5255419"/>
            <a:ext cx="6350" cy="967581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17" name="Shape 17"/>
          <p:cNvSpPr/>
          <p:nvPr/>
        </p:nvSpPr>
        <p:spPr>
          <a:xfrm>
            <a:off x="9283468" y="5548709"/>
            <a:ext cx="6350" cy="381000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18" name="Text 18"/>
          <p:cNvSpPr/>
          <p:nvPr/>
        </p:nvSpPr>
        <p:spPr>
          <a:xfrm>
            <a:off x="914377" y="508000"/>
            <a:ext cx="1120152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spc="1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 / CUSTOMERS</a:t>
            </a:r>
            <a:endParaRPr lang="en-US" sz="700" dirty="0"/>
          </a:p>
        </p:txBody>
      </p:sp>
      <p:sp>
        <p:nvSpPr>
          <p:cNvPr id="19" name="Text 19"/>
          <p:cNvSpPr/>
          <p:nvPr/>
        </p:nvSpPr>
        <p:spPr>
          <a:xfrm>
            <a:off x="761981" y="1054100"/>
            <a:ext cx="6667333" cy="859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15000"/>
              </a:lnSpc>
              <a:buNone/>
            </a:pPr>
            <a:r>
              <a:rPr lang="en-US" sz="2800" dirty="0" spc="-1">
                <a:solidFill>
                  <a:srgbClr val="F5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 Trusted by teams who</a:t>
            </a:r>
            <a:endParaRPr lang="en-US" sz="2800" dirty="0"/>
          </a:p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15000"/>
              </a:lnSpc>
              <a:buNone/>
            </a:pPr>
            <a:r>
              <a:rPr lang="en-US" sz="2800" dirty="0" spc="-1">
                <a:solidFill>
                  <a:srgbClr val="F5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ship models at scale. </a:t>
            </a:r>
            <a:endParaRPr lang="en-US" sz="2800" dirty="0"/>
          </a:p>
        </p:txBody>
      </p:sp>
      <p:sp>
        <p:nvSpPr>
          <p:cNvPr id="20" name="Text 20"/>
          <p:cNvSpPr/>
          <p:nvPr/>
        </p:nvSpPr>
        <p:spPr>
          <a:xfrm>
            <a:off x="1786885" y="2679700"/>
            <a:ext cx="652347" cy="2489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400" dirty="0">
                <a:solidFill>
                  <a:srgbClr val="F5F5F0">
                    <a:alpha val="40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Stripe</a:t>
            </a:r>
            <a:endParaRPr lang="en-US" sz="1400" dirty="0"/>
          </a:p>
        </p:txBody>
      </p:sp>
      <p:sp>
        <p:nvSpPr>
          <p:cNvPr id="21" name="Text 21"/>
          <p:cNvSpPr/>
          <p:nvPr/>
        </p:nvSpPr>
        <p:spPr>
          <a:xfrm>
            <a:off x="4379803" y="2679700"/>
            <a:ext cx="916758" cy="2489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400" dirty="0">
                <a:solidFill>
                  <a:srgbClr val="F5F5F0">
                    <a:alpha val="40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Datadog</a:t>
            </a:r>
            <a:endParaRPr lang="en-US" sz="1400" dirty="0"/>
          </a:p>
        </p:txBody>
      </p:sp>
      <p:sp>
        <p:nvSpPr>
          <p:cNvPr id="22" name="Text 22"/>
          <p:cNvSpPr/>
          <p:nvPr/>
        </p:nvSpPr>
        <p:spPr>
          <a:xfrm>
            <a:off x="7049415" y="2679700"/>
            <a:ext cx="989310" cy="2489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400" dirty="0">
                <a:solidFill>
                  <a:srgbClr val="F5F5F0">
                    <a:alpha val="40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Coinbase</a:t>
            </a:r>
            <a:endParaRPr lang="en-US" sz="1400" dirty="0"/>
          </a:p>
        </p:txBody>
      </p:sp>
      <p:sp>
        <p:nvSpPr>
          <p:cNvPr id="23" name="Text 23"/>
          <p:cNvSpPr/>
          <p:nvPr/>
        </p:nvSpPr>
        <p:spPr>
          <a:xfrm>
            <a:off x="9889084" y="2679700"/>
            <a:ext cx="636968" cy="2489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400" dirty="0">
                <a:solidFill>
                  <a:srgbClr val="F5F5F0">
                    <a:alpha val="40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Figma</a:t>
            </a:r>
            <a:endParaRPr lang="en-US" sz="1400" dirty="0"/>
          </a:p>
        </p:txBody>
      </p:sp>
      <p:sp>
        <p:nvSpPr>
          <p:cNvPr id="24" name="Text 24"/>
          <p:cNvSpPr/>
          <p:nvPr/>
        </p:nvSpPr>
        <p:spPr>
          <a:xfrm>
            <a:off x="1762676" y="3568700"/>
            <a:ext cx="712745" cy="2489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400" dirty="0">
                <a:solidFill>
                  <a:srgbClr val="F5F5F0">
                    <a:alpha val="40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Notion</a:t>
            </a:r>
            <a:endParaRPr lang="en-US" sz="1400" dirty="0"/>
          </a:p>
        </p:txBody>
      </p:sp>
      <p:sp>
        <p:nvSpPr>
          <p:cNvPr id="25" name="Text 25"/>
          <p:cNvSpPr/>
          <p:nvPr/>
        </p:nvSpPr>
        <p:spPr>
          <a:xfrm>
            <a:off x="4505907" y="3568700"/>
            <a:ext cx="601375" cy="2489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400" dirty="0">
                <a:solidFill>
                  <a:srgbClr val="F5F5F0">
                    <a:alpha val="40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Ramp</a:t>
            </a:r>
            <a:endParaRPr lang="en-US" sz="1400" dirty="0"/>
          </a:p>
        </p:txBody>
      </p:sp>
      <p:sp>
        <p:nvSpPr>
          <p:cNvPr id="26" name="Text 26"/>
          <p:cNvSpPr/>
          <p:nvPr/>
        </p:nvSpPr>
        <p:spPr>
          <a:xfrm>
            <a:off x="7181075" y="3568700"/>
            <a:ext cx="660160" cy="2489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400" dirty="0">
                <a:solidFill>
                  <a:srgbClr val="F5F5F0">
                    <a:alpha val="40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Vercel</a:t>
            </a:r>
            <a:endParaRPr lang="en-US" sz="1400" dirty="0"/>
          </a:p>
        </p:txBody>
      </p:sp>
      <p:sp>
        <p:nvSpPr>
          <p:cNvPr id="27" name="Text 27"/>
          <p:cNvSpPr/>
          <p:nvPr/>
        </p:nvSpPr>
        <p:spPr>
          <a:xfrm>
            <a:off x="9810703" y="3568700"/>
            <a:ext cx="832797" cy="2489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400" dirty="0">
                <a:solidFill>
                  <a:srgbClr val="F5F5F0">
                    <a:alpha val="40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Scale AI</a:t>
            </a:r>
            <a:endParaRPr lang="en-US" sz="1400" dirty="0"/>
          </a:p>
        </p:txBody>
      </p:sp>
      <p:sp>
        <p:nvSpPr>
          <p:cNvPr id="28" name="Text 28"/>
          <p:cNvSpPr/>
          <p:nvPr/>
        </p:nvSpPr>
        <p:spPr>
          <a:xfrm>
            <a:off x="1085823" y="5534819"/>
            <a:ext cx="8287495" cy="446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60000"/>
              </a:lnSpc>
              <a:buNone/>
            </a:pPr>
            <a:r>
              <a:rPr lang="en-US" sz="1100" dirty="0" i="1">
                <a:solidFill>
                  <a:srgbClr val="F5F5F0">
                    <a:alpha val="8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 "Luminar cut our deployment time from 3 weeks to under 10 minutes. Our ML team can finally focus on models instead of infrastructure." </a:t>
            </a:r>
            <a:endParaRPr lang="en-US" sz="1100" dirty="0"/>
          </a:p>
        </p:txBody>
      </p:sp>
      <p:sp>
        <p:nvSpPr>
          <p:cNvPr id="29" name="Text 29"/>
          <p:cNvSpPr/>
          <p:nvPr/>
        </p:nvSpPr>
        <p:spPr>
          <a:xfrm>
            <a:off x="9594610" y="5593159"/>
            <a:ext cx="780832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900" dirty="0">
                <a:solidFill>
                  <a:srgbClr val="F5F5F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Sarah Chen</a:t>
            </a:r>
            <a:endParaRPr lang="en-US" sz="900" dirty="0"/>
          </a:p>
        </p:txBody>
      </p:sp>
      <p:sp>
        <p:nvSpPr>
          <p:cNvPr id="30" name="Text 30"/>
          <p:cNvSpPr/>
          <p:nvPr/>
        </p:nvSpPr>
        <p:spPr>
          <a:xfrm>
            <a:off x="9594610" y="5764609"/>
            <a:ext cx="1418793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VP of Engineering, Stripe</a:t>
            </a:r>
            <a:endParaRPr lang="en-US" sz="750" dirty="0"/>
          </a:p>
        </p:txBody>
      </p:sp>
      <p:sp>
        <p:nvSpPr>
          <p:cNvPr id="31" name="Text 31"/>
          <p:cNvSpPr/>
          <p:nvPr/>
        </p:nvSpPr>
        <p:spPr>
          <a:xfrm>
            <a:off x="11322958" y="6362700"/>
            <a:ext cx="133446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3"/>
          <p:cNvSpPr/>
          <p:nvPr/>
        </p:nvSpPr>
        <p:spPr>
          <a:xfrm>
            <a:off x="761981" y="539750"/>
            <a:ext cx="50799" cy="50800"/>
          </a:xfrm>
          <a:prstGeom prst="roundRect">
            <a:avLst>
              <a:gd name="adj" fmla="val 49999"/>
            </a:avLst>
          </a:prstGeom>
          <a:solidFill>
            <a:srgbClr val="FF6B35"/>
          </a:solidFill>
          <a:ln/>
        </p:spPr>
      </p:sp>
      <p:sp>
        <p:nvSpPr>
          <p:cNvPr id="4" name="Shape 4"/>
          <p:cNvSpPr/>
          <p:nvPr/>
        </p:nvSpPr>
        <p:spPr>
          <a:xfrm>
            <a:off x="761981" y="2032000"/>
            <a:ext cx="2552636" cy="1993900"/>
          </a:xfrm>
          <a:prstGeom prst="roundRect">
            <a:avLst>
              <a:gd name="adj" fmla="val 3822"/>
            </a:avLst>
          </a:prstGeom>
          <a:solidFill>
            <a:srgbClr val="16161F"/>
          </a:solidFill>
          <a:ln w="6350">
            <a:solidFill>
              <a:srgbClr val="2A2A3A"/>
            </a:solidFill>
          </a:ln>
        </p:spPr>
      </p:sp>
      <p:sp>
        <p:nvSpPr>
          <p:cNvPr id="5" name="Shape 5"/>
          <p:cNvSpPr/>
          <p:nvPr/>
        </p:nvSpPr>
        <p:spPr>
          <a:xfrm>
            <a:off x="996925" y="2343150"/>
            <a:ext cx="457189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6B35"/>
              </a:gs>
              <a:gs pos="100000">
                <a:srgbClr val="F59E0B"/>
              </a:gs>
            </a:gsLst>
            <a:lin ang="2700000" scaled="1"/>
          </a:gradFill>
          <a:ln/>
        </p:spPr>
      </p:sp>
      <p:sp>
        <p:nvSpPr>
          <p:cNvPr id="6" name="Shape 6"/>
          <p:cNvSpPr/>
          <p:nvPr/>
        </p:nvSpPr>
        <p:spPr>
          <a:xfrm>
            <a:off x="3467013" y="2032000"/>
            <a:ext cx="2552636" cy="1993900"/>
          </a:xfrm>
          <a:prstGeom prst="roundRect">
            <a:avLst>
              <a:gd name="adj" fmla="val 3822"/>
            </a:avLst>
          </a:prstGeom>
          <a:solidFill>
            <a:srgbClr val="16161F"/>
          </a:solidFill>
          <a:ln w="6350">
            <a:solidFill>
              <a:srgbClr val="2A2A3A"/>
            </a:solidFill>
          </a:ln>
        </p:spPr>
      </p:sp>
      <p:sp>
        <p:nvSpPr>
          <p:cNvPr id="7" name="Shape 7"/>
          <p:cNvSpPr/>
          <p:nvPr/>
        </p:nvSpPr>
        <p:spPr>
          <a:xfrm>
            <a:off x="3701957" y="2343150"/>
            <a:ext cx="457189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C3AED"/>
              </a:gs>
              <a:gs pos="100000">
                <a:srgbClr val="3B82F6"/>
              </a:gs>
            </a:gsLst>
            <a:lin ang="2700000" scaled="1"/>
          </a:gradFill>
          <a:ln/>
        </p:spPr>
      </p:sp>
      <p:sp>
        <p:nvSpPr>
          <p:cNvPr id="8" name="Shape 8"/>
          <p:cNvSpPr/>
          <p:nvPr/>
        </p:nvSpPr>
        <p:spPr>
          <a:xfrm>
            <a:off x="6172046" y="2032000"/>
            <a:ext cx="2552636" cy="1993900"/>
          </a:xfrm>
          <a:prstGeom prst="roundRect">
            <a:avLst>
              <a:gd name="adj" fmla="val 3822"/>
            </a:avLst>
          </a:prstGeom>
          <a:solidFill>
            <a:srgbClr val="16161F"/>
          </a:solidFill>
          <a:ln w="6350">
            <a:solidFill>
              <a:srgbClr val="2A2A3A"/>
            </a:solidFill>
          </a:ln>
        </p:spPr>
      </p:sp>
      <p:sp>
        <p:nvSpPr>
          <p:cNvPr id="9" name="Shape 9"/>
          <p:cNvSpPr/>
          <p:nvPr/>
        </p:nvSpPr>
        <p:spPr>
          <a:xfrm>
            <a:off x="6406990" y="2343150"/>
            <a:ext cx="457189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0B981"/>
              </a:gs>
              <a:gs pos="100000">
                <a:srgbClr val="06B6D4"/>
              </a:gs>
            </a:gsLst>
            <a:lin ang="2700000" scaled="1"/>
          </a:gradFill>
          <a:ln/>
        </p:spPr>
      </p:sp>
      <p:sp>
        <p:nvSpPr>
          <p:cNvPr id="10" name="Shape 10"/>
          <p:cNvSpPr/>
          <p:nvPr/>
        </p:nvSpPr>
        <p:spPr>
          <a:xfrm>
            <a:off x="8877078" y="2032000"/>
            <a:ext cx="2552636" cy="1993900"/>
          </a:xfrm>
          <a:prstGeom prst="roundRect">
            <a:avLst>
              <a:gd name="adj" fmla="val 3822"/>
            </a:avLst>
          </a:prstGeom>
          <a:solidFill>
            <a:srgbClr val="16161F"/>
          </a:solidFill>
          <a:ln w="6350">
            <a:solidFill>
              <a:srgbClr val="2A2A3A"/>
            </a:solidFill>
          </a:ln>
        </p:spPr>
      </p:sp>
      <p:sp>
        <p:nvSpPr>
          <p:cNvPr id="11" name="Shape 11"/>
          <p:cNvSpPr/>
          <p:nvPr/>
        </p:nvSpPr>
        <p:spPr>
          <a:xfrm>
            <a:off x="9112022" y="2343150"/>
            <a:ext cx="457189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43F5E"/>
              </a:gs>
              <a:gs pos="100000">
                <a:srgbClr val="FF6B35"/>
              </a:gs>
            </a:gsLst>
            <a:lin ang="2700000" scaled="1"/>
          </a:gradFill>
          <a:ln/>
        </p:spPr>
      </p:sp>
      <p:sp>
        <p:nvSpPr>
          <p:cNvPr id="12" name="Shape 12"/>
          <p:cNvSpPr/>
          <p:nvPr/>
        </p:nvSpPr>
        <p:spPr>
          <a:xfrm>
            <a:off x="761981" y="5781675"/>
            <a:ext cx="10667733" cy="6350"/>
          </a:xfrm>
          <a:prstGeom prst="rect">
            <a:avLst/>
          </a:prstGeom>
          <a:solidFill>
            <a:srgbClr val="2A2A3A"/>
          </a:solidFill>
          <a:ln/>
        </p:spPr>
      </p:sp>
      <p:sp>
        <p:nvSpPr>
          <p:cNvPr id="13" name="Text 13"/>
          <p:cNvSpPr/>
          <p:nvPr/>
        </p:nvSpPr>
        <p:spPr>
          <a:xfrm>
            <a:off x="914377" y="508000"/>
            <a:ext cx="720186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 spc="1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 / TEAM</a:t>
            </a:r>
            <a:endParaRPr lang="en-US" sz="700" dirty="0"/>
          </a:p>
        </p:txBody>
      </p:sp>
      <p:sp>
        <p:nvSpPr>
          <p:cNvPr id="14" name="Text 14"/>
          <p:cNvSpPr/>
          <p:nvPr/>
        </p:nvSpPr>
        <p:spPr>
          <a:xfrm>
            <a:off x="761981" y="1079500"/>
            <a:ext cx="3848847" cy="497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2800" dirty="0" spc="-1">
                <a:solidFill>
                  <a:srgbClr val="F5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 Built by operators. </a:t>
            </a:r>
            <a:endParaRPr lang="en-US" sz="2800" dirty="0"/>
          </a:p>
        </p:txBody>
      </p:sp>
      <p:sp>
        <p:nvSpPr>
          <p:cNvPr id="15" name="Text 15"/>
          <p:cNvSpPr/>
          <p:nvPr/>
        </p:nvSpPr>
        <p:spPr>
          <a:xfrm>
            <a:off x="996925" y="2952750"/>
            <a:ext cx="999852" cy="2133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Alex Rivera</a:t>
            </a:r>
            <a:endParaRPr lang="en-US" sz="1200" dirty="0"/>
          </a:p>
        </p:txBody>
      </p:sp>
      <p:sp>
        <p:nvSpPr>
          <p:cNvPr id="16" name="Text 16"/>
          <p:cNvSpPr/>
          <p:nvPr/>
        </p:nvSpPr>
        <p:spPr>
          <a:xfrm>
            <a:off x="996925" y="3187700"/>
            <a:ext cx="1018331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FF6B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CEO &amp; Co-founder</a:t>
            </a:r>
            <a:endParaRPr lang="en-US" sz="750" dirty="0"/>
          </a:p>
        </p:txBody>
      </p:sp>
      <p:sp>
        <p:nvSpPr>
          <p:cNvPr id="17" name="Text 17"/>
          <p:cNvSpPr/>
          <p:nvPr/>
        </p:nvSpPr>
        <p:spPr>
          <a:xfrm>
            <a:off x="996925" y="3422650"/>
            <a:ext cx="218688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6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 Ex-Google Brain. Led TFX serving infra (10B+ predictions/day). Stanford CS PhD. </a:t>
            </a:r>
            <a:endParaRPr lang="en-US" sz="750" dirty="0"/>
          </a:p>
        </p:txBody>
      </p:sp>
      <p:sp>
        <p:nvSpPr>
          <p:cNvPr id="18" name="Text 18"/>
          <p:cNvSpPr/>
          <p:nvPr/>
        </p:nvSpPr>
        <p:spPr>
          <a:xfrm>
            <a:off x="3701957" y="2952750"/>
            <a:ext cx="1104153" cy="2133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Priya Mehta</a:t>
            </a:r>
            <a:endParaRPr lang="en-US" sz="1200" dirty="0"/>
          </a:p>
        </p:txBody>
      </p:sp>
      <p:sp>
        <p:nvSpPr>
          <p:cNvPr id="19" name="Text 19"/>
          <p:cNvSpPr/>
          <p:nvPr/>
        </p:nvSpPr>
        <p:spPr>
          <a:xfrm>
            <a:off x="3701957" y="3187700"/>
            <a:ext cx="1015603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FF6B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CTO &amp; Co-founder</a:t>
            </a:r>
            <a:endParaRPr lang="en-US" sz="750" dirty="0"/>
          </a:p>
        </p:txBody>
      </p:sp>
      <p:sp>
        <p:nvSpPr>
          <p:cNvPr id="20" name="Text 20"/>
          <p:cNvSpPr/>
          <p:nvPr/>
        </p:nvSpPr>
        <p:spPr>
          <a:xfrm>
            <a:off x="3701957" y="3422650"/>
            <a:ext cx="218688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6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 Ex-Meta AI. Built PyTorch distributed training. 40+ papers. MIT EECS. </a:t>
            </a:r>
            <a:endParaRPr lang="en-US" sz="750" dirty="0"/>
          </a:p>
        </p:txBody>
      </p:sp>
      <p:sp>
        <p:nvSpPr>
          <p:cNvPr id="21" name="Text 21"/>
          <p:cNvSpPr/>
          <p:nvPr/>
        </p:nvSpPr>
        <p:spPr>
          <a:xfrm>
            <a:off x="6406990" y="2952750"/>
            <a:ext cx="1045119" cy="2133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James Park</a:t>
            </a:r>
            <a:endParaRPr lang="en-US" sz="1200" dirty="0"/>
          </a:p>
        </p:txBody>
      </p:sp>
      <p:sp>
        <p:nvSpPr>
          <p:cNvPr id="22" name="Text 22"/>
          <p:cNvSpPr/>
          <p:nvPr/>
        </p:nvSpPr>
        <p:spPr>
          <a:xfrm>
            <a:off x="6406990" y="3187700"/>
            <a:ext cx="859089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FF6B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VP Engineering</a:t>
            </a:r>
            <a:endParaRPr lang="en-US" sz="750" dirty="0"/>
          </a:p>
        </p:txBody>
      </p:sp>
      <p:sp>
        <p:nvSpPr>
          <p:cNvPr id="23" name="Text 23"/>
          <p:cNvSpPr/>
          <p:nvPr/>
        </p:nvSpPr>
        <p:spPr>
          <a:xfrm>
            <a:off x="6406990" y="3422650"/>
            <a:ext cx="218688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6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 Ex-Databricks. Scaled MLflow from 0→50M downloads. UC Berkeley EECS. </a:t>
            </a:r>
            <a:endParaRPr lang="en-US" sz="750" dirty="0"/>
          </a:p>
        </p:txBody>
      </p:sp>
      <p:sp>
        <p:nvSpPr>
          <p:cNvPr id="24" name="Text 24"/>
          <p:cNvSpPr/>
          <p:nvPr/>
        </p:nvSpPr>
        <p:spPr>
          <a:xfrm>
            <a:off x="9112022" y="2952750"/>
            <a:ext cx="1200641" cy="2133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200" dirty="0">
                <a:solidFill>
                  <a:srgbClr val="F5F5F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Maria Santos</a:t>
            </a:r>
            <a:endParaRPr lang="en-US" sz="1200" dirty="0"/>
          </a:p>
        </p:txBody>
      </p:sp>
      <p:sp>
        <p:nvSpPr>
          <p:cNvPr id="25" name="Text 25"/>
          <p:cNvSpPr/>
          <p:nvPr/>
        </p:nvSpPr>
        <p:spPr>
          <a:xfrm>
            <a:off x="9112022" y="3187700"/>
            <a:ext cx="479711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>
                <a:solidFill>
                  <a:srgbClr val="FF6B3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VP Sales</a:t>
            </a:r>
            <a:endParaRPr lang="en-US" sz="750" dirty="0"/>
          </a:p>
        </p:txBody>
      </p:sp>
      <p:sp>
        <p:nvSpPr>
          <p:cNvPr id="26" name="Text 26"/>
          <p:cNvSpPr/>
          <p:nvPr/>
        </p:nvSpPr>
        <p:spPr>
          <a:xfrm>
            <a:off x="9112022" y="3422650"/>
            <a:ext cx="218688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6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 Ex-Snowflake. Built enterprise sales from $20M→$400M ARR. Wharton MBA. </a:t>
            </a:r>
            <a:endParaRPr lang="en-US" sz="750" dirty="0"/>
          </a:p>
        </p:txBody>
      </p:sp>
      <p:sp>
        <p:nvSpPr>
          <p:cNvPr id="27" name="Text 27"/>
          <p:cNvSpPr/>
          <p:nvPr/>
        </p:nvSpPr>
        <p:spPr>
          <a:xfrm>
            <a:off x="761981" y="6080125"/>
            <a:ext cx="650115" cy="1155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50" dirty="0" spc="1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BACKED BY</a:t>
            </a:r>
            <a:endParaRPr lang="en-US" sz="650" dirty="0"/>
          </a:p>
        </p:txBody>
      </p:sp>
      <p:sp>
        <p:nvSpPr>
          <p:cNvPr id="28" name="Text 28"/>
          <p:cNvSpPr/>
          <p:nvPr/>
        </p:nvSpPr>
        <p:spPr>
          <a:xfrm>
            <a:off x="1586865" y="6045200"/>
            <a:ext cx="374913" cy="195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100" dirty="0">
                <a:solidFill>
                  <a:srgbClr val="F5F5F0">
                    <a:alpha val="35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a16z</a:t>
            </a:r>
            <a:endParaRPr lang="en-US" sz="1100" dirty="0"/>
          </a:p>
        </p:txBody>
      </p:sp>
      <p:sp>
        <p:nvSpPr>
          <p:cNvPr id="29" name="Text 29"/>
          <p:cNvSpPr/>
          <p:nvPr/>
        </p:nvSpPr>
        <p:spPr>
          <a:xfrm>
            <a:off x="2140789" y="6045200"/>
            <a:ext cx="680376" cy="195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100" dirty="0">
                <a:solidFill>
                  <a:srgbClr val="F5F5F0">
                    <a:alpha val="35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Sequoia</a:t>
            </a:r>
            <a:endParaRPr lang="en-US" sz="1100" dirty="0"/>
          </a:p>
        </p:txBody>
      </p:sp>
      <p:sp>
        <p:nvSpPr>
          <p:cNvPr id="30" name="Text 30"/>
          <p:cNvSpPr/>
          <p:nvPr/>
        </p:nvSpPr>
        <p:spPr>
          <a:xfrm>
            <a:off x="2939084" y="6045200"/>
            <a:ext cx="955949" cy="195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100" dirty="0">
                <a:solidFill>
                  <a:srgbClr val="F5F5F0">
                    <a:alpha val="35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Lightspeed</a:t>
            </a:r>
            <a:endParaRPr lang="en-US" sz="1100" dirty="0"/>
          </a:p>
        </p:txBody>
      </p:sp>
      <p:sp>
        <p:nvSpPr>
          <p:cNvPr id="31" name="Text 31"/>
          <p:cNvSpPr/>
          <p:nvPr/>
        </p:nvSpPr>
        <p:spPr>
          <a:xfrm>
            <a:off x="3957836" y="6045200"/>
            <a:ext cx="1260419" cy="195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100" dirty="0">
                <a:solidFill>
                  <a:srgbClr val="F5F5F0">
                    <a:alpha val="35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Index Ventures</a:t>
            </a:r>
            <a:endParaRPr lang="en-US" sz="1100" dirty="0"/>
          </a:p>
        </p:txBody>
      </p:sp>
      <p:sp>
        <p:nvSpPr>
          <p:cNvPr id="32" name="Text 32"/>
          <p:cNvSpPr/>
          <p:nvPr/>
        </p:nvSpPr>
        <p:spPr>
          <a:xfrm>
            <a:off x="5220165" y="6045200"/>
            <a:ext cx="220384" cy="1955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100" dirty="0">
                <a:solidFill>
                  <a:srgbClr val="F5F5F0">
                    <a:alpha val="35000"/>
                  </a:srgbClr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GV</a:t>
            </a:r>
            <a:endParaRPr lang="en-US" sz="1100" dirty="0"/>
          </a:p>
        </p:txBody>
      </p:sp>
      <p:sp>
        <p:nvSpPr>
          <p:cNvPr id="33" name="Text 33"/>
          <p:cNvSpPr/>
          <p:nvPr/>
        </p:nvSpPr>
        <p:spPr>
          <a:xfrm>
            <a:off x="11322958" y="6362700"/>
            <a:ext cx="133446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3"/>
          <p:cNvSpPr/>
          <p:nvPr/>
        </p:nvSpPr>
        <p:spPr>
          <a:xfrm>
            <a:off x="2285943" y="-381000"/>
            <a:ext cx="7619810" cy="7620000"/>
          </a:xfrm>
          <a:prstGeom prst="roundRect">
            <a:avLst>
              <a:gd name="adj" fmla="val 50000"/>
            </a:avLst>
          </a:prstGeom>
          <a:gradFill rotWithShape="0">
            <a:gsLst>
              <a:gs pos="23333">
                <a:srgbClr val="FF6B35">
                  <a:alpha val="10000"/>
                </a:srgbClr>
              </a:gs>
              <a:gs pos="24500">
                <a:srgbClr val="DE5F63">
                  <a:alpha val="8750"/>
                </a:srgbClr>
              </a:gs>
              <a:gs pos="25667">
                <a:srgbClr val="BE5391">
                  <a:alpha val="7500"/>
                </a:srgbClr>
              </a:gs>
              <a:gs pos="26833">
                <a:srgbClr val="9D46BF">
                  <a:alpha val="6250"/>
                </a:srgbClr>
              </a:gs>
              <a:gs pos="28000">
                <a:srgbClr val="7C3AED">
                  <a:alpha val="5000"/>
                </a:srgbClr>
              </a:gs>
              <a:gs pos="32375">
                <a:srgbClr val="5D2CB2">
                  <a:alpha val="3750"/>
                </a:srgbClr>
              </a:gs>
              <a:gs pos="36750">
                <a:srgbClr val="3E1D77">
                  <a:alpha val="2500"/>
                </a:srgbClr>
              </a:gs>
              <a:gs pos="41125">
                <a:srgbClr val="1F0F3B">
                  <a:alpha val="1250"/>
                </a:srgbClr>
              </a:gs>
              <a:gs pos="45500">
                <a:srgbClr val="000000">
                  <a:alpha val="0"/>
                </a:srgbClr>
              </a:gs>
            </a:gsLst>
            <a:path path="circle">
              <a:fillToRect l="25000" t="25000" r="25000" b="25000"/>
            </a:path>
          </a:gradFill>
          <a:ln/>
        </p:spPr>
      </p:sp>
      <p:sp>
        <p:nvSpPr>
          <p:cNvPr id="4" name="Shape 4"/>
          <p:cNvSpPr/>
          <p:nvPr/>
        </p:nvSpPr>
        <p:spPr>
          <a:xfrm>
            <a:off x="2285943" y="3556000"/>
            <a:ext cx="3797205" cy="304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Shape 5"/>
          <p:cNvSpPr/>
          <p:nvPr/>
        </p:nvSpPr>
        <p:spPr>
          <a:xfrm>
            <a:off x="6095848" y="3556000"/>
            <a:ext cx="2278303" cy="304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6"/>
          <p:cNvSpPr/>
          <p:nvPr/>
        </p:nvSpPr>
        <p:spPr>
          <a:xfrm>
            <a:off x="8386850" y="3556000"/>
            <a:ext cx="1518902" cy="304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7"/>
          <p:cNvSpPr/>
          <p:nvPr/>
        </p:nvSpPr>
        <p:spPr>
          <a:xfrm>
            <a:off x="2285943" y="4184650"/>
            <a:ext cx="2438339" cy="127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Shape 8"/>
          <p:cNvSpPr/>
          <p:nvPr/>
        </p:nvSpPr>
        <p:spPr>
          <a:xfrm>
            <a:off x="4876678" y="4184650"/>
            <a:ext cx="2438339" cy="127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Shape 9"/>
          <p:cNvSpPr/>
          <p:nvPr/>
        </p:nvSpPr>
        <p:spPr>
          <a:xfrm>
            <a:off x="7467413" y="4184650"/>
            <a:ext cx="2438339" cy="127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10"/>
          <p:cNvSpPr/>
          <p:nvPr/>
        </p:nvSpPr>
        <p:spPr>
          <a:xfrm>
            <a:off x="5810105" y="1270000"/>
            <a:ext cx="714357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50" dirty="0" spc="1">
                <a:solidFill>
                  <a:srgbClr val="FF6B35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 SERIES B </a:t>
            </a:r>
            <a:endParaRPr lang="en-US" sz="750" dirty="0"/>
          </a:p>
        </p:txBody>
      </p:sp>
      <p:sp>
        <p:nvSpPr>
          <p:cNvPr id="11" name="Text 11"/>
          <p:cNvSpPr/>
          <p:nvPr/>
        </p:nvSpPr>
        <p:spPr>
          <a:xfrm>
            <a:off x="5105967" y="1574800"/>
            <a:ext cx="2474578" cy="10667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6000" dirty="0" spc="-2">
                <a:solidFill>
                  <a:srgbClr val="F5F5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$42M</a:t>
            </a:r>
            <a:endParaRPr lang="en-US" sz="6000" dirty="0"/>
          </a:p>
        </p:txBody>
      </p:sp>
      <p:sp>
        <p:nvSpPr>
          <p:cNvPr id="12" name="Text 12"/>
          <p:cNvSpPr/>
          <p:nvPr/>
        </p:nvSpPr>
        <p:spPr>
          <a:xfrm>
            <a:off x="5056557" y="2622550"/>
            <a:ext cx="2598226" cy="2133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$420M pre-money valuation</a:t>
            </a:r>
            <a:endParaRPr lang="en-US" sz="1200" dirty="0"/>
          </a:p>
        </p:txBody>
      </p:sp>
      <p:sp>
        <p:nvSpPr>
          <p:cNvPr id="13" name="Text 13"/>
          <p:cNvSpPr/>
          <p:nvPr/>
        </p:nvSpPr>
        <p:spPr>
          <a:xfrm>
            <a:off x="3951189" y="3651250"/>
            <a:ext cx="583268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0A0A0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R&amp;D — 50%</a:t>
            </a:r>
            <a:endParaRPr lang="en-US" sz="700" dirty="0"/>
          </a:p>
        </p:txBody>
      </p:sp>
      <p:sp>
        <p:nvSpPr>
          <p:cNvPr id="14" name="Text 14"/>
          <p:cNvSpPr/>
          <p:nvPr/>
        </p:nvSpPr>
        <p:spPr>
          <a:xfrm>
            <a:off x="6992167" y="3651250"/>
            <a:ext cx="606956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F5F5F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GTM — 30%</a:t>
            </a:r>
            <a:endParaRPr lang="en-US" sz="700" dirty="0"/>
          </a:p>
        </p:txBody>
      </p:sp>
      <p:sp>
        <p:nvSpPr>
          <p:cNvPr id="15" name="Text 15"/>
          <p:cNvSpPr/>
          <p:nvPr/>
        </p:nvSpPr>
        <p:spPr>
          <a:xfrm>
            <a:off x="8915475" y="3651250"/>
            <a:ext cx="576943" cy="1244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700" dirty="0">
                <a:solidFill>
                  <a:srgbClr val="0A0A0F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Ops — 20%</a:t>
            </a:r>
            <a:endParaRPr lang="en-US" sz="700" dirty="0"/>
          </a:p>
        </p:txBody>
      </p:sp>
      <p:sp>
        <p:nvSpPr>
          <p:cNvPr id="16" name="Text 16"/>
          <p:cNvSpPr/>
          <p:nvPr/>
        </p:nvSpPr>
        <p:spPr>
          <a:xfrm>
            <a:off x="2285943" y="4381500"/>
            <a:ext cx="773267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000" dirty="0">
                <a:solidFill>
                  <a:srgbClr val="F5F5F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$50M ARR</a:t>
            </a:r>
            <a:endParaRPr lang="en-US" sz="1000" dirty="0"/>
          </a:p>
        </p:txBody>
      </p:sp>
      <p:sp>
        <p:nvSpPr>
          <p:cNvPr id="17" name="Text 17"/>
          <p:cNvSpPr/>
          <p:nvPr/>
        </p:nvSpPr>
        <p:spPr>
          <a:xfrm>
            <a:off x="2285943" y="4603750"/>
            <a:ext cx="2989882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Hit $50M ARR by Q4 2026 with enterprise expansion</a:t>
            </a:r>
            <a:endParaRPr lang="en-US" sz="750" dirty="0"/>
          </a:p>
        </p:txBody>
      </p:sp>
      <p:sp>
        <p:nvSpPr>
          <p:cNvPr id="18" name="Text 18"/>
          <p:cNvSpPr/>
          <p:nvPr/>
        </p:nvSpPr>
        <p:spPr>
          <a:xfrm>
            <a:off x="4876678" y="4381500"/>
            <a:ext cx="797451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000" dirty="0">
                <a:solidFill>
                  <a:srgbClr val="F5F5F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EU Launch</a:t>
            </a:r>
            <a:endParaRPr lang="en-US" sz="1000" dirty="0"/>
          </a:p>
        </p:txBody>
      </p:sp>
      <p:sp>
        <p:nvSpPr>
          <p:cNvPr id="19" name="Text 19"/>
          <p:cNvSpPr/>
          <p:nvPr/>
        </p:nvSpPr>
        <p:spPr>
          <a:xfrm>
            <a:off x="4876678" y="4603750"/>
            <a:ext cx="2870699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Open London &amp; Berlin offices, SOC 2 Type II + GDPR</a:t>
            </a:r>
            <a:endParaRPr lang="en-US" sz="750" dirty="0"/>
          </a:p>
        </p:txBody>
      </p:sp>
      <p:sp>
        <p:nvSpPr>
          <p:cNvPr id="20" name="Text 20"/>
          <p:cNvSpPr/>
          <p:nvPr/>
        </p:nvSpPr>
        <p:spPr>
          <a:xfrm>
            <a:off x="7467413" y="4381500"/>
            <a:ext cx="885009" cy="1777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1000" dirty="0">
                <a:solidFill>
                  <a:srgbClr val="F5F5F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Platform V2</a:t>
            </a:r>
            <a:endParaRPr lang="en-US" sz="1000" dirty="0"/>
          </a:p>
        </p:txBody>
      </p:sp>
      <p:sp>
        <p:nvSpPr>
          <p:cNvPr id="21" name="Text 21"/>
          <p:cNvSpPr/>
          <p:nvPr/>
        </p:nvSpPr>
        <p:spPr>
          <a:xfrm>
            <a:off x="7467413" y="4603750"/>
            <a:ext cx="25602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Bef>
                <a:spcPts val="0"/>
              </a:spcBef>
              <a:spcAft>
                <a:spcPts val="0"/>
              </a:spcAft>
              <a:lnSpc>
                <a:spcPct val="15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Fine-tuning pipelines, multi-modal, and edge deployment</a:t>
            </a:r>
            <a:endParaRPr lang="en-US" sz="750" dirty="0"/>
          </a:p>
        </p:txBody>
      </p:sp>
      <p:sp>
        <p:nvSpPr>
          <p:cNvPr id="22" name="Text 22"/>
          <p:cNvSpPr/>
          <p:nvPr/>
        </p:nvSpPr>
        <p:spPr>
          <a:xfrm>
            <a:off x="5091084" y="6203950"/>
            <a:ext cx="2511784" cy="160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indent="0" marL="0"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 alex@luminar.ai · luminar.ai/investors 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slide-gen</Application>
  <PresentationFormat>On-screen Show (16:9)</PresentationFormat>
  <Paragraphs>0</Paragraphs>
  <Slides>7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slide-gen</dc:creator>
  <cp:lastModifiedBy>slide-gen</cp:lastModifiedBy>
  <cp:revision>1</cp:revision>
  <dcterms:created xsi:type="dcterms:W3CDTF">2026-03-27T22:35:41Z</dcterms:created>
  <dcterms:modified xsi:type="dcterms:W3CDTF">2026-03-27T22:35:41Z</dcterms:modified>
</cp:coreProperties>
</file>