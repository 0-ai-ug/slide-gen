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brief. The cover sets the tone — warm, confident, editorial.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wins, one challenge. Frame the narrative upfront.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 row by row. Highlight EBITDA improvement.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V3 launch. Mention customer-requested features.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the hiring gap honestly. Show the plan to close it.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confidence. Reiterate the full-year targets.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3" name="Shape 3"/>
          <p:cNvSpPr/>
          <p:nvPr/>
        </p:nvSpPr>
        <p:spPr>
          <a:xfrm>
            <a:off x="507987" y="381000"/>
            <a:ext cx="11175721" cy="6350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507987" y="6470650"/>
            <a:ext cx="11175721" cy="6350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</p:sp>
      <p:sp>
        <p:nvSpPr>
          <p:cNvPr id="5" name="Shape 5"/>
          <p:cNvSpPr/>
          <p:nvPr/>
        </p:nvSpPr>
        <p:spPr>
          <a:xfrm>
            <a:off x="634984" y="1397000"/>
            <a:ext cx="38099" cy="1524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Shape 6"/>
          <p:cNvSpPr/>
          <p:nvPr/>
        </p:nvSpPr>
        <p:spPr>
          <a:xfrm>
            <a:off x="634984" y="5321300"/>
            <a:ext cx="2730432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7"/>
          <p:cNvSpPr/>
          <p:nvPr/>
        </p:nvSpPr>
        <p:spPr>
          <a:xfrm>
            <a:off x="3365416" y="5321300"/>
            <a:ext cx="2730432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8"/>
          <p:cNvSpPr/>
          <p:nvPr/>
        </p:nvSpPr>
        <p:spPr>
          <a:xfrm>
            <a:off x="6095848" y="5321300"/>
            <a:ext cx="2730432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9"/>
          <p:cNvSpPr/>
          <p:nvPr/>
        </p:nvSpPr>
        <p:spPr>
          <a:xfrm>
            <a:off x="8826279" y="5321300"/>
            <a:ext cx="2730432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10"/>
          <p:cNvSpPr/>
          <p:nvPr/>
        </p:nvSpPr>
        <p:spPr>
          <a:xfrm>
            <a:off x="888978" y="5695950"/>
            <a:ext cx="2069403" cy="373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1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$34.2M</a:t>
            </a:r>
            <a:r>
              <a:rPr lang="en-US" sz="800" dirty="0" b="1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+24% YoY</a:t>
            </a:r>
            <a:endParaRPr lang="en-US" sz="800" dirty="0"/>
          </a:p>
        </p:txBody>
      </p:sp>
      <p:sp>
        <p:nvSpPr>
          <p:cNvPr id="11" name="Text 11"/>
          <p:cNvSpPr/>
          <p:nvPr/>
        </p:nvSpPr>
        <p:spPr>
          <a:xfrm>
            <a:off x="3619410" y="5695950"/>
            <a:ext cx="1953072" cy="373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1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$6.8M</a:t>
            </a:r>
            <a:r>
              <a:rPr lang="en-US" sz="800" dirty="0" b="1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 margin</a:t>
            </a:r>
            <a:endParaRPr lang="en-US" sz="800" dirty="0"/>
          </a:p>
        </p:txBody>
      </p:sp>
      <p:sp>
        <p:nvSpPr>
          <p:cNvPr id="12" name="Text 12"/>
          <p:cNvSpPr/>
          <p:nvPr/>
        </p:nvSpPr>
        <p:spPr>
          <a:xfrm>
            <a:off x="6349841" y="5695950"/>
            <a:ext cx="1529047" cy="373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1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248</a:t>
            </a:r>
            <a:r>
              <a:rPr lang="en-US" sz="800" dirty="0" b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 net new</a:t>
            </a:r>
            <a:endParaRPr lang="en-US" sz="800" dirty="0"/>
          </a:p>
        </p:txBody>
      </p:sp>
      <p:sp>
        <p:nvSpPr>
          <p:cNvPr id="13" name="Text 13"/>
          <p:cNvSpPr/>
          <p:nvPr/>
        </p:nvSpPr>
        <p:spPr>
          <a:xfrm>
            <a:off x="9080273" y="5695950"/>
            <a:ext cx="931269" cy="373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1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r>
              <a:rPr lang="en-US" sz="800" dirty="0" b="1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 pts</a:t>
            </a:r>
            <a:endParaRPr lang="en-US" sz="800" dirty="0"/>
          </a:p>
        </p:txBody>
      </p:sp>
      <p:sp>
        <p:nvSpPr>
          <p:cNvPr id="14" name="Text 14"/>
          <p:cNvSpPr/>
          <p:nvPr/>
        </p:nvSpPr>
        <p:spPr>
          <a:xfrm>
            <a:off x="634984" y="571500"/>
            <a:ext cx="849911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 b="1" spc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</a:t>
            </a:r>
            <a:endParaRPr lang="en-US" sz="900" dirty="0"/>
          </a:p>
        </p:txBody>
      </p:sp>
      <p:sp>
        <p:nvSpPr>
          <p:cNvPr id="15" name="Text 15"/>
          <p:cNvSpPr/>
          <p:nvPr/>
        </p:nvSpPr>
        <p:spPr>
          <a:xfrm>
            <a:off x="10017569" y="558800"/>
            <a:ext cx="192392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Board Presentation · March 2026 </a:t>
            </a:r>
            <a:endParaRPr lang="en-US" sz="700" dirty="0"/>
          </a:p>
        </p:txBody>
      </p:sp>
      <p:sp>
        <p:nvSpPr>
          <p:cNvPr id="16" name="Text 16"/>
          <p:cNvSpPr/>
          <p:nvPr/>
        </p:nvSpPr>
        <p:spPr>
          <a:xfrm>
            <a:off x="888978" y="1358900"/>
            <a:ext cx="4700887" cy="1300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0000"/>
              </a:lnSpc>
              <a:buNone/>
            </a:pPr>
            <a:r>
              <a:rPr lang="en-US" sz="4400" dirty="0" b="1" spc="-1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 Q1 2026</a:t>
            </a:r>
            <a:endParaRPr lang="en-US" sz="44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0000"/>
              </a:lnSpc>
              <a:buNone/>
            </a:pPr>
            <a:r>
              <a:rPr lang="en-US" sz="4400" dirty="0" b="1" spc="-1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Business Review </a:t>
            </a:r>
            <a:endParaRPr lang="en-US" sz="4400" dirty="0"/>
          </a:p>
        </p:txBody>
      </p:sp>
      <p:sp>
        <p:nvSpPr>
          <p:cNvPr id="17" name="Text 17"/>
          <p:cNvSpPr/>
          <p:nvPr/>
        </p:nvSpPr>
        <p:spPr>
          <a:xfrm>
            <a:off x="888978" y="2854920"/>
            <a:ext cx="4000400" cy="446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11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Strong revenue growth paired with operational efficiency gains. On track for full-year targets. </a:t>
            </a:r>
            <a:endParaRPr lang="en-US" sz="1100" dirty="0"/>
          </a:p>
        </p:txBody>
      </p:sp>
      <p:sp>
        <p:nvSpPr>
          <p:cNvPr id="18" name="Text 18"/>
          <p:cNvSpPr/>
          <p:nvPr/>
        </p:nvSpPr>
        <p:spPr>
          <a:xfrm>
            <a:off x="888978" y="5543550"/>
            <a:ext cx="541969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650" dirty="0"/>
          </a:p>
        </p:txBody>
      </p:sp>
      <p:sp>
        <p:nvSpPr>
          <p:cNvPr id="19" name="Text 19"/>
          <p:cNvSpPr/>
          <p:nvPr/>
        </p:nvSpPr>
        <p:spPr>
          <a:xfrm>
            <a:off x="3619410" y="5543550"/>
            <a:ext cx="422289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</a:t>
            </a:r>
            <a:endParaRPr lang="en-US" sz="650" dirty="0"/>
          </a:p>
        </p:txBody>
      </p:sp>
      <p:sp>
        <p:nvSpPr>
          <p:cNvPr id="20" name="Text 20"/>
          <p:cNvSpPr/>
          <p:nvPr/>
        </p:nvSpPr>
        <p:spPr>
          <a:xfrm>
            <a:off x="6349841" y="5543550"/>
            <a:ext cx="741022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</a:t>
            </a:r>
            <a:endParaRPr lang="en-US" sz="650" dirty="0"/>
          </a:p>
        </p:txBody>
      </p:sp>
      <p:sp>
        <p:nvSpPr>
          <p:cNvPr id="21" name="Text 21"/>
          <p:cNvSpPr/>
          <p:nvPr/>
        </p:nvSpPr>
        <p:spPr>
          <a:xfrm>
            <a:off x="9080273" y="5543550"/>
            <a:ext cx="236879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771525"/>
            <a:ext cx="10921727" cy="6350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634984" y="2597150"/>
            <a:ext cx="5270368" cy="127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5"/>
          <p:cNvSpPr/>
          <p:nvPr/>
        </p:nvSpPr>
        <p:spPr>
          <a:xfrm>
            <a:off x="6286343" y="2597150"/>
            <a:ext cx="5270368" cy="127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6"/>
          <p:cNvSpPr/>
          <p:nvPr/>
        </p:nvSpPr>
        <p:spPr>
          <a:xfrm>
            <a:off x="634984" y="508000"/>
            <a:ext cx="143590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7" name="Text 7"/>
          <p:cNvSpPr/>
          <p:nvPr/>
        </p:nvSpPr>
        <p:spPr>
          <a:xfrm>
            <a:off x="11446383" y="508000"/>
            <a:ext cx="137911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00" dirty="0"/>
          </a:p>
        </p:txBody>
      </p:sp>
      <p:sp>
        <p:nvSpPr>
          <p:cNvPr id="8" name="Text 8"/>
          <p:cNvSpPr/>
          <p:nvPr/>
        </p:nvSpPr>
        <p:spPr>
          <a:xfrm>
            <a:off x="634984" y="1073150"/>
            <a:ext cx="5333867" cy="8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600" dirty="0" b="1" spc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 A quarter of disciplined</a:t>
            </a:r>
            <a:endParaRPr lang="en-US" sz="2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600" dirty="0" b="1" spc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growth and margin expansion. </a:t>
            </a:r>
            <a:endParaRPr lang="en-US" sz="2600" dirty="0"/>
          </a:p>
        </p:txBody>
      </p:sp>
      <p:sp>
        <p:nvSpPr>
          <p:cNvPr id="9" name="Text 9"/>
          <p:cNvSpPr/>
          <p:nvPr/>
        </p:nvSpPr>
        <p:spPr>
          <a:xfrm>
            <a:off x="634984" y="2413000"/>
            <a:ext cx="741518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HIGHLIGHTS</a:t>
            </a:r>
            <a:endParaRPr lang="en-US" sz="650" dirty="0"/>
          </a:p>
        </p:txBody>
      </p:sp>
      <p:sp>
        <p:nvSpPr>
          <p:cNvPr id="10" name="Text 10"/>
          <p:cNvSpPr/>
          <p:nvPr/>
        </p:nvSpPr>
        <p:spPr>
          <a:xfrm>
            <a:off x="634984" y="2781300"/>
            <a:ext cx="2106113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pipeline doubled</a:t>
            </a:r>
            <a:endParaRPr lang="en-US" sz="1000" dirty="0"/>
          </a:p>
        </p:txBody>
      </p:sp>
      <p:sp>
        <p:nvSpPr>
          <p:cNvPr id="11" name="Text 11"/>
          <p:cNvSpPr/>
          <p:nvPr/>
        </p:nvSpPr>
        <p:spPr>
          <a:xfrm>
            <a:off x="634984" y="2997200"/>
            <a:ext cx="553388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New outbound motion generated $14M in qualified pipeline. 6 deals &gt;$500K in late stage. </a:t>
            </a:r>
            <a:endParaRPr lang="en-US" sz="800" dirty="0"/>
          </a:p>
        </p:txBody>
      </p:sp>
      <p:sp>
        <p:nvSpPr>
          <p:cNvPr id="12" name="Text 12"/>
          <p:cNvSpPr/>
          <p:nvPr/>
        </p:nvSpPr>
        <p:spPr>
          <a:xfrm>
            <a:off x="634984" y="3324820"/>
            <a:ext cx="2069279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 launch ahead of plan</a:t>
            </a:r>
            <a:endParaRPr lang="en-US" sz="1000" dirty="0"/>
          </a:p>
        </p:txBody>
      </p:sp>
      <p:sp>
        <p:nvSpPr>
          <p:cNvPr id="13" name="Text 13"/>
          <p:cNvSpPr/>
          <p:nvPr/>
        </p:nvSpPr>
        <p:spPr>
          <a:xfrm>
            <a:off x="634984" y="3540720"/>
            <a:ext cx="553388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Tokyo office opened Feb 3. First three deals closed (Rakuten, SoftBank, MUFG). $1.2M TCV in 7 weeks. </a:t>
            </a:r>
            <a:endParaRPr lang="en-US" sz="800" dirty="0"/>
          </a:p>
        </p:txBody>
      </p:sp>
      <p:sp>
        <p:nvSpPr>
          <p:cNvPr id="14" name="Text 14"/>
          <p:cNvSpPr/>
          <p:nvPr/>
        </p:nvSpPr>
        <p:spPr>
          <a:xfrm>
            <a:off x="634984" y="3868341"/>
            <a:ext cx="2538200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V3 shipped on schedule</a:t>
            </a:r>
            <a:endParaRPr lang="en-US" sz="1000" dirty="0"/>
          </a:p>
        </p:txBody>
      </p:sp>
      <p:sp>
        <p:nvSpPr>
          <p:cNvPr id="15" name="Text 15"/>
          <p:cNvSpPr/>
          <p:nvPr/>
        </p:nvSpPr>
        <p:spPr>
          <a:xfrm>
            <a:off x="634984" y="4084241"/>
            <a:ext cx="553388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Real-time analytics, custom dashboards, and SSO/SCIM. Reduced churn driver #1 by 40%. </a:t>
            </a:r>
            <a:endParaRPr lang="en-US" sz="800" dirty="0"/>
          </a:p>
        </p:txBody>
      </p:sp>
      <p:sp>
        <p:nvSpPr>
          <p:cNvPr id="16" name="Text 16"/>
          <p:cNvSpPr/>
          <p:nvPr/>
        </p:nvSpPr>
        <p:spPr>
          <a:xfrm>
            <a:off x="6286343" y="2413000"/>
            <a:ext cx="848795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ITEMS</a:t>
            </a:r>
            <a:endParaRPr lang="en-US" sz="650" dirty="0"/>
          </a:p>
        </p:txBody>
      </p:sp>
      <p:sp>
        <p:nvSpPr>
          <p:cNvPr id="17" name="Text 17"/>
          <p:cNvSpPr/>
          <p:nvPr/>
        </p:nvSpPr>
        <p:spPr>
          <a:xfrm>
            <a:off x="6286343" y="2781300"/>
            <a:ext cx="1589073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 churn ticked up</a:t>
            </a:r>
            <a:endParaRPr lang="en-US" sz="1000" dirty="0"/>
          </a:p>
        </p:txBody>
      </p:sp>
      <p:sp>
        <p:nvSpPr>
          <p:cNvPr id="18" name="Text 18"/>
          <p:cNvSpPr/>
          <p:nvPr/>
        </p:nvSpPr>
        <p:spPr>
          <a:xfrm>
            <a:off x="6286343" y="2997200"/>
            <a:ext cx="5533887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Logo churn rose to 4.2% (from 3.1%). Root cause: pricing sensitivity in sub-$10K cohort. Mitigation plan in place — launching starter tier in April. </a:t>
            </a:r>
            <a:endParaRPr lang="en-US" sz="800" dirty="0"/>
          </a:p>
        </p:txBody>
      </p:sp>
      <p:sp>
        <p:nvSpPr>
          <p:cNvPr id="19" name="Text 19"/>
          <p:cNvSpPr/>
          <p:nvPr/>
        </p:nvSpPr>
        <p:spPr>
          <a:xfrm>
            <a:off x="6286343" y="3487341"/>
            <a:ext cx="1969567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hiring behind</a:t>
            </a:r>
            <a:endParaRPr lang="en-US" sz="1000" dirty="0"/>
          </a:p>
        </p:txBody>
      </p:sp>
      <p:sp>
        <p:nvSpPr>
          <p:cNvPr id="20" name="Text 20"/>
          <p:cNvSpPr/>
          <p:nvPr/>
        </p:nvSpPr>
        <p:spPr>
          <a:xfrm>
            <a:off x="6286343" y="3703241"/>
            <a:ext cx="5533887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Filled 6 of 12 planned roles. Senior backend remains competitive. Adjusted comp bands and added referral bonus ($10K → $15K). </a:t>
            </a:r>
            <a:endParaRPr lang="en-US" sz="800" dirty="0"/>
          </a:p>
        </p:txBody>
      </p:sp>
      <p:sp>
        <p:nvSpPr>
          <p:cNvPr id="21" name="Text 21"/>
          <p:cNvSpPr/>
          <p:nvPr/>
        </p:nvSpPr>
        <p:spPr>
          <a:xfrm>
            <a:off x="6286343" y="4193381"/>
            <a:ext cx="1987302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costs rising</a:t>
            </a:r>
            <a:endParaRPr lang="en-US" sz="1000" dirty="0"/>
          </a:p>
        </p:txBody>
      </p:sp>
      <p:sp>
        <p:nvSpPr>
          <p:cNvPr id="22" name="Text 22"/>
          <p:cNvSpPr/>
          <p:nvPr/>
        </p:nvSpPr>
        <p:spPr>
          <a:xfrm>
            <a:off x="6286343" y="4409281"/>
            <a:ext cx="5533887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Cloud spend grew 32% QoQ vs. 24% revenue growth. Migration to reserved instances underway — expect 20% savings by Q3. 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771525"/>
            <a:ext cx="10921727" cy="6350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634984" y="5756275"/>
            <a:ext cx="10921727" cy="466725"/>
          </a:xfrm>
          <a:custGeom>
            <a:avLst/>
            <a:gdLst/>
            <a:ahLst/>
            <a:cxnLst/>
            <a:rect l="0" t="0" r="0" b="0"/>
            <a:pathLst>
              <a:path w="10921727" h="466725">
                <a:moveTo>
                  <a:pt x="0" y="0"/>
                </a:moveTo>
                <a:lnTo>
                  <a:pt x="10870928" y="0"/>
                </a:lnTo>
                <a:arcTo wR="50799" hR="50799" stAng="16200000" swAng="5400000"/>
                <a:lnTo>
                  <a:pt x="10921727" y="415926"/>
                </a:lnTo>
                <a:arcTo wR="50799" hR="50799" stAng="0" swAng="5400000"/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solidFill>
            <a:srgbClr val="16A34A">
              <a:alpha val="6000"/>
            </a:srgbClr>
          </a:solidFill>
          <a:ln/>
        </p:spPr>
      </p:sp>
      <p:sp>
        <p:nvSpPr>
          <p:cNvPr id="5" name="Shape 5"/>
          <p:cNvSpPr/>
          <p:nvPr/>
        </p:nvSpPr>
        <p:spPr>
          <a:xfrm>
            <a:off x="625459" y="5756275"/>
            <a:ext cx="19050" cy="466725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6"/>
          <p:cNvSpPr/>
          <p:nvPr/>
        </p:nvSpPr>
        <p:spPr>
          <a:xfrm>
            <a:off x="634984" y="508000"/>
            <a:ext cx="1714829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PERFORMANCE</a:t>
            </a:r>
            <a:endParaRPr lang="en-US" sz="700" dirty="0"/>
          </a:p>
        </p:txBody>
      </p:sp>
      <p:sp>
        <p:nvSpPr>
          <p:cNvPr id="7" name="Text 7"/>
          <p:cNvSpPr/>
          <p:nvPr/>
        </p:nvSpPr>
        <p:spPr>
          <a:xfrm>
            <a:off x="11445688" y="508000"/>
            <a:ext cx="138779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00" dirty="0"/>
          </a:p>
        </p:txBody>
      </p:sp>
      <p:sp>
        <p:nvSpPr>
          <p:cNvPr id="8" name="Text 8"/>
          <p:cNvSpPr/>
          <p:nvPr/>
        </p:nvSpPr>
        <p:spPr>
          <a:xfrm>
            <a:off x="634984" y="1016000"/>
            <a:ext cx="6167283" cy="3911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200" dirty="0" b="1" spc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 Revenue &amp; profitability trending up. </a:t>
            </a:r>
            <a:endParaRPr lang="en-US" sz="2200" dirty="0"/>
          </a:p>
        </p:txBody>
      </p:sp>
      <p:sp>
        <p:nvSpPr>
          <p:cNvPr id="9" name="Text 9"/>
          <p:cNvSpPr/>
          <p:nvPr/>
        </p:nvSpPr>
        <p:spPr>
          <a:xfrm>
            <a:off x="857229" y="5921375"/>
            <a:ext cx="11252365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takeaway:</a:t>
            </a: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EBITDA margin expanded from 12% to 20% in four quarters while revenue grew 24% — demonstrating that growth and profitability are not tradeoffs at our scale. </a:t>
            </a:r>
            <a:endParaRPr lang="en-US" sz="850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34984" y="1778000"/>
          <a:ext cx="10921727" cy="21209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98146"/>
                <a:gridCol w="1426928"/>
                <a:gridCol w="1441017"/>
                <a:gridCol w="1439529"/>
                <a:gridCol w="1452526"/>
                <a:gridCol w="1484077"/>
                <a:gridCol w="1379503"/>
              </a:tblGrid>
              <a:tr h="311150">
                <a:tc>
                  <a:txBody>
                    <a:bodyPr/>
                    <a:lstStyle/>
                    <a:p>
                      <a:pPr/>
                      <a:r>
                        <a:rPr lang="en-US" sz="6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Metric</a:t>
                      </a:r>
                      <a:endParaRPr lang="en-US" dirty="0"/>
                    </a:p>
                  </a:txBody>
                  <a:tcPr marL="126997" marR="126997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6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Q1 '25</a:t>
                      </a:r>
                      <a:endParaRPr lang="en-US" dirty="0"/>
                    </a:p>
                  </a:txBody>
                  <a:tcPr marL="126997" marR="126997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6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Q2 '25</a:t>
                      </a:r>
                      <a:endParaRPr lang="en-US" dirty="0"/>
                    </a:p>
                  </a:txBody>
                  <a:tcPr marL="126997" marR="126997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6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Q3 '25</a:t>
                      </a:r>
                      <a:endParaRPr lang="en-US" dirty="0"/>
                    </a:p>
                  </a:txBody>
                  <a:tcPr marL="126997" marR="126997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6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Q4 '25</a:t>
                      </a:r>
                      <a:endParaRPr lang="en-US" dirty="0"/>
                    </a:p>
                  </a:txBody>
                  <a:tcPr marL="126997" marR="126997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650" dirty="0" b="1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Q1 '26</a:t>
                      </a:r>
                      <a:endParaRPr lang="en-US" dirty="0"/>
                    </a:p>
                  </a:txBody>
                  <a:tcPr marL="126997" marR="126997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  <a:solidFill>
                      <a:srgbClr val="1A1A1A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6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YoY</a:t>
                      </a:r>
                      <a:endParaRPr lang="en-US" dirty="0"/>
                    </a:p>
                  </a:txBody>
                  <a:tcPr marL="126997" marR="126997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1A1A1A"/>
                      </a:solidFill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/>
                      <a:r>
                        <a:rPr lang="en-US" sz="850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Revenue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$27.6M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$29.1M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$30.8M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$32.4M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 b="1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$34.2M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  <a:solidFill>
                      <a:srgbClr val="1A1A1A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</a:rPr>
                        <a:t>+24%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/>
                      <a:r>
                        <a:rPr lang="en-US" sz="850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Gross Profit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$20.7M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$22.0M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$23.6M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$25.1M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 b="1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$26.7M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  <a:solidFill>
                      <a:srgbClr val="1A1A1A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</a:rPr>
                        <a:t>+29%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/>
                      <a:r>
                        <a:rPr lang="en-US" sz="850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Gross Margin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75%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76%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77%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77%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 b="1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78%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  <a:solidFill>
                      <a:srgbClr val="1A1A1A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</a:rPr>
                        <a:t>+3pp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/>
                      <a:r>
                        <a:rPr lang="en-US" sz="850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EBITDA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$3.3M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$4.1M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$5.2M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$5.9M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 b="1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$6.8M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  <a:solidFill>
                      <a:srgbClr val="1A1A1A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</a:rPr>
                        <a:t>+106%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1A1A1A">
                          <a:alpha val="8000"/>
                        </a:srgbClr>
                      </a:solidFill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/>
                      <a:r>
                        <a:rPr lang="en-US" sz="850" dirty="0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EBITDA Margin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12%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14%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17%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78716C"/>
                          </a:solidFill>
                          <a:latin typeface="Inter"/>
                          <a:ea typeface="Inter"/>
                          <a:cs typeface="Inter"/>
                        </a:rPr>
                        <a:t>18%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 b="1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</a:rPr>
                        <a:t>20%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1A1A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dirty="0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</a:rPr>
                        <a:t>+8pp</a:t>
                      </a:r>
                      <a:endParaRPr lang="en-US" dirty="0"/>
                    </a:p>
                  </a:txBody>
                  <a:tcPr marL="126997" marR="126997" marT="114300"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771525"/>
            <a:ext cx="10921727" cy="63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634984" y="1778000"/>
            <a:ext cx="2616135" cy="1060450"/>
          </a:xfrm>
          <a:prstGeom prst="roundRect">
            <a:avLst>
              <a:gd name="adj" fmla="val 7185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5" name="Shape 5"/>
          <p:cNvSpPr/>
          <p:nvPr/>
        </p:nvSpPr>
        <p:spPr>
          <a:xfrm>
            <a:off x="3403515" y="1778000"/>
            <a:ext cx="2616135" cy="1060450"/>
          </a:xfrm>
          <a:prstGeom prst="roundRect">
            <a:avLst>
              <a:gd name="adj" fmla="val 7185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6" name="Shape 6"/>
          <p:cNvSpPr/>
          <p:nvPr/>
        </p:nvSpPr>
        <p:spPr>
          <a:xfrm>
            <a:off x="6172046" y="1778000"/>
            <a:ext cx="2616135" cy="1060450"/>
          </a:xfrm>
          <a:prstGeom prst="roundRect">
            <a:avLst>
              <a:gd name="adj" fmla="val 7185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7" name="Shape 7"/>
          <p:cNvSpPr/>
          <p:nvPr/>
        </p:nvSpPr>
        <p:spPr>
          <a:xfrm>
            <a:off x="8940576" y="1778000"/>
            <a:ext cx="2616135" cy="1060450"/>
          </a:xfrm>
          <a:prstGeom prst="roundRect">
            <a:avLst>
              <a:gd name="adj" fmla="val 7185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/>
            </a:solidFill>
          </a:ln>
        </p:spPr>
      </p:sp>
      <p:sp>
        <p:nvSpPr>
          <p:cNvPr id="8" name="Shape 8"/>
          <p:cNvSpPr/>
          <p:nvPr/>
        </p:nvSpPr>
        <p:spPr>
          <a:xfrm>
            <a:off x="634984" y="3429000"/>
            <a:ext cx="5333867" cy="514350"/>
          </a:xfrm>
          <a:prstGeom prst="roundRect">
            <a:avLst>
              <a:gd name="adj" fmla="val 987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Shape 9"/>
          <p:cNvSpPr/>
          <p:nvPr/>
        </p:nvSpPr>
        <p:spPr>
          <a:xfrm>
            <a:off x="787380" y="3660775"/>
            <a:ext cx="50799" cy="50800"/>
          </a:xfrm>
          <a:prstGeom prst="roundRect">
            <a:avLst>
              <a:gd name="adj" fmla="val 49999"/>
            </a:avLst>
          </a:prstGeom>
          <a:solidFill>
            <a:srgbClr val="16A34A"/>
          </a:solidFill>
          <a:ln/>
        </p:spPr>
      </p:sp>
      <p:sp>
        <p:nvSpPr>
          <p:cNvPr id="10" name="Shape 10"/>
          <p:cNvSpPr/>
          <p:nvPr/>
        </p:nvSpPr>
        <p:spPr>
          <a:xfrm>
            <a:off x="634984" y="4044950"/>
            <a:ext cx="5333867" cy="514350"/>
          </a:xfrm>
          <a:prstGeom prst="roundRect">
            <a:avLst>
              <a:gd name="adj" fmla="val 987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Shape 11"/>
          <p:cNvSpPr/>
          <p:nvPr/>
        </p:nvSpPr>
        <p:spPr>
          <a:xfrm>
            <a:off x="787380" y="4276725"/>
            <a:ext cx="50799" cy="50800"/>
          </a:xfrm>
          <a:prstGeom prst="roundRect">
            <a:avLst>
              <a:gd name="adj" fmla="val 49999"/>
            </a:avLst>
          </a:prstGeom>
          <a:solidFill>
            <a:srgbClr val="16A34A"/>
          </a:solidFill>
          <a:ln/>
        </p:spPr>
      </p:sp>
      <p:sp>
        <p:nvSpPr>
          <p:cNvPr id="12" name="Shape 12"/>
          <p:cNvSpPr/>
          <p:nvPr/>
        </p:nvSpPr>
        <p:spPr>
          <a:xfrm>
            <a:off x="634984" y="4660900"/>
            <a:ext cx="5333867" cy="514350"/>
          </a:xfrm>
          <a:prstGeom prst="roundRect">
            <a:avLst>
              <a:gd name="adj" fmla="val 987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Shape 13"/>
          <p:cNvSpPr/>
          <p:nvPr/>
        </p:nvSpPr>
        <p:spPr>
          <a:xfrm>
            <a:off x="787380" y="4892675"/>
            <a:ext cx="50799" cy="50800"/>
          </a:xfrm>
          <a:prstGeom prst="roundRect">
            <a:avLst>
              <a:gd name="adj" fmla="val 49999"/>
            </a:avLst>
          </a:prstGeom>
          <a:solidFill>
            <a:srgbClr val="16A34A"/>
          </a:solidFill>
          <a:ln/>
        </p:spPr>
      </p:sp>
      <p:sp>
        <p:nvSpPr>
          <p:cNvPr id="14" name="Shape 14"/>
          <p:cNvSpPr/>
          <p:nvPr/>
        </p:nvSpPr>
        <p:spPr>
          <a:xfrm>
            <a:off x="6222844" y="3429000"/>
            <a:ext cx="5333867" cy="514350"/>
          </a:xfrm>
          <a:prstGeom prst="roundRect">
            <a:avLst>
              <a:gd name="adj" fmla="val 987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Shape 15"/>
          <p:cNvSpPr/>
          <p:nvPr/>
        </p:nvSpPr>
        <p:spPr>
          <a:xfrm>
            <a:off x="6375241" y="3660775"/>
            <a:ext cx="50799" cy="50800"/>
          </a:xfrm>
          <a:prstGeom prst="roundRect">
            <a:avLst>
              <a:gd name="adj" fmla="val 49999"/>
            </a:avLst>
          </a:prstGeom>
          <a:solidFill>
            <a:srgbClr val="2563EB"/>
          </a:solidFill>
          <a:ln/>
        </p:spPr>
      </p:sp>
      <p:sp>
        <p:nvSpPr>
          <p:cNvPr id="16" name="Shape 16"/>
          <p:cNvSpPr/>
          <p:nvPr/>
        </p:nvSpPr>
        <p:spPr>
          <a:xfrm>
            <a:off x="6222844" y="4044950"/>
            <a:ext cx="5333867" cy="514350"/>
          </a:xfrm>
          <a:prstGeom prst="roundRect">
            <a:avLst>
              <a:gd name="adj" fmla="val 987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Shape 17"/>
          <p:cNvSpPr/>
          <p:nvPr/>
        </p:nvSpPr>
        <p:spPr>
          <a:xfrm>
            <a:off x="6375241" y="4276725"/>
            <a:ext cx="50799" cy="50800"/>
          </a:xfrm>
          <a:prstGeom prst="roundRect">
            <a:avLst>
              <a:gd name="adj" fmla="val 49999"/>
            </a:avLst>
          </a:prstGeom>
          <a:solidFill>
            <a:srgbClr val="2563EB"/>
          </a:solidFill>
          <a:ln/>
        </p:spPr>
      </p:sp>
      <p:sp>
        <p:nvSpPr>
          <p:cNvPr id="18" name="Shape 18"/>
          <p:cNvSpPr/>
          <p:nvPr/>
        </p:nvSpPr>
        <p:spPr>
          <a:xfrm>
            <a:off x="6222844" y="4660900"/>
            <a:ext cx="5333867" cy="514350"/>
          </a:xfrm>
          <a:prstGeom prst="roundRect">
            <a:avLst>
              <a:gd name="adj" fmla="val 9876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Shape 19"/>
          <p:cNvSpPr/>
          <p:nvPr/>
        </p:nvSpPr>
        <p:spPr>
          <a:xfrm>
            <a:off x="6375241" y="4892675"/>
            <a:ext cx="50799" cy="50800"/>
          </a:xfrm>
          <a:prstGeom prst="roundRect">
            <a:avLst>
              <a:gd name="adj" fmla="val 49999"/>
            </a:avLst>
          </a:prstGeom>
          <a:solidFill>
            <a:srgbClr val="2563EB"/>
          </a:solidFill>
          <a:ln/>
        </p:spPr>
      </p:sp>
      <p:sp>
        <p:nvSpPr>
          <p:cNvPr id="20" name="Text 20"/>
          <p:cNvSpPr/>
          <p:nvPr/>
        </p:nvSpPr>
        <p:spPr>
          <a:xfrm>
            <a:off x="634984" y="508000"/>
            <a:ext cx="166509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ENGINEERING</a:t>
            </a:r>
            <a:endParaRPr lang="en-US" sz="700" dirty="0"/>
          </a:p>
        </p:txBody>
      </p:sp>
      <p:sp>
        <p:nvSpPr>
          <p:cNvPr id="21" name="Text 21"/>
          <p:cNvSpPr/>
          <p:nvPr/>
        </p:nvSpPr>
        <p:spPr>
          <a:xfrm>
            <a:off x="11443108" y="508000"/>
            <a:ext cx="142003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00" dirty="0"/>
          </a:p>
        </p:txBody>
      </p:sp>
      <p:sp>
        <p:nvSpPr>
          <p:cNvPr id="22" name="Text 22"/>
          <p:cNvSpPr/>
          <p:nvPr/>
        </p:nvSpPr>
        <p:spPr>
          <a:xfrm>
            <a:off x="634984" y="1016000"/>
            <a:ext cx="5542593" cy="3911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200" dirty="0" b="1" spc="0">
                <a:solidFill>
                  <a:srgbClr val="F8F6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 Platform V3: shipped &amp; adopted. </a:t>
            </a:r>
            <a:endParaRPr lang="en-US" sz="2200" dirty="0"/>
          </a:p>
        </p:txBody>
      </p:sp>
      <p:sp>
        <p:nvSpPr>
          <p:cNvPr id="23" name="Text 23"/>
          <p:cNvSpPr/>
          <p:nvPr/>
        </p:nvSpPr>
        <p:spPr>
          <a:xfrm>
            <a:off x="844529" y="1987550"/>
            <a:ext cx="906589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b="1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2400" dirty="0"/>
          </a:p>
        </p:txBody>
      </p:sp>
      <p:sp>
        <p:nvSpPr>
          <p:cNvPr id="24" name="Text 24"/>
          <p:cNvSpPr/>
          <p:nvPr/>
        </p:nvSpPr>
        <p:spPr>
          <a:xfrm>
            <a:off x="844529" y="2413000"/>
            <a:ext cx="23068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velocity (story points delivered vs. committed)</a:t>
            </a:r>
            <a:endParaRPr lang="en-US" sz="700" dirty="0"/>
          </a:p>
        </p:txBody>
      </p:sp>
      <p:sp>
        <p:nvSpPr>
          <p:cNvPr id="25" name="Text 25"/>
          <p:cNvSpPr/>
          <p:nvPr/>
        </p:nvSpPr>
        <p:spPr>
          <a:xfrm>
            <a:off x="3613060" y="1987550"/>
            <a:ext cx="1481919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b="1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99.97%</a:t>
            </a:r>
            <a:endParaRPr lang="en-US" sz="2400" dirty="0"/>
          </a:p>
        </p:txBody>
      </p:sp>
      <p:sp>
        <p:nvSpPr>
          <p:cNvPr id="26" name="Text 26"/>
          <p:cNvSpPr/>
          <p:nvPr/>
        </p:nvSpPr>
        <p:spPr>
          <a:xfrm>
            <a:off x="3613060" y="2413000"/>
            <a:ext cx="2014834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 SLA maintained across all tiers</a:t>
            </a:r>
            <a:endParaRPr lang="en-US" sz="700" dirty="0"/>
          </a:p>
        </p:txBody>
      </p:sp>
      <p:sp>
        <p:nvSpPr>
          <p:cNvPr id="27" name="Text 27"/>
          <p:cNvSpPr/>
          <p:nvPr/>
        </p:nvSpPr>
        <p:spPr>
          <a:xfrm>
            <a:off x="6381590" y="1987550"/>
            <a:ext cx="881164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b="1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2400" dirty="0"/>
          </a:p>
        </p:txBody>
      </p:sp>
      <p:sp>
        <p:nvSpPr>
          <p:cNvPr id="28" name="Text 28"/>
          <p:cNvSpPr/>
          <p:nvPr/>
        </p:nvSpPr>
        <p:spPr>
          <a:xfrm>
            <a:off x="6381590" y="2413000"/>
            <a:ext cx="2512652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frequency increase after CI/CD overhaul</a:t>
            </a:r>
            <a:endParaRPr lang="en-US" sz="700" dirty="0"/>
          </a:p>
        </p:txBody>
      </p:sp>
      <p:sp>
        <p:nvSpPr>
          <p:cNvPr id="29" name="Text 29"/>
          <p:cNvSpPr/>
          <p:nvPr/>
        </p:nvSpPr>
        <p:spPr>
          <a:xfrm>
            <a:off x="9150121" y="1987550"/>
            <a:ext cx="1097580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 b="1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-40%</a:t>
            </a:r>
            <a:endParaRPr lang="en-US" sz="2400" dirty="0"/>
          </a:p>
        </p:txBody>
      </p:sp>
      <p:sp>
        <p:nvSpPr>
          <p:cNvPr id="30" name="Text 30"/>
          <p:cNvSpPr/>
          <p:nvPr/>
        </p:nvSpPr>
        <p:spPr>
          <a:xfrm>
            <a:off x="9150121" y="2413000"/>
            <a:ext cx="2350433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 #1 churn driver (reporting gaps)</a:t>
            </a:r>
            <a:endParaRPr lang="en-US" sz="700" dirty="0"/>
          </a:p>
        </p:txBody>
      </p:sp>
      <p:sp>
        <p:nvSpPr>
          <p:cNvPr id="31" name="Text 31"/>
          <p:cNvSpPr/>
          <p:nvPr/>
        </p:nvSpPr>
        <p:spPr>
          <a:xfrm>
            <a:off x="634984" y="3175000"/>
            <a:ext cx="1440124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 THIS QUARTER</a:t>
            </a:r>
            <a:endParaRPr lang="en-US" sz="650" dirty="0"/>
          </a:p>
        </p:txBody>
      </p:sp>
      <p:sp>
        <p:nvSpPr>
          <p:cNvPr id="32" name="Text 32"/>
          <p:cNvSpPr/>
          <p:nvPr/>
        </p:nvSpPr>
        <p:spPr>
          <a:xfrm>
            <a:off x="939777" y="3556000"/>
            <a:ext cx="1730952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 engine</a:t>
            </a:r>
            <a:endParaRPr lang="en-US" sz="850" dirty="0"/>
          </a:p>
        </p:txBody>
      </p:sp>
      <p:sp>
        <p:nvSpPr>
          <p:cNvPr id="33" name="Text 33"/>
          <p:cNvSpPr/>
          <p:nvPr/>
        </p:nvSpPr>
        <p:spPr>
          <a:xfrm>
            <a:off x="939777" y="3708400"/>
            <a:ext cx="239061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Sub-second dashboards replacing batch jobs</a:t>
            </a:r>
            <a:endParaRPr lang="en-US" sz="700" dirty="0"/>
          </a:p>
        </p:txBody>
      </p:sp>
      <p:sp>
        <p:nvSpPr>
          <p:cNvPr id="34" name="Text 34"/>
          <p:cNvSpPr/>
          <p:nvPr/>
        </p:nvSpPr>
        <p:spPr>
          <a:xfrm>
            <a:off x="939777" y="4171950"/>
            <a:ext cx="1626403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+ SCIM provisioning</a:t>
            </a:r>
            <a:endParaRPr lang="en-US" sz="850" dirty="0"/>
          </a:p>
        </p:txBody>
      </p:sp>
      <p:sp>
        <p:nvSpPr>
          <p:cNvPr id="35" name="Text 35"/>
          <p:cNvSpPr/>
          <p:nvPr/>
        </p:nvSpPr>
        <p:spPr>
          <a:xfrm>
            <a:off x="939777" y="4324350"/>
            <a:ext cx="231657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Okta, Azure AD, OneLogin — auto user sync</a:t>
            </a:r>
            <a:endParaRPr lang="en-US" sz="700" dirty="0"/>
          </a:p>
        </p:txBody>
      </p:sp>
      <p:sp>
        <p:nvSpPr>
          <p:cNvPr id="36" name="Text 36"/>
          <p:cNvSpPr/>
          <p:nvPr/>
        </p:nvSpPr>
        <p:spPr>
          <a:xfrm>
            <a:off x="939777" y="4787900"/>
            <a:ext cx="1727603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dashboard builder</a:t>
            </a:r>
            <a:endParaRPr lang="en-US" sz="850" dirty="0"/>
          </a:p>
        </p:txBody>
      </p:sp>
      <p:sp>
        <p:nvSpPr>
          <p:cNvPr id="37" name="Text 37"/>
          <p:cNvSpPr/>
          <p:nvPr/>
        </p:nvSpPr>
        <p:spPr>
          <a:xfrm>
            <a:off x="939777" y="4940300"/>
            <a:ext cx="2148652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Drag-and-drop widgets, shareable views</a:t>
            </a:r>
            <a:endParaRPr lang="en-US" sz="700" dirty="0"/>
          </a:p>
        </p:txBody>
      </p:sp>
      <p:sp>
        <p:nvSpPr>
          <p:cNvPr id="38" name="Text 38"/>
          <p:cNvSpPr/>
          <p:nvPr/>
        </p:nvSpPr>
        <p:spPr>
          <a:xfrm>
            <a:off x="6222844" y="3175000"/>
            <a:ext cx="807372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ROADMAP</a:t>
            </a:r>
            <a:endParaRPr lang="en-US" sz="650" dirty="0"/>
          </a:p>
        </p:txBody>
      </p:sp>
      <p:sp>
        <p:nvSpPr>
          <p:cNvPr id="39" name="Text 39"/>
          <p:cNvSpPr/>
          <p:nvPr/>
        </p:nvSpPr>
        <p:spPr>
          <a:xfrm>
            <a:off x="6527637" y="3556000"/>
            <a:ext cx="2009750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anomaly detection</a:t>
            </a:r>
            <a:endParaRPr lang="en-US" sz="850" dirty="0"/>
          </a:p>
        </p:txBody>
      </p:sp>
      <p:sp>
        <p:nvSpPr>
          <p:cNvPr id="40" name="Text 40"/>
          <p:cNvSpPr/>
          <p:nvPr/>
        </p:nvSpPr>
        <p:spPr>
          <a:xfrm>
            <a:off x="6527637" y="3708400"/>
            <a:ext cx="205129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alerting on metric deviations</a:t>
            </a:r>
            <a:endParaRPr lang="en-US" sz="700" dirty="0"/>
          </a:p>
        </p:txBody>
      </p:sp>
      <p:sp>
        <p:nvSpPr>
          <p:cNvPr id="41" name="Text 41"/>
          <p:cNvSpPr/>
          <p:nvPr/>
        </p:nvSpPr>
        <p:spPr>
          <a:xfrm>
            <a:off x="6527637" y="4171950"/>
            <a:ext cx="1352938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 tier ($49/mo)</a:t>
            </a:r>
            <a:endParaRPr lang="en-US" sz="850" dirty="0"/>
          </a:p>
        </p:txBody>
      </p:sp>
      <p:sp>
        <p:nvSpPr>
          <p:cNvPr id="42" name="Text 42"/>
          <p:cNvSpPr/>
          <p:nvPr/>
        </p:nvSpPr>
        <p:spPr>
          <a:xfrm>
            <a:off x="6527637" y="4324350"/>
            <a:ext cx="23267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SMB retention play — self-serve onboarding</a:t>
            </a:r>
            <a:endParaRPr lang="en-US" sz="700" dirty="0"/>
          </a:p>
        </p:txBody>
      </p:sp>
      <p:sp>
        <p:nvSpPr>
          <p:cNvPr id="43" name="Text 43"/>
          <p:cNvSpPr/>
          <p:nvPr/>
        </p:nvSpPr>
        <p:spPr>
          <a:xfrm>
            <a:off x="6527637" y="4787900"/>
            <a:ext cx="1874319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automation engine</a:t>
            </a:r>
            <a:endParaRPr lang="en-US" sz="850" dirty="0"/>
          </a:p>
        </p:txBody>
      </p:sp>
      <p:sp>
        <p:nvSpPr>
          <p:cNvPr id="44" name="Text 44"/>
          <p:cNvSpPr/>
          <p:nvPr/>
        </p:nvSpPr>
        <p:spPr>
          <a:xfrm>
            <a:off x="6527637" y="4940300"/>
            <a:ext cx="2071884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If-this-then-that rules for data pipelines</a:t>
            </a:r>
            <a:endParaRPr lang="en-US" sz="700" dirty="0"/>
          </a:p>
        </p:txBody>
      </p:sp>
      <p:sp>
        <p:nvSpPr>
          <p:cNvPr id="45" name="Text 45"/>
          <p:cNvSpPr/>
          <p:nvPr/>
        </p:nvSpPr>
        <p:spPr>
          <a:xfrm>
            <a:off x="634984" y="6242050"/>
            <a:ext cx="3030065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i="1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Full product changelog available at meridian.io/changelog 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771525"/>
            <a:ext cx="10921727" cy="6350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634984" y="1841500"/>
            <a:ext cx="2635184" cy="1206500"/>
          </a:xfrm>
          <a:prstGeom prst="roundRect">
            <a:avLst>
              <a:gd name="adj" fmla="val 6316"/>
            </a:avLst>
          </a:prstGeom>
          <a:noFill/>
          <a:ln w="6350">
            <a:solidFill>
              <a:srgbClr val="1A1A1A"/>
            </a:solidFill>
          </a:ln>
        </p:spPr>
      </p:sp>
      <p:sp>
        <p:nvSpPr>
          <p:cNvPr id="5" name="Shape 5"/>
          <p:cNvSpPr/>
          <p:nvPr/>
        </p:nvSpPr>
        <p:spPr>
          <a:xfrm>
            <a:off x="844529" y="2647950"/>
            <a:ext cx="2216095" cy="38100"/>
          </a:xfrm>
          <a:prstGeom prst="roundRect">
            <a:avLst>
              <a:gd name="adj" fmla="val 50000"/>
            </a:avLst>
          </a:prstGeom>
          <a:solidFill>
            <a:srgbClr val="1A1A1A">
              <a:alpha val="6000"/>
            </a:srgbClr>
          </a:solidFill>
          <a:ln/>
        </p:spPr>
      </p:sp>
      <p:sp>
        <p:nvSpPr>
          <p:cNvPr id="6" name="Shape 6"/>
          <p:cNvSpPr/>
          <p:nvPr/>
        </p:nvSpPr>
        <p:spPr>
          <a:xfrm>
            <a:off x="844529" y="2647950"/>
            <a:ext cx="930748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Shape 7"/>
          <p:cNvSpPr/>
          <p:nvPr/>
        </p:nvSpPr>
        <p:spPr>
          <a:xfrm>
            <a:off x="3397165" y="1841500"/>
            <a:ext cx="2635184" cy="1206500"/>
          </a:xfrm>
          <a:prstGeom prst="roundRect">
            <a:avLst>
              <a:gd name="adj" fmla="val 6316"/>
            </a:avLst>
          </a:prstGeom>
          <a:noFill/>
          <a:ln w="6350">
            <a:solidFill>
              <a:srgbClr val="1A1A1A"/>
            </a:solidFill>
          </a:ln>
        </p:spPr>
      </p:sp>
      <p:sp>
        <p:nvSpPr>
          <p:cNvPr id="8" name="Shape 8"/>
          <p:cNvSpPr/>
          <p:nvPr/>
        </p:nvSpPr>
        <p:spPr>
          <a:xfrm>
            <a:off x="3606710" y="2647950"/>
            <a:ext cx="2216095" cy="38100"/>
          </a:xfrm>
          <a:prstGeom prst="roundRect">
            <a:avLst>
              <a:gd name="adj" fmla="val 50000"/>
            </a:avLst>
          </a:prstGeom>
          <a:solidFill>
            <a:srgbClr val="1A1A1A">
              <a:alpha val="6000"/>
            </a:srgbClr>
          </a:solidFill>
          <a:ln/>
        </p:spPr>
      </p:sp>
      <p:sp>
        <p:nvSpPr>
          <p:cNvPr id="9" name="Shape 9"/>
          <p:cNvSpPr/>
          <p:nvPr/>
        </p:nvSpPr>
        <p:spPr>
          <a:xfrm>
            <a:off x="3606710" y="2647950"/>
            <a:ext cx="598274" cy="381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0" name="Shape 10"/>
          <p:cNvSpPr/>
          <p:nvPr/>
        </p:nvSpPr>
        <p:spPr>
          <a:xfrm>
            <a:off x="6159346" y="1841500"/>
            <a:ext cx="2635184" cy="1206500"/>
          </a:xfrm>
          <a:prstGeom prst="roundRect">
            <a:avLst>
              <a:gd name="adj" fmla="val 6316"/>
            </a:avLst>
          </a:prstGeom>
          <a:noFill/>
          <a:ln w="6350">
            <a:solidFill>
              <a:srgbClr val="1A1A1A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368891" y="2647950"/>
            <a:ext cx="2216095" cy="38100"/>
          </a:xfrm>
          <a:prstGeom prst="roundRect">
            <a:avLst>
              <a:gd name="adj" fmla="val 50000"/>
            </a:avLst>
          </a:prstGeom>
          <a:solidFill>
            <a:srgbClr val="1A1A1A">
              <a:alpha val="6000"/>
            </a:srgbClr>
          </a:solidFill>
          <a:ln/>
        </p:spPr>
      </p:sp>
      <p:sp>
        <p:nvSpPr>
          <p:cNvPr id="12" name="Shape 12"/>
          <p:cNvSpPr/>
          <p:nvPr/>
        </p:nvSpPr>
        <p:spPr>
          <a:xfrm>
            <a:off x="6368891" y="2647950"/>
            <a:ext cx="332375" cy="38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Shape 13"/>
          <p:cNvSpPr/>
          <p:nvPr/>
        </p:nvSpPr>
        <p:spPr>
          <a:xfrm>
            <a:off x="8921527" y="1841500"/>
            <a:ext cx="2635184" cy="1206500"/>
          </a:xfrm>
          <a:prstGeom prst="roundRect">
            <a:avLst>
              <a:gd name="adj" fmla="val 6316"/>
            </a:avLst>
          </a:prstGeom>
          <a:noFill/>
          <a:ln w="6350">
            <a:solidFill>
              <a:srgbClr val="1A1A1A"/>
            </a:solidFill>
          </a:ln>
        </p:spPr>
      </p:sp>
      <p:sp>
        <p:nvSpPr>
          <p:cNvPr id="14" name="Shape 14"/>
          <p:cNvSpPr/>
          <p:nvPr/>
        </p:nvSpPr>
        <p:spPr>
          <a:xfrm>
            <a:off x="9131072" y="2647950"/>
            <a:ext cx="2216095" cy="38100"/>
          </a:xfrm>
          <a:prstGeom prst="roundRect">
            <a:avLst>
              <a:gd name="adj" fmla="val 50000"/>
            </a:avLst>
          </a:prstGeom>
          <a:solidFill>
            <a:srgbClr val="1A1A1A">
              <a:alpha val="6000"/>
            </a:srgbClr>
          </a:solidFill>
          <a:ln/>
        </p:spPr>
      </p:sp>
      <p:sp>
        <p:nvSpPr>
          <p:cNvPr id="15" name="Shape 15"/>
          <p:cNvSpPr/>
          <p:nvPr/>
        </p:nvSpPr>
        <p:spPr>
          <a:xfrm>
            <a:off x="9131072" y="2647950"/>
            <a:ext cx="332375" cy="38100"/>
          </a:xfrm>
          <a:prstGeom prst="roundRect">
            <a:avLst>
              <a:gd name="adj" fmla="val 50000"/>
            </a:avLst>
          </a:prstGeom>
          <a:solidFill>
            <a:srgbClr val="78716C"/>
          </a:solidFill>
          <a:ln/>
        </p:spPr>
      </p:sp>
      <p:sp>
        <p:nvSpPr>
          <p:cNvPr id="16" name="Shape 16"/>
          <p:cNvSpPr/>
          <p:nvPr/>
        </p:nvSpPr>
        <p:spPr>
          <a:xfrm>
            <a:off x="634984" y="3549650"/>
            <a:ext cx="2539937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7"/>
          <p:cNvSpPr/>
          <p:nvPr/>
        </p:nvSpPr>
        <p:spPr>
          <a:xfrm>
            <a:off x="3428914" y="3549650"/>
            <a:ext cx="2539937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8"/>
          <p:cNvSpPr/>
          <p:nvPr/>
        </p:nvSpPr>
        <p:spPr>
          <a:xfrm>
            <a:off x="6222844" y="3549650"/>
            <a:ext cx="2539937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9"/>
          <p:cNvSpPr/>
          <p:nvPr/>
        </p:nvSpPr>
        <p:spPr>
          <a:xfrm>
            <a:off x="9016775" y="3549650"/>
            <a:ext cx="2539937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20"/>
          <p:cNvSpPr/>
          <p:nvPr/>
        </p:nvSpPr>
        <p:spPr>
          <a:xfrm>
            <a:off x="634984" y="5756275"/>
            <a:ext cx="10921727" cy="466725"/>
          </a:xfrm>
          <a:custGeom>
            <a:avLst/>
            <a:gdLst/>
            <a:ahLst/>
            <a:cxnLst/>
            <a:rect l="0" t="0" r="0" b="0"/>
            <a:pathLst>
              <a:path w="10921727" h="466725">
                <a:moveTo>
                  <a:pt x="0" y="0"/>
                </a:moveTo>
                <a:lnTo>
                  <a:pt x="10870928" y="0"/>
                </a:lnTo>
                <a:arcTo wR="50799" hR="50799" stAng="16200000" swAng="5400000"/>
                <a:lnTo>
                  <a:pt x="10921727" y="415926"/>
                </a:lnTo>
                <a:arcTo wR="50799" hR="50799" stAng="0" swAng="5400000"/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solidFill>
            <a:srgbClr val="B45309">
              <a:alpha val="6000"/>
            </a:srgbClr>
          </a:solidFill>
          <a:ln/>
        </p:spPr>
      </p:sp>
      <p:sp>
        <p:nvSpPr>
          <p:cNvPr id="21" name="Shape 21"/>
          <p:cNvSpPr/>
          <p:nvPr/>
        </p:nvSpPr>
        <p:spPr>
          <a:xfrm>
            <a:off x="625459" y="5756275"/>
            <a:ext cx="19050" cy="466725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2"/>
          <p:cNvSpPr/>
          <p:nvPr/>
        </p:nvSpPr>
        <p:spPr>
          <a:xfrm>
            <a:off x="634984" y="508000"/>
            <a:ext cx="1244668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&amp; CULTURE</a:t>
            </a:r>
            <a:endParaRPr lang="en-US" sz="700" dirty="0"/>
          </a:p>
        </p:txBody>
      </p:sp>
      <p:sp>
        <p:nvSpPr>
          <p:cNvPr id="23" name="Text 23"/>
          <p:cNvSpPr/>
          <p:nvPr/>
        </p:nvSpPr>
        <p:spPr>
          <a:xfrm>
            <a:off x="11447871" y="508000"/>
            <a:ext cx="13605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00" dirty="0"/>
          </a:p>
        </p:txBody>
      </p:sp>
      <p:sp>
        <p:nvSpPr>
          <p:cNvPr id="24" name="Text 24"/>
          <p:cNvSpPr/>
          <p:nvPr/>
        </p:nvSpPr>
        <p:spPr>
          <a:xfrm>
            <a:off x="634984" y="1016000"/>
            <a:ext cx="5383971" cy="3911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200" dirty="0" b="1" spc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 Growing the team thoughtfully. </a:t>
            </a:r>
            <a:endParaRPr lang="en-US" sz="2200" dirty="0"/>
          </a:p>
        </p:txBody>
      </p:sp>
      <p:sp>
        <p:nvSpPr>
          <p:cNvPr id="25" name="Text 25"/>
          <p:cNvSpPr/>
          <p:nvPr/>
        </p:nvSpPr>
        <p:spPr>
          <a:xfrm>
            <a:off x="844529" y="2051050"/>
            <a:ext cx="828704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26" name="Text 26"/>
          <p:cNvSpPr/>
          <p:nvPr/>
        </p:nvSpPr>
        <p:spPr>
          <a:xfrm>
            <a:off x="844529" y="2235200"/>
            <a:ext cx="578431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</a:t>
            </a:r>
            <a:endParaRPr lang="en-US" sz="2000" dirty="0"/>
          </a:p>
        </p:txBody>
      </p:sp>
      <p:sp>
        <p:nvSpPr>
          <p:cNvPr id="27" name="Text 27"/>
          <p:cNvSpPr/>
          <p:nvPr/>
        </p:nvSpPr>
        <p:spPr>
          <a:xfrm>
            <a:off x="844529" y="2736850"/>
            <a:ext cx="839866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42% of company</a:t>
            </a:r>
            <a:endParaRPr lang="en-US" sz="650" dirty="0"/>
          </a:p>
        </p:txBody>
      </p:sp>
      <p:sp>
        <p:nvSpPr>
          <p:cNvPr id="28" name="Text 28"/>
          <p:cNvSpPr/>
          <p:nvPr/>
        </p:nvSpPr>
        <p:spPr>
          <a:xfrm>
            <a:off x="3606710" y="2051050"/>
            <a:ext cx="704808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&amp; CS</a:t>
            </a:r>
            <a:endParaRPr lang="en-US" sz="700" dirty="0"/>
          </a:p>
        </p:txBody>
      </p:sp>
      <p:sp>
        <p:nvSpPr>
          <p:cNvPr id="29" name="Text 29"/>
          <p:cNvSpPr/>
          <p:nvPr/>
        </p:nvSpPr>
        <p:spPr>
          <a:xfrm>
            <a:off x="3606710" y="2235200"/>
            <a:ext cx="421049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2000" dirty="0"/>
          </a:p>
        </p:txBody>
      </p:sp>
      <p:sp>
        <p:nvSpPr>
          <p:cNvPr id="30" name="Text 30"/>
          <p:cNvSpPr/>
          <p:nvPr/>
        </p:nvSpPr>
        <p:spPr>
          <a:xfrm>
            <a:off x="3606710" y="2736850"/>
            <a:ext cx="831556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 of company</a:t>
            </a:r>
            <a:endParaRPr lang="en-US" sz="650" dirty="0"/>
          </a:p>
        </p:txBody>
      </p:sp>
      <p:sp>
        <p:nvSpPr>
          <p:cNvPr id="31" name="Text 31"/>
          <p:cNvSpPr/>
          <p:nvPr/>
        </p:nvSpPr>
        <p:spPr>
          <a:xfrm>
            <a:off x="6368891" y="2051050"/>
            <a:ext cx="1201261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DESIGN</a:t>
            </a:r>
            <a:endParaRPr lang="en-US" sz="700" dirty="0"/>
          </a:p>
        </p:txBody>
      </p:sp>
      <p:sp>
        <p:nvSpPr>
          <p:cNvPr id="32" name="Text 32"/>
          <p:cNvSpPr/>
          <p:nvPr/>
        </p:nvSpPr>
        <p:spPr>
          <a:xfrm>
            <a:off x="6368891" y="2235200"/>
            <a:ext cx="419437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2000" dirty="0"/>
          </a:p>
        </p:txBody>
      </p:sp>
      <p:sp>
        <p:nvSpPr>
          <p:cNvPr id="33" name="Text 33"/>
          <p:cNvSpPr/>
          <p:nvPr/>
        </p:nvSpPr>
        <p:spPr>
          <a:xfrm>
            <a:off x="6368891" y="2736850"/>
            <a:ext cx="813449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of company</a:t>
            </a:r>
            <a:endParaRPr lang="en-US" sz="650" dirty="0"/>
          </a:p>
        </p:txBody>
      </p:sp>
      <p:sp>
        <p:nvSpPr>
          <p:cNvPr id="34" name="Text 34"/>
          <p:cNvSpPr/>
          <p:nvPr/>
        </p:nvSpPr>
        <p:spPr>
          <a:xfrm>
            <a:off x="9131072" y="2051050"/>
            <a:ext cx="257838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G&amp;A</a:t>
            </a:r>
            <a:endParaRPr lang="en-US" sz="700" dirty="0"/>
          </a:p>
        </p:txBody>
      </p:sp>
      <p:sp>
        <p:nvSpPr>
          <p:cNvPr id="35" name="Text 35"/>
          <p:cNvSpPr/>
          <p:nvPr/>
        </p:nvSpPr>
        <p:spPr>
          <a:xfrm>
            <a:off x="9131072" y="2235200"/>
            <a:ext cx="419437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0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2000" dirty="0"/>
          </a:p>
        </p:txBody>
      </p:sp>
      <p:sp>
        <p:nvSpPr>
          <p:cNvPr id="36" name="Text 36"/>
          <p:cNvSpPr/>
          <p:nvPr/>
        </p:nvSpPr>
        <p:spPr>
          <a:xfrm>
            <a:off x="9131072" y="2736850"/>
            <a:ext cx="813449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of company</a:t>
            </a:r>
            <a:endParaRPr lang="en-US" sz="650" dirty="0"/>
          </a:p>
        </p:txBody>
      </p:sp>
      <p:sp>
        <p:nvSpPr>
          <p:cNvPr id="37" name="Text 37"/>
          <p:cNvSpPr/>
          <p:nvPr/>
        </p:nvSpPr>
        <p:spPr>
          <a:xfrm>
            <a:off x="634984" y="3816350"/>
            <a:ext cx="1177201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Voluntary attrition</a:t>
            </a:r>
            <a:endParaRPr lang="en-US" sz="850" dirty="0"/>
          </a:p>
        </p:txBody>
      </p:sp>
      <p:sp>
        <p:nvSpPr>
          <p:cNvPr id="38" name="Text 38"/>
          <p:cNvSpPr/>
          <p:nvPr/>
        </p:nvSpPr>
        <p:spPr>
          <a:xfrm>
            <a:off x="2920927" y="3771900"/>
            <a:ext cx="317492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 b="1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8%</a:t>
            </a:r>
            <a:endParaRPr lang="en-US" sz="1200" dirty="0"/>
          </a:p>
        </p:txBody>
      </p:sp>
      <p:sp>
        <p:nvSpPr>
          <p:cNvPr id="39" name="Text 39"/>
          <p:cNvSpPr/>
          <p:nvPr/>
        </p:nvSpPr>
        <p:spPr>
          <a:xfrm>
            <a:off x="634984" y="4006850"/>
            <a:ext cx="1989410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Annualized. Down from 12% in Q1 '25.</a:t>
            </a:r>
            <a:endParaRPr lang="en-US" sz="700" dirty="0"/>
          </a:p>
        </p:txBody>
      </p:sp>
      <p:sp>
        <p:nvSpPr>
          <p:cNvPr id="40" name="Text 40"/>
          <p:cNvSpPr/>
          <p:nvPr/>
        </p:nvSpPr>
        <p:spPr>
          <a:xfrm>
            <a:off x="3428914" y="3816350"/>
            <a:ext cx="756400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eNPS score</a:t>
            </a:r>
            <a:endParaRPr lang="en-US" sz="850" dirty="0"/>
          </a:p>
        </p:txBody>
      </p:sp>
      <p:sp>
        <p:nvSpPr>
          <p:cNvPr id="41" name="Text 41"/>
          <p:cNvSpPr/>
          <p:nvPr/>
        </p:nvSpPr>
        <p:spPr>
          <a:xfrm>
            <a:off x="5670408" y="3771900"/>
            <a:ext cx="373053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+62</a:t>
            </a:r>
            <a:endParaRPr lang="en-US" sz="1200" dirty="0"/>
          </a:p>
        </p:txBody>
      </p:sp>
      <p:sp>
        <p:nvSpPr>
          <p:cNvPr id="42" name="Text 42"/>
          <p:cNvSpPr/>
          <p:nvPr/>
        </p:nvSpPr>
        <p:spPr>
          <a:xfrm>
            <a:off x="3428914" y="4006850"/>
            <a:ext cx="232401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quartile for SaaS companies of our size.</a:t>
            </a:r>
            <a:endParaRPr lang="en-US" sz="700" dirty="0"/>
          </a:p>
        </p:txBody>
      </p:sp>
      <p:sp>
        <p:nvSpPr>
          <p:cNvPr id="43" name="Text 43"/>
          <p:cNvSpPr/>
          <p:nvPr/>
        </p:nvSpPr>
        <p:spPr>
          <a:xfrm>
            <a:off x="6222844" y="3816350"/>
            <a:ext cx="1422761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acceptance rate</a:t>
            </a:r>
            <a:endParaRPr lang="en-US" sz="850" dirty="0"/>
          </a:p>
        </p:txBody>
      </p:sp>
      <p:sp>
        <p:nvSpPr>
          <p:cNvPr id="44" name="Text 44"/>
          <p:cNvSpPr/>
          <p:nvPr/>
        </p:nvSpPr>
        <p:spPr>
          <a:xfrm>
            <a:off x="8409571" y="3771900"/>
            <a:ext cx="441512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1200" dirty="0"/>
          </a:p>
        </p:txBody>
      </p:sp>
      <p:sp>
        <p:nvSpPr>
          <p:cNvPr id="45" name="Text 45"/>
          <p:cNvSpPr/>
          <p:nvPr/>
        </p:nvSpPr>
        <p:spPr>
          <a:xfrm>
            <a:off x="6222844" y="4006850"/>
            <a:ext cx="200069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6pp after comp refresh in January.</a:t>
            </a:r>
            <a:endParaRPr lang="en-US" sz="700" dirty="0"/>
          </a:p>
        </p:txBody>
      </p:sp>
      <p:sp>
        <p:nvSpPr>
          <p:cNvPr id="46" name="Text 46"/>
          <p:cNvSpPr/>
          <p:nvPr/>
        </p:nvSpPr>
        <p:spPr>
          <a:xfrm>
            <a:off x="9016775" y="3816350"/>
            <a:ext cx="1005309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85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Diversity (URG)</a:t>
            </a:r>
            <a:endParaRPr lang="en-US" sz="850" dirty="0"/>
          </a:p>
        </p:txBody>
      </p:sp>
      <p:sp>
        <p:nvSpPr>
          <p:cNvPr id="47" name="Text 47"/>
          <p:cNvSpPr/>
          <p:nvPr/>
        </p:nvSpPr>
        <p:spPr>
          <a:xfrm>
            <a:off x="11204593" y="3771900"/>
            <a:ext cx="440148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36%</a:t>
            </a:r>
            <a:endParaRPr lang="en-US" sz="1200" dirty="0"/>
          </a:p>
        </p:txBody>
      </p:sp>
      <p:sp>
        <p:nvSpPr>
          <p:cNvPr id="48" name="Text 48"/>
          <p:cNvSpPr/>
          <p:nvPr/>
        </p:nvSpPr>
        <p:spPr>
          <a:xfrm>
            <a:off x="9016775" y="4006850"/>
            <a:ext cx="2435263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Leadership: 44%. Target: 40% overall by EOY.</a:t>
            </a:r>
            <a:endParaRPr lang="en-US" sz="700" dirty="0"/>
          </a:p>
        </p:txBody>
      </p:sp>
      <p:sp>
        <p:nvSpPr>
          <p:cNvPr id="49" name="Text 49"/>
          <p:cNvSpPr/>
          <p:nvPr/>
        </p:nvSpPr>
        <p:spPr>
          <a:xfrm>
            <a:off x="857229" y="5921375"/>
            <a:ext cx="11002712" cy="1511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update:</a:t>
            </a:r>
            <a:r>
              <a:rPr lang="en-US" sz="8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22 open roles, 6 of 12 engineering positions filled. Increased referral bonus to $15K and expanded recruiting partnerships to address senior backend pipeline. 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/>
        </p:spPr>
      </p:sp>
      <p:sp>
        <p:nvSpPr>
          <p:cNvPr id="3" name="Shape 3"/>
          <p:cNvSpPr/>
          <p:nvPr/>
        </p:nvSpPr>
        <p:spPr>
          <a:xfrm>
            <a:off x="634984" y="771525"/>
            <a:ext cx="10921727" cy="6350"/>
          </a:xfrm>
          <a:prstGeom prst="rect">
            <a:avLst/>
          </a:prstGeom>
          <a:solidFill>
            <a:srgbClr val="1A1A1A">
              <a:alpha val="10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634984" y="2413000"/>
            <a:ext cx="3538945" cy="1544241"/>
          </a:xfrm>
          <a:prstGeom prst="roundRect">
            <a:avLst>
              <a:gd name="adj" fmla="val 4934"/>
            </a:avLst>
          </a:prstGeom>
          <a:noFill/>
          <a:ln w="6350">
            <a:solidFill>
              <a:srgbClr val="1A1A1A"/>
            </a:solidFill>
          </a:ln>
        </p:spPr>
      </p:sp>
      <p:sp>
        <p:nvSpPr>
          <p:cNvPr id="5" name="Shape 5"/>
          <p:cNvSpPr/>
          <p:nvPr/>
        </p:nvSpPr>
        <p:spPr>
          <a:xfrm>
            <a:off x="844529" y="2673350"/>
            <a:ext cx="304792" cy="304800"/>
          </a:xfrm>
          <a:prstGeom prst="roundRect">
            <a:avLst>
              <a:gd name="adj" fmla="val 20833"/>
            </a:avLst>
          </a:prstGeom>
          <a:gradFill>
            <a:gsLst>
              <a:gs pos="0">
                <a:srgbClr val="B45309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6" name="Shape 6"/>
          <p:cNvSpPr/>
          <p:nvPr/>
        </p:nvSpPr>
        <p:spPr>
          <a:xfrm>
            <a:off x="4326325" y="2413000"/>
            <a:ext cx="3538945" cy="1544241"/>
          </a:xfrm>
          <a:prstGeom prst="roundRect">
            <a:avLst>
              <a:gd name="adj" fmla="val 4934"/>
            </a:avLst>
          </a:prstGeom>
          <a:noFill/>
          <a:ln w="6350">
            <a:solidFill>
              <a:srgbClr val="1A1A1A"/>
            </a:solidFill>
          </a:ln>
        </p:spPr>
      </p:sp>
      <p:sp>
        <p:nvSpPr>
          <p:cNvPr id="7" name="Shape 7"/>
          <p:cNvSpPr/>
          <p:nvPr/>
        </p:nvSpPr>
        <p:spPr>
          <a:xfrm>
            <a:off x="4535870" y="2673350"/>
            <a:ext cx="304792" cy="304800"/>
          </a:xfrm>
          <a:prstGeom prst="roundRect">
            <a:avLst>
              <a:gd name="adj" fmla="val 20833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8" name="Shape 8"/>
          <p:cNvSpPr/>
          <p:nvPr/>
        </p:nvSpPr>
        <p:spPr>
          <a:xfrm>
            <a:off x="8017667" y="2413000"/>
            <a:ext cx="3538945" cy="1544241"/>
          </a:xfrm>
          <a:prstGeom prst="roundRect">
            <a:avLst>
              <a:gd name="adj" fmla="val 4934"/>
            </a:avLst>
          </a:prstGeom>
          <a:noFill/>
          <a:ln w="6350">
            <a:solidFill>
              <a:srgbClr val="1A1A1A"/>
            </a:solidFill>
          </a:ln>
        </p:spPr>
      </p:sp>
      <p:sp>
        <p:nvSpPr>
          <p:cNvPr id="9" name="Shape 9"/>
          <p:cNvSpPr/>
          <p:nvPr/>
        </p:nvSpPr>
        <p:spPr>
          <a:xfrm>
            <a:off x="8227212" y="2673350"/>
            <a:ext cx="304792" cy="304800"/>
          </a:xfrm>
          <a:prstGeom prst="roundRect">
            <a:avLst>
              <a:gd name="adj" fmla="val 20833"/>
            </a:avLst>
          </a:prstGeom>
          <a:gradFill>
            <a:gsLst>
              <a:gs pos="0">
                <a:srgbClr val="16A34A"/>
              </a:gs>
              <a:gs pos="100000">
                <a:srgbClr val="10B981"/>
              </a:gs>
            </a:gsLst>
            <a:lin ang="2700000" scaled="1"/>
          </a:gradFill>
          <a:ln/>
        </p:spPr>
      </p:sp>
      <p:sp>
        <p:nvSpPr>
          <p:cNvPr id="10" name="Shape 10"/>
          <p:cNvSpPr/>
          <p:nvPr/>
        </p:nvSpPr>
        <p:spPr>
          <a:xfrm>
            <a:off x="634984" y="5568950"/>
            <a:ext cx="10921727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11"/>
          <p:cNvSpPr/>
          <p:nvPr/>
        </p:nvSpPr>
        <p:spPr>
          <a:xfrm>
            <a:off x="634984" y="508000"/>
            <a:ext cx="107153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LOOKING AHEAD</a:t>
            </a:r>
            <a:endParaRPr lang="en-US" sz="700" dirty="0"/>
          </a:p>
        </p:txBody>
      </p:sp>
      <p:sp>
        <p:nvSpPr>
          <p:cNvPr id="12" name="Text 12"/>
          <p:cNvSpPr/>
          <p:nvPr/>
        </p:nvSpPr>
        <p:spPr>
          <a:xfrm>
            <a:off x="11445490" y="508000"/>
            <a:ext cx="139027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00" dirty="0"/>
          </a:p>
        </p:txBody>
      </p:sp>
      <p:sp>
        <p:nvSpPr>
          <p:cNvPr id="13" name="Text 13"/>
          <p:cNvSpPr/>
          <p:nvPr/>
        </p:nvSpPr>
        <p:spPr>
          <a:xfrm>
            <a:off x="634984" y="1009650"/>
            <a:ext cx="6000600" cy="8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600" dirty="0" b="1" spc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 On track for </a:t>
            </a:r>
            <a:r>
              <a:rPr lang="en-US" sz="2600" dirty="0" b="1" i="1" spc="0">
                <a:solidFill>
                  <a:srgbClr val="B45309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$145M ARR</a:t>
            </a:r>
            <a:endParaRPr lang="en-US" sz="26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600" dirty="0" b="1" spc="0">
                <a:solidFill>
                  <a:srgbClr val="1A1A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by year-end. </a:t>
            </a:r>
            <a:endParaRPr lang="en-US" sz="2600" dirty="0"/>
          </a:p>
        </p:txBody>
      </p:sp>
      <p:sp>
        <p:nvSpPr>
          <p:cNvPr id="14" name="Text 14"/>
          <p:cNvSpPr/>
          <p:nvPr/>
        </p:nvSpPr>
        <p:spPr>
          <a:xfrm>
            <a:off x="844529" y="3130550"/>
            <a:ext cx="1810573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expansion</a:t>
            </a:r>
            <a:endParaRPr lang="en-US" sz="1100" dirty="0"/>
          </a:p>
        </p:txBody>
      </p:sp>
      <p:sp>
        <p:nvSpPr>
          <p:cNvPr id="15" name="Text 15"/>
          <p:cNvSpPr/>
          <p:nvPr/>
        </p:nvSpPr>
        <p:spPr>
          <a:xfrm>
            <a:off x="844529" y="3384550"/>
            <a:ext cx="3275848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Close 10+ deals over $500K. Launch dedicated enterprise CS team with named accounts. </a:t>
            </a:r>
            <a:endParaRPr lang="en-US" sz="800" dirty="0"/>
          </a:p>
        </p:txBody>
      </p:sp>
      <p:sp>
        <p:nvSpPr>
          <p:cNvPr id="16" name="Text 16"/>
          <p:cNvSpPr/>
          <p:nvPr/>
        </p:nvSpPr>
        <p:spPr>
          <a:xfrm>
            <a:off x="4535870" y="3130550"/>
            <a:ext cx="1582127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 acceleration</a:t>
            </a:r>
            <a:endParaRPr lang="en-US" sz="1100" dirty="0"/>
          </a:p>
        </p:txBody>
      </p:sp>
      <p:sp>
        <p:nvSpPr>
          <p:cNvPr id="17" name="Text 17"/>
          <p:cNvSpPr/>
          <p:nvPr/>
        </p:nvSpPr>
        <p:spPr>
          <a:xfrm>
            <a:off x="4535870" y="3384550"/>
            <a:ext cx="3275848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Grow Tokyo team to 12. Open Sydney office in Q3. Target $8M APAC ARR by EOY. </a:t>
            </a:r>
            <a:endParaRPr lang="en-US" sz="800" dirty="0"/>
          </a:p>
        </p:txBody>
      </p:sp>
      <p:sp>
        <p:nvSpPr>
          <p:cNvPr id="18" name="Text 18"/>
          <p:cNvSpPr/>
          <p:nvPr/>
        </p:nvSpPr>
        <p:spPr>
          <a:xfrm>
            <a:off x="8227212" y="3130550"/>
            <a:ext cx="1199649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moat</a:t>
            </a:r>
            <a:endParaRPr lang="en-US" sz="1100" dirty="0"/>
          </a:p>
        </p:txBody>
      </p:sp>
      <p:sp>
        <p:nvSpPr>
          <p:cNvPr id="19" name="Text 19"/>
          <p:cNvSpPr/>
          <p:nvPr/>
        </p:nvSpPr>
        <p:spPr>
          <a:xfrm>
            <a:off x="8227212" y="3384550"/>
            <a:ext cx="3275848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Ship AI features, workflow engine, and marketplace. Increase switching costs for enterprise. </a:t>
            </a:r>
            <a:endParaRPr lang="en-US" sz="800" dirty="0"/>
          </a:p>
        </p:txBody>
      </p:sp>
      <p:sp>
        <p:nvSpPr>
          <p:cNvPr id="20" name="Text 20"/>
          <p:cNvSpPr/>
          <p:nvPr/>
        </p:nvSpPr>
        <p:spPr>
          <a:xfrm>
            <a:off x="634984" y="5791200"/>
            <a:ext cx="1366952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FY26 REVENUE TARGET</a:t>
            </a:r>
            <a:endParaRPr lang="en-US" sz="650" dirty="0"/>
          </a:p>
        </p:txBody>
      </p:sp>
      <p:sp>
        <p:nvSpPr>
          <p:cNvPr id="21" name="Text 21"/>
          <p:cNvSpPr/>
          <p:nvPr/>
        </p:nvSpPr>
        <p:spPr>
          <a:xfrm>
            <a:off x="634984" y="5943600"/>
            <a:ext cx="962274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8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$145M</a:t>
            </a:r>
            <a:endParaRPr lang="en-US" sz="1800" dirty="0"/>
          </a:p>
        </p:txBody>
      </p:sp>
      <p:sp>
        <p:nvSpPr>
          <p:cNvPr id="22" name="Text 22"/>
          <p:cNvSpPr/>
          <p:nvPr/>
        </p:nvSpPr>
        <p:spPr>
          <a:xfrm>
            <a:off x="2109536" y="5791200"/>
            <a:ext cx="915394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 TARGET</a:t>
            </a:r>
            <a:endParaRPr lang="en-US" sz="650" dirty="0"/>
          </a:p>
        </p:txBody>
      </p:sp>
      <p:sp>
        <p:nvSpPr>
          <p:cNvPr id="23" name="Text 23"/>
          <p:cNvSpPr/>
          <p:nvPr/>
        </p:nvSpPr>
        <p:spPr>
          <a:xfrm>
            <a:off x="2109536" y="5943600"/>
            <a:ext cx="829572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8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$29M</a:t>
            </a:r>
            <a:endParaRPr lang="en-US" sz="1800" dirty="0"/>
          </a:p>
        </p:txBody>
      </p:sp>
      <p:sp>
        <p:nvSpPr>
          <p:cNvPr id="24" name="Text 24"/>
          <p:cNvSpPr/>
          <p:nvPr/>
        </p:nvSpPr>
        <p:spPr>
          <a:xfrm>
            <a:off x="3222842" y="5791200"/>
            <a:ext cx="1011386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 EOY</a:t>
            </a:r>
            <a:endParaRPr lang="en-US" sz="650" dirty="0"/>
          </a:p>
        </p:txBody>
      </p:sp>
      <p:sp>
        <p:nvSpPr>
          <p:cNvPr id="25" name="Text 25"/>
          <p:cNvSpPr/>
          <p:nvPr/>
        </p:nvSpPr>
        <p:spPr>
          <a:xfrm>
            <a:off x="3222842" y="5943600"/>
            <a:ext cx="567517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8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320</a:t>
            </a:r>
            <a:endParaRPr lang="en-US" sz="1800" dirty="0"/>
          </a:p>
        </p:txBody>
      </p:sp>
      <p:sp>
        <p:nvSpPr>
          <p:cNvPr id="26" name="Text 26"/>
          <p:cNvSpPr/>
          <p:nvPr/>
        </p:nvSpPr>
        <p:spPr>
          <a:xfrm>
            <a:off x="4412941" y="5791200"/>
            <a:ext cx="1188239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b="1" spc="1">
                <a:solidFill>
                  <a:srgbClr val="787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MAGIC NUMBER</a:t>
            </a:r>
            <a:endParaRPr lang="en-US" sz="650" dirty="0"/>
          </a:p>
        </p:txBody>
      </p:sp>
      <p:sp>
        <p:nvSpPr>
          <p:cNvPr id="27" name="Text 27"/>
          <p:cNvSpPr/>
          <p:nvPr/>
        </p:nvSpPr>
        <p:spPr>
          <a:xfrm>
            <a:off x="4412941" y="5943600"/>
            <a:ext cx="619606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800" dirty="0" b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1.4×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slide-gen</Application>
  <PresentationFormat>On-screen Show (16:9)</PresentationFormat>
  <Paragraphs>0</Paragraphs>
  <Slides>6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slide-gen</dc:creator>
  <cp:lastModifiedBy>slide-gen</cp:lastModifiedBy>
  <cp:revision>1</cp:revision>
  <dcterms:created xsi:type="dcterms:W3CDTF">2026-03-27T22:56:26Z</dcterms:created>
  <dcterms:modified xsi:type="dcterms:W3CDTF">2026-03-27T22:56:26Z</dcterms:modified>
</cp:coreProperties>
</file>