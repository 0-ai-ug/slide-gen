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0F0F"/>
              </a:gs>
              <a:gs pos="40000">
                <a:srgbClr val="1A0A2E"/>
              </a:gs>
              <a:gs pos="70000">
                <a:srgbClr val="2D1B69"/>
              </a:gs>
              <a:gs pos="100000">
                <a:srgbClr val="1A0A2E"/>
              </a:gs>
            </a:gsLst>
            <a:lin ang="4200000" scaled="1"/>
          </a:gradFill>
          <a:ln/>
        </p:spPr>
      </p:sp>
      <p:sp>
        <p:nvSpPr>
          <p:cNvPr id="3" name="Shape 3"/>
          <p:cNvSpPr/>
          <p:nvPr/>
        </p:nvSpPr>
        <p:spPr>
          <a:xfrm>
            <a:off x="6476838" y="-1905000"/>
            <a:ext cx="6984825" cy="6985000"/>
          </a:xfrm>
          <a:prstGeom prst="roundRect">
            <a:avLst>
              <a:gd name="adj" fmla="val 50000"/>
            </a:avLst>
          </a:prstGeom>
          <a:gradFill rotWithShape="0">
            <a:gsLst>
              <a:gs pos="35000">
                <a:srgbClr val="A855F7">
                  <a:alpha val="20000"/>
                </a:srgbClr>
              </a:gs>
              <a:gs pos="36750">
                <a:srgbClr val="7E40B9">
                  <a:alpha val="15000"/>
                </a:srgbClr>
              </a:gs>
              <a:gs pos="38500">
                <a:srgbClr val="542B7C">
                  <a:alpha val="10000"/>
                </a:srgbClr>
              </a:gs>
              <a:gs pos="40250">
                <a:srgbClr val="2A153E">
                  <a:alpha val="5000"/>
                </a:srgbClr>
              </a:gs>
              <a:gs pos="42000">
                <a:srgbClr val="000000">
                  <a:alpha val="0"/>
                </a:srgbClr>
              </a:gs>
            </a:gsLst>
            <a:path path="circle">
              <a:fillToRect l="25000" t="25000" r="25000" b="25000"/>
            </a:path>
          </a:gradFill>
          <a:ln/>
        </p:spPr>
      </p:sp>
      <p:sp>
        <p:nvSpPr>
          <p:cNvPr id="4" name="Shape 4"/>
          <p:cNvSpPr/>
          <p:nvPr/>
        </p:nvSpPr>
        <p:spPr>
          <a:xfrm>
            <a:off x="0" y="0"/>
            <a:ext cx="12191695" cy="25400"/>
          </a:xfrm>
          <a:prstGeom prst="rect">
            <a:avLst/>
          </a:prstGeom>
          <a:gradFill>
            <a:gsLst>
              <a:gs pos="0">
                <a:srgbClr val="A855F7"/>
              </a:gs>
              <a:gs pos="50000">
                <a:srgbClr val="EC4899"/>
              </a:gs>
              <a:gs pos="100000">
                <a:srgbClr val="F97316"/>
              </a:gs>
            </a:gsLst>
            <a:lin ang="0" scaled="1"/>
          </a:gradFill>
          <a:ln/>
        </p:spPr>
      </p:sp>
      <p:sp>
        <p:nvSpPr>
          <p:cNvPr id="5" name="Shape 5"/>
          <p:cNvSpPr/>
          <p:nvPr/>
        </p:nvSpPr>
        <p:spPr>
          <a:xfrm>
            <a:off x="634984" y="6286500"/>
            <a:ext cx="63498" cy="63500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/>
        </p:spPr>
      </p:sp>
      <p:sp>
        <p:nvSpPr>
          <p:cNvPr id="6" name="Shape 6"/>
          <p:cNvSpPr/>
          <p:nvPr/>
        </p:nvSpPr>
        <p:spPr>
          <a:xfrm>
            <a:off x="774681" y="6286500"/>
            <a:ext cx="63498" cy="6350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7" name="Shape 7"/>
          <p:cNvSpPr/>
          <p:nvPr/>
        </p:nvSpPr>
        <p:spPr>
          <a:xfrm>
            <a:off x="914377" y="6286500"/>
            <a:ext cx="63498" cy="635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8" name="Text 8"/>
          <p:cNvSpPr/>
          <p:nvPr/>
        </p:nvSpPr>
        <p:spPr>
          <a:xfrm>
            <a:off x="634984" y="508000"/>
            <a:ext cx="591825" cy="1777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000" dirty="0" spc="2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 PRISM </a:t>
            </a:r>
            <a:endParaRPr lang="en-US" sz="1000" dirty="0"/>
          </a:p>
        </p:txBody>
      </p:sp>
      <p:sp>
        <p:nvSpPr>
          <p:cNvPr id="9" name="Text 9"/>
          <p:cNvSpPr/>
          <p:nvPr/>
        </p:nvSpPr>
        <p:spPr>
          <a:xfrm>
            <a:off x="10562564" y="508000"/>
            <a:ext cx="1242684" cy="1777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000" dirty="0" i="1">
                <a:solidFill>
                  <a:srgbClr val="FFFFFF">
                    <a:alpha val="50000"/>
                  </a:srgbClr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 Product Summit 2026 </a:t>
            </a:r>
            <a:endParaRPr lang="en-US" sz="1000" dirty="0"/>
          </a:p>
        </p:txBody>
      </p:sp>
      <p:sp>
        <p:nvSpPr>
          <p:cNvPr id="10" name="Text 10"/>
          <p:cNvSpPr/>
          <p:nvPr/>
        </p:nvSpPr>
        <p:spPr>
          <a:xfrm>
            <a:off x="634984" y="1638300"/>
            <a:ext cx="11467813" cy="196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95000"/>
              </a:lnSpc>
              <a:buNone/>
            </a:pPr>
            <a:r>
              <a:rPr lang="en-US" sz="7000" dirty="0" spc="-3">
                <a:solidFill>
                  <a:srgbClr val="FFFFFF"/>
                </a:solidFill>
                <a:latin typeface="Outfit Black" pitchFamily="34" charset="0"/>
                <a:ea typeface="Outfit Black" pitchFamily="34" charset="-122"/>
                <a:cs typeface="Outfit Black" pitchFamily="34" charset="-120"/>
              </a:rPr>
              <a:t> The future is</a:t>
            </a:r>
            <a:endParaRPr lang="en-US" sz="70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95000"/>
              </a:lnSpc>
              <a:buNone/>
            </a:pPr>
            <a:r>
              <a:rPr lang="en-US" sz="7000" dirty="0" spc="-3">
                <a:gradFill>
                  <a:gsLst>
                    <a:gs pos="0">
                      <a:srgbClr val="A855F7"/>
                    </a:gs>
                    <a:gs pos="50000">
                      <a:srgbClr val="EC4899"/>
                    </a:gs>
                    <a:gs pos="100000">
                      <a:srgbClr val="F97316"/>
                    </a:gs>
                  </a:gsLst>
                  <a:lin ang="0" scaled="1"/>
                </a:gradFill>
                <a:latin typeface="Outfit Black" pitchFamily="34" charset="0"/>
                <a:ea typeface="Outfit Black" pitchFamily="34" charset="-122"/>
                <a:cs typeface="Outfit Black" pitchFamily="34" charset="-120"/>
              </a:rPr>
              <a:t>multi-modal.</a:t>
            </a:r>
            <a:endParaRPr lang="en-US" sz="7000" dirty="0"/>
          </a:p>
        </p:txBody>
      </p:sp>
      <p:sp>
        <p:nvSpPr>
          <p:cNvPr id="11" name="Text 11"/>
          <p:cNvSpPr/>
          <p:nvPr/>
        </p:nvSpPr>
        <p:spPr>
          <a:xfrm>
            <a:off x="634984" y="5136059"/>
            <a:ext cx="4667133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 Introducing Prism 3.0 — the platform that sees, hears, reads, and understands. Built for the next decade of human-computer interaction. 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3"/>
          <p:cNvSpPr/>
          <p:nvPr/>
        </p:nvSpPr>
        <p:spPr>
          <a:xfrm>
            <a:off x="1015975" y="5181600"/>
            <a:ext cx="406390" cy="4064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A855F7"/>
              </a:gs>
              <a:gs pos="100000">
                <a:srgbClr val="EC4899"/>
              </a:gs>
            </a:gsLst>
            <a:lin ang="2700000" scaled="1"/>
          </a:gradFill>
          <a:ln/>
        </p:spPr>
      </p:sp>
      <p:sp>
        <p:nvSpPr>
          <p:cNvPr id="4" name="Shape 4"/>
          <p:cNvSpPr/>
          <p:nvPr/>
        </p:nvSpPr>
        <p:spPr>
          <a:xfrm>
            <a:off x="11410665" y="762000"/>
            <a:ext cx="19050" cy="5334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A855F7"/>
              </a:gs>
              <a:gs pos="50000">
                <a:srgbClr val="EC4899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</p:sp>
      <p:sp>
        <p:nvSpPr>
          <p:cNvPr id="5" name="Text 5"/>
          <p:cNvSpPr/>
          <p:nvPr/>
        </p:nvSpPr>
        <p:spPr>
          <a:xfrm>
            <a:off x="1015975" y="901700"/>
            <a:ext cx="10667733" cy="2468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35000"/>
              </a:lnSpc>
              <a:buNone/>
            </a:pPr>
            <a:r>
              <a:rPr lang="en-US" sz="3600" dirty="0" i="1">
                <a:solidFill>
                  <a:srgbClr val="1A1A1A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 "We don't build tools</a:t>
            </a:r>
            <a:endParaRPr lang="en-US" sz="3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35000"/>
              </a:lnSpc>
              <a:buNone/>
            </a:pPr>
            <a:r>
              <a:rPr lang="en-US" sz="3600" dirty="0" i="1">
                <a:solidFill>
                  <a:srgbClr val="1A1A1A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for machines. We build</a:t>
            </a:r>
            <a:endParaRPr lang="en-US" sz="3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35000"/>
              </a:lnSpc>
              <a:buNone/>
            </a:pPr>
            <a:r>
              <a:rPr lang="en-US" sz="3600" dirty="0" i="1">
                <a:solidFill>
                  <a:srgbClr val="1A1A1A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tools that make machines</a:t>
            </a:r>
            <a:endParaRPr lang="en-US" sz="3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35000"/>
              </a:lnSpc>
              <a:buNone/>
            </a:pPr>
            <a:r>
              <a:rPr lang="en-US" sz="3600" dirty="0" i="1">
                <a:solidFill>
                  <a:srgbClr val="A855F7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understand people.</a:t>
            </a:r>
            <a:r>
              <a:rPr lang="en-US" sz="3600" dirty="0" i="1">
                <a:solidFill>
                  <a:srgbClr val="1A1A1A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" </a:t>
            </a:r>
            <a:endParaRPr lang="en-US" sz="3600" dirty="0"/>
          </a:p>
        </p:txBody>
      </p:sp>
      <p:sp>
        <p:nvSpPr>
          <p:cNvPr id="6" name="Text 6"/>
          <p:cNvSpPr/>
          <p:nvPr/>
        </p:nvSpPr>
        <p:spPr>
          <a:xfrm>
            <a:off x="1574761" y="5229225"/>
            <a:ext cx="1177077" cy="1777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Elara Nakamura</a:t>
            </a:r>
            <a:endParaRPr lang="en-US" sz="1000" dirty="0"/>
          </a:p>
        </p:txBody>
      </p:sp>
      <p:sp>
        <p:nvSpPr>
          <p:cNvPr id="7" name="Text 7"/>
          <p:cNvSpPr/>
          <p:nvPr/>
        </p:nvSpPr>
        <p:spPr>
          <a:xfrm>
            <a:off x="1574761" y="5413375"/>
            <a:ext cx="1234746" cy="142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800" dirty="0">
                <a:solidFill>
                  <a:srgbClr val="78716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CEO &amp; Founder, Prism</a:t>
            </a:r>
            <a:endParaRPr lang="en-US" sz="800" dirty="0"/>
          </a:p>
        </p:txBody>
      </p:sp>
      <p:sp>
        <p:nvSpPr>
          <p:cNvPr id="8" name="Text 8"/>
          <p:cNvSpPr/>
          <p:nvPr/>
        </p:nvSpPr>
        <p:spPr>
          <a:xfrm>
            <a:off x="11323354" y="6235700"/>
            <a:ext cx="132950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>
                <a:solidFill>
                  <a:srgbClr val="D4D4D8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3" name="Shape 3"/>
          <p:cNvSpPr/>
          <p:nvPr/>
        </p:nvSpPr>
        <p:spPr>
          <a:xfrm>
            <a:off x="634984" y="1905000"/>
            <a:ext cx="4698883" cy="4064000"/>
          </a:xfrm>
          <a:prstGeom prst="roundRect">
            <a:avLst>
              <a:gd name="adj" fmla="val 3125"/>
            </a:avLst>
          </a:prstGeom>
          <a:gradFill>
            <a:gsLst>
              <a:gs pos="0">
                <a:srgbClr val="2D1B69"/>
              </a:gs>
              <a:gs pos="100000">
                <a:srgbClr val="1A0A2E"/>
              </a:gs>
            </a:gsLst>
            <a:lin ang="4200000" scaled="1"/>
          </a:gradFill>
          <a:ln w="6350">
            <a:solidFill>
              <a:srgbClr val="A855F7"/>
            </a:solidFill>
          </a:ln>
        </p:spPr>
      </p:sp>
      <p:sp>
        <p:nvSpPr>
          <p:cNvPr id="4" name="Shape 4"/>
          <p:cNvSpPr/>
          <p:nvPr/>
        </p:nvSpPr>
        <p:spPr>
          <a:xfrm>
            <a:off x="5486263" y="1905000"/>
            <a:ext cx="6070448" cy="12700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6350">
            <a:solidFill>
              <a:srgbClr val="FFFFFF"/>
            </a:solidFill>
          </a:ln>
        </p:spPr>
      </p:sp>
      <p:sp>
        <p:nvSpPr>
          <p:cNvPr id="5" name="Shape 5"/>
          <p:cNvSpPr/>
          <p:nvPr/>
        </p:nvSpPr>
        <p:spPr>
          <a:xfrm>
            <a:off x="10534387" y="1657350"/>
            <a:ext cx="1269968" cy="1270000"/>
          </a:xfrm>
          <a:prstGeom prst="roundRect">
            <a:avLst>
              <a:gd name="adj" fmla="val 50000"/>
            </a:avLst>
          </a:prstGeom>
          <a:gradFill rotWithShape="0">
            <a:gsLst>
              <a:gs pos="35000">
                <a:srgbClr val="EC4899">
                  <a:alpha val="12000"/>
                </a:srgbClr>
              </a:gs>
              <a:gs pos="38500">
                <a:srgbClr val="B13673">
                  <a:alpha val="9000"/>
                </a:srgbClr>
              </a:gs>
              <a:gs pos="42000">
                <a:srgbClr val="76244D">
                  <a:alpha val="6000"/>
                </a:srgbClr>
              </a:gs>
              <a:gs pos="45500">
                <a:srgbClr val="3B1226">
                  <a:alpha val="3000"/>
                </a:srgbClr>
              </a:gs>
              <a:gs pos="49000">
                <a:srgbClr val="000000">
                  <a:alpha val="0"/>
                </a:srgbClr>
              </a:gs>
            </a:gsLst>
            <a:path path="circle">
              <a:fillToRect l="25000" t="25000" r="25000" b="25000"/>
            </a:path>
          </a:gradFill>
          <a:ln/>
        </p:spPr>
      </p:sp>
      <p:sp>
        <p:nvSpPr>
          <p:cNvPr id="6" name="Shape 6"/>
          <p:cNvSpPr/>
          <p:nvPr/>
        </p:nvSpPr>
        <p:spPr>
          <a:xfrm>
            <a:off x="5486263" y="3276600"/>
            <a:ext cx="6070448" cy="12700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6350">
            <a:solidFill>
              <a:srgbClr val="FFFFFF"/>
            </a:solidFill>
          </a:ln>
        </p:spPr>
      </p:sp>
      <p:sp>
        <p:nvSpPr>
          <p:cNvPr id="7" name="Shape 7"/>
          <p:cNvSpPr/>
          <p:nvPr/>
        </p:nvSpPr>
        <p:spPr>
          <a:xfrm>
            <a:off x="10534387" y="3028950"/>
            <a:ext cx="1269968" cy="1270000"/>
          </a:xfrm>
          <a:prstGeom prst="roundRect">
            <a:avLst>
              <a:gd name="adj" fmla="val 50000"/>
            </a:avLst>
          </a:prstGeom>
          <a:gradFill rotWithShape="0">
            <a:gsLst>
              <a:gs pos="35000">
                <a:srgbClr val="F97316">
                  <a:alpha val="12000"/>
                </a:srgbClr>
              </a:gs>
              <a:gs pos="38500">
                <a:srgbClr val="BB5611">
                  <a:alpha val="9000"/>
                </a:srgbClr>
              </a:gs>
              <a:gs pos="42000">
                <a:srgbClr val="7D3A0B">
                  <a:alpha val="6000"/>
                </a:srgbClr>
              </a:gs>
              <a:gs pos="45500">
                <a:srgbClr val="3E1D06">
                  <a:alpha val="3000"/>
                </a:srgbClr>
              </a:gs>
              <a:gs pos="49000">
                <a:srgbClr val="000000">
                  <a:alpha val="0"/>
                </a:srgbClr>
              </a:gs>
            </a:gsLst>
            <a:path path="circle">
              <a:fillToRect l="25000" t="25000" r="25000" b="25000"/>
            </a:path>
          </a:gradFill>
          <a:ln/>
        </p:spPr>
      </p:sp>
      <p:sp>
        <p:nvSpPr>
          <p:cNvPr id="8" name="Shape 8"/>
          <p:cNvSpPr/>
          <p:nvPr/>
        </p:nvSpPr>
        <p:spPr>
          <a:xfrm>
            <a:off x="5486263" y="4648200"/>
            <a:ext cx="6070448" cy="12700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6350">
            <a:solidFill>
              <a:srgbClr val="FFFFFF"/>
            </a:solidFill>
          </a:ln>
        </p:spPr>
      </p:sp>
      <p:sp>
        <p:nvSpPr>
          <p:cNvPr id="9" name="Shape 9"/>
          <p:cNvSpPr/>
          <p:nvPr/>
        </p:nvSpPr>
        <p:spPr>
          <a:xfrm>
            <a:off x="10534387" y="4400550"/>
            <a:ext cx="1269968" cy="1270000"/>
          </a:xfrm>
          <a:prstGeom prst="roundRect">
            <a:avLst>
              <a:gd name="adj" fmla="val 50000"/>
            </a:avLst>
          </a:prstGeom>
          <a:gradFill rotWithShape="0">
            <a:gsLst>
              <a:gs pos="35000">
                <a:srgbClr val="22C55E">
                  <a:alpha val="12000"/>
                </a:srgbClr>
              </a:gs>
              <a:gs pos="38500">
                <a:srgbClr val="1A9447">
                  <a:alpha val="9000"/>
                </a:srgbClr>
              </a:gs>
              <a:gs pos="42000">
                <a:srgbClr val="11632F">
                  <a:alpha val="6000"/>
                </a:srgbClr>
              </a:gs>
              <a:gs pos="45500">
                <a:srgbClr val="093118">
                  <a:alpha val="3000"/>
                </a:srgbClr>
              </a:gs>
              <a:gs pos="49000">
                <a:srgbClr val="000000">
                  <a:alpha val="0"/>
                </a:srgbClr>
              </a:gs>
            </a:gsLst>
            <a:path path="circle">
              <a:fillToRect l="25000" t="25000" r="25000" b="25000"/>
            </a:path>
          </a:gradFill>
          <a:ln/>
        </p:spPr>
      </p:sp>
      <p:sp>
        <p:nvSpPr>
          <p:cNvPr id="10" name="Text 10"/>
          <p:cNvSpPr/>
          <p:nvPr/>
        </p:nvSpPr>
        <p:spPr>
          <a:xfrm>
            <a:off x="634984" y="508000"/>
            <a:ext cx="1497918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 spc="1">
                <a:solidFill>
                  <a:srgbClr val="FFFFFF">
                    <a:alpha val="30000"/>
                  </a:srgbClr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PRISM 3.0 CAPABILITIES</a:t>
            </a:r>
            <a:endParaRPr lang="en-US" sz="650" dirty="0"/>
          </a:p>
        </p:txBody>
      </p:sp>
      <p:sp>
        <p:nvSpPr>
          <p:cNvPr id="11" name="Text 11"/>
          <p:cNvSpPr/>
          <p:nvPr/>
        </p:nvSpPr>
        <p:spPr>
          <a:xfrm>
            <a:off x="634984" y="952500"/>
            <a:ext cx="6133178" cy="5689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3200" dirty="0" spc="-1">
                <a:solidFill>
                  <a:srgbClr val="FFFFFF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 Four senses. One platform. </a:t>
            </a:r>
            <a:endParaRPr lang="en-US" sz="3200" dirty="0"/>
          </a:p>
        </p:txBody>
      </p:sp>
      <p:sp>
        <p:nvSpPr>
          <p:cNvPr id="12" name="Text 12"/>
          <p:cNvSpPr/>
          <p:nvPr/>
        </p:nvSpPr>
        <p:spPr>
          <a:xfrm>
            <a:off x="1022324" y="2292350"/>
            <a:ext cx="484175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50" dirty="0" spc="1">
                <a:solidFill>
                  <a:srgbClr val="A855F7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VISION</a:t>
            </a:r>
            <a:endParaRPr lang="en-US" sz="750" dirty="0"/>
          </a:p>
        </p:txBody>
      </p:sp>
      <p:sp>
        <p:nvSpPr>
          <p:cNvPr id="13" name="Text 13"/>
          <p:cNvSpPr/>
          <p:nvPr/>
        </p:nvSpPr>
        <p:spPr>
          <a:xfrm>
            <a:off x="1022324" y="2552700"/>
            <a:ext cx="4120412" cy="74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2400" dirty="0" spc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 See and understand</a:t>
            </a:r>
            <a:endParaRPr lang="en-US" sz="24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2400" dirty="0" spc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any visual input. </a:t>
            </a:r>
            <a:endParaRPr lang="en-US" sz="2400" dirty="0"/>
          </a:p>
        </p:txBody>
      </p:sp>
      <p:sp>
        <p:nvSpPr>
          <p:cNvPr id="14" name="Text 14"/>
          <p:cNvSpPr/>
          <p:nvPr/>
        </p:nvSpPr>
        <p:spPr>
          <a:xfrm>
            <a:off x="1022324" y="3519091"/>
            <a:ext cx="3333667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70000"/>
              </a:lnSpc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 Real-time image, video, and document analysis. From handwritten notes to satellite imagery — Prism sees what humans see, and extracts meaning instantly. </a:t>
            </a:r>
            <a:endParaRPr lang="en-US" sz="900" dirty="0"/>
          </a:p>
        </p:txBody>
      </p:sp>
      <p:sp>
        <p:nvSpPr>
          <p:cNvPr id="15" name="Text 15"/>
          <p:cNvSpPr/>
          <p:nvPr/>
        </p:nvSpPr>
        <p:spPr>
          <a:xfrm>
            <a:off x="1022324" y="4914900"/>
            <a:ext cx="1522474" cy="640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3600" dirty="0">
                <a:solidFill>
                  <a:srgbClr val="A855F7">
                    <a:alpha val="15000"/>
                  </a:srgbClr>
                </a:solidFill>
                <a:latin typeface="Outfit Black" pitchFamily="34" charset="0"/>
                <a:ea typeface="Outfit Black" pitchFamily="34" charset="-122"/>
                <a:cs typeface="Outfit Black" pitchFamily="34" charset="-120"/>
              </a:rPr>
              <a:t>98.7%</a:t>
            </a:r>
            <a:endParaRPr lang="en-US" sz="3600" dirty="0"/>
          </a:p>
        </p:txBody>
      </p:sp>
      <p:sp>
        <p:nvSpPr>
          <p:cNvPr id="16" name="Text 16"/>
          <p:cNvSpPr/>
          <p:nvPr/>
        </p:nvSpPr>
        <p:spPr>
          <a:xfrm>
            <a:off x="1022324" y="5467350"/>
            <a:ext cx="1810449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>
                    <a:alpha val="3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accuracy on ImageNet-X benchmark</a:t>
            </a:r>
            <a:endParaRPr lang="en-US" sz="700" dirty="0"/>
          </a:p>
        </p:txBody>
      </p:sp>
      <p:sp>
        <p:nvSpPr>
          <p:cNvPr id="17" name="Text 17"/>
          <p:cNvSpPr/>
          <p:nvPr/>
        </p:nvSpPr>
        <p:spPr>
          <a:xfrm>
            <a:off x="5772006" y="2165350"/>
            <a:ext cx="424770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 spc="1">
                <a:solidFill>
                  <a:srgbClr val="EC4899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AUDIO</a:t>
            </a:r>
            <a:endParaRPr lang="en-US" sz="700" dirty="0"/>
          </a:p>
        </p:txBody>
      </p:sp>
      <p:sp>
        <p:nvSpPr>
          <p:cNvPr id="18" name="Text 18"/>
          <p:cNvSpPr/>
          <p:nvPr/>
        </p:nvSpPr>
        <p:spPr>
          <a:xfrm>
            <a:off x="5772006" y="2355850"/>
            <a:ext cx="5773911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 Transcribe, translate, and</a:t>
            </a:r>
            <a:endParaRPr lang="en-US" sz="14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analyze any audio stream. </a:t>
            </a:r>
            <a:endParaRPr lang="en-US" sz="1400" dirty="0"/>
          </a:p>
        </p:txBody>
      </p:sp>
      <p:sp>
        <p:nvSpPr>
          <p:cNvPr id="19" name="Text 19"/>
          <p:cNvSpPr/>
          <p:nvPr/>
        </p:nvSpPr>
        <p:spPr>
          <a:xfrm>
            <a:off x="5772006" y="3536950"/>
            <a:ext cx="714109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 spc="1">
                <a:solidFill>
                  <a:srgbClr val="F97316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LANGUAGE</a:t>
            </a:r>
            <a:endParaRPr lang="en-US" sz="700" dirty="0"/>
          </a:p>
        </p:txBody>
      </p:sp>
      <p:sp>
        <p:nvSpPr>
          <p:cNvPr id="20" name="Text 20"/>
          <p:cNvSpPr/>
          <p:nvPr/>
        </p:nvSpPr>
        <p:spPr>
          <a:xfrm>
            <a:off x="5772006" y="3727450"/>
            <a:ext cx="5773911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 Read, write, reason —</a:t>
            </a:r>
            <a:endParaRPr lang="en-US" sz="14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 97 languages natively. </a:t>
            </a:r>
            <a:endParaRPr lang="en-US" sz="1400" dirty="0"/>
          </a:p>
        </p:txBody>
      </p:sp>
      <p:sp>
        <p:nvSpPr>
          <p:cNvPr id="21" name="Text 21"/>
          <p:cNvSpPr/>
          <p:nvPr/>
        </p:nvSpPr>
        <p:spPr>
          <a:xfrm>
            <a:off x="5772006" y="4908550"/>
            <a:ext cx="1230778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 spc="1">
                <a:solidFill>
                  <a:srgbClr val="22C55E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STRUCTURED DATA</a:t>
            </a:r>
            <a:endParaRPr lang="en-US" sz="700" dirty="0"/>
          </a:p>
        </p:txBody>
      </p:sp>
      <p:sp>
        <p:nvSpPr>
          <p:cNvPr id="22" name="Text 22"/>
          <p:cNvSpPr/>
          <p:nvPr/>
        </p:nvSpPr>
        <p:spPr>
          <a:xfrm>
            <a:off x="5772006" y="5099050"/>
            <a:ext cx="5773911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 Query databases, APIs, and</a:t>
            </a:r>
            <a:endParaRPr lang="en-US" sz="14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spreadsheets with natural language. 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3"/>
          <p:cNvSpPr/>
          <p:nvPr/>
        </p:nvSpPr>
        <p:spPr>
          <a:xfrm>
            <a:off x="0" y="0"/>
            <a:ext cx="12191695" cy="25400"/>
          </a:xfrm>
          <a:prstGeom prst="rect">
            <a:avLst/>
          </a:prstGeom>
          <a:gradFill>
            <a:gsLst>
              <a:gs pos="0">
                <a:srgbClr val="A855F7"/>
              </a:gs>
              <a:gs pos="50000">
                <a:srgbClr val="EC4899"/>
              </a:gs>
              <a:gs pos="100000">
                <a:srgbClr val="F97316"/>
              </a:gs>
            </a:gsLst>
            <a:lin ang="0" scaled="1"/>
          </a:gradFill>
          <a:ln/>
        </p:spPr>
      </p:sp>
      <p:sp>
        <p:nvSpPr>
          <p:cNvPr id="4" name="Shape 4"/>
          <p:cNvSpPr/>
          <p:nvPr/>
        </p:nvSpPr>
        <p:spPr>
          <a:xfrm>
            <a:off x="6092673" y="1143000"/>
            <a:ext cx="6350" cy="1746250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5" name="Shape 5"/>
          <p:cNvSpPr/>
          <p:nvPr/>
        </p:nvSpPr>
        <p:spPr>
          <a:xfrm>
            <a:off x="634984" y="2886075"/>
            <a:ext cx="5460863" cy="6350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6" name="Shape 6"/>
          <p:cNvSpPr/>
          <p:nvPr/>
        </p:nvSpPr>
        <p:spPr>
          <a:xfrm>
            <a:off x="6095848" y="2886075"/>
            <a:ext cx="5460863" cy="6350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7" name="Shape 7"/>
          <p:cNvSpPr/>
          <p:nvPr/>
        </p:nvSpPr>
        <p:spPr>
          <a:xfrm>
            <a:off x="6092673" y="2889250"/>
            <a:ext cx="6350" cy="1746250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8" name="Shape 8"/>
          <p:cNvSpPr/>
          <p:nvPr/>
        </p:nvSpPr>
        <p:spPr>
          <a:xfrm>
            <a:off x="634984" y="4632325"/>
            <a:ext cx="5460863" cy="6350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9" name="Shape 9"/>
          <p:cNvSpPr/>
          <p:nvPr/>
        </p:nvSpPr>
        <p:spPr>
          <a:xfrm>
            <a:off x="6095848" y="4632325"/>
            <a:ext cx="5460863" cy="6350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10" name="Text 10"/>
          <p:cNvSpPr/>
          <p:nvPr/>
        </p:nvSpPr>
        <p:spPr>
          <a:xfrm>
            <a:off x="634984" y="508000"/>
            <a:ext cx="1069303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 spc="1">
                <a:solidFill>
                  <a:srgbClr val="A1A1AA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BY THE NUMBERS</a:t>
            </a:r>
            <a:endParaRPr lang="en-US" sz="650" dirty="0"/>
          </a:p>
        </p:txBody>
      </p:sp>
      <p:sp>
        <p:nvSpPr>
          <p:cNvPr id="11" name="Text 11"/>
          <p:cNvSpPr/>
          <p:nvPr/>
        </p:nvSpPr>
        <p:spPr>
          <a:xfrm>
            <a:off x="939777" y="1524000"/>
            <a:ext cx="1527807" cy="8534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4800" dirty="0" spc="-2">
                <a:solidFill>
                  <a:srgbClr val="0F0F0F"/>
                </a:solidFill>
                <a:latin typeface="Outfit Black" pitchFamily="34" charset="0"/>
                <a:ea typeface="Outfit Black" pitchFamily="34" charset="-122"/>
                <a:cs typeface="Outfit Black" pitchFamily="34" charset="-120"/>
              </a:rPr>
              <a:t>2.4B</a:t>
            </a:r>
            <a:endParaRPr lang="en-US" sz="4800" dirty="0"/>
          </a:p>
        </p:txBody>
      </p:sp>
      <p:sp>
        <p:nvSpPr>
          <p:cNvPr id="12" name="Text 12"/>
          <p:cNvSpPr/>
          <p:nvPr/>
        </p:nvSpPr>
        <p:spPr>
          <a:xfrm>
            <a:off x="939777" y="2343150"/>
            <a:ext cx="3116259" cy="1777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000" dirty="0">
                <a:solidFill>
                  <a:srgbClr val="71717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API calls processed daily across all endpoints</a:t>
            </a:r>
            <a:endParaRPr lang="en-US" sz="1000" dirty="0"/>
          </a:p>
        </p:txBody>
      </p:sp>
      <p:sp>
        <p:nvSpPr>
          <p:cNvPr id="13" name="Text 13"/>
          <p:cNvSpPr/>
          <p:nvPr/>
        </p:nvSpPr>
        <p:spPr>
          <a:xfrm>
            <a:off x="6400640" y="1524000"/>
            <a:ext cx="1674895" cy="8534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4800" dirty="0" spc="-2">
                <a:solidFill>
                  <a:srgbClr val="A855F7"/>
                </a:solidFill>
                <a:latin typeface="Outfit Black" pitchFamily="34" charset="0"/>
                <a:ea typeface="Outfit Black" pitchFamily="34" charset="-122"/>
                <a:cs typeface="Outfit Black" pitchFamily="34" charset="-120"/>
              </a:rPr>
              <a:t>12ms</a:t>
            </a:r>
            <a:endParaRPr lang="en-US" sz="4800" dirty="0"/>
          </a:p>
        </p:txBody>
      </p:sp>
      <p:sp>
        <p:nvSpPr>
          <p:cNvPr id="14" name="Text 14"/>
          <p:cNvSpPr/>
          <p:nvPr/>
        </p:nvSpPr>
        <p:spPr>
          <a:xfrm>
            <a:off x="6400640" y="2343150"/>
            <a:ext cx="3346813" cy="1777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000" dirty="0">
                <a:solidFill>
                  <a:srgbClr val="71717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Median response time (P50) — 3× faster than v2</a:t>
            </a:r>
            <a:endParaRPr lang="en-US" sz="1000" dirty="0"/>
          </a:p>
        </p:txBody>
      </p:sp>
      <p:sp>
        <p:nvSpPr>
          <p:cNvPr id="15" name="Text 15"/>
          <p:cNvSpPr/>
          <p:nvPr/>
        </p:nvSpPr>
        <p:spPr>
          <a:xfrm>
            <a:off x="939777" y="3270250"/>
            <a:ext cx="782568" cy="8534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4800" dirty="0" spc="-2">
                <a:solidFill>
                  <a:srgbClr val="EC4899"/>
                </a:solidFill>
                <a:latin typeface="Outfit Black" pitchFamily="34" charset="0"/>
                <a:ea typeface="Outfit Black" pitchFamily="34" charset="-122"/>
                <a:cs typeface="Outfit Black" pitchFamily="34" charset="-120"/>
              </a:rPr>
              <a:t>97</a:t>
            </a:r>
            <a:endParaRPr lang="en-US" sz="4800" dirty="0"/>
          </a:p>
        </p:txBody>
      </p:sp>
      <p:sp>
        <p:nvSpPr>
          <p:cNvPr id="16" name="Text 16"/>
          <p:cNvSpPr/>
          <p:nvPr/>
        </p:nvSpPr>
        <p:spPr>
          <a:xfrm>
            <a:off x="939777" y="4089400"/>
            <a:ext cx="3380298" cy="1777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000" dirty="0">
                <a:solidFill>
                  <a:srgbClr val="71717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Languages supported with native-quality output</a:t>
            </a:r>
            <a:endParaRPr lang="en-US" sz="1000" dirty="0"/>
          </a:p>
        </p:txBody>
      </p:sp>
      <p:sp>
        <p:nvSpPr>
          <p:cNvPr id="17" name="Text 17"/>
          <p:cNvSpPr/>
          <p:nvPr/>
        </p:nvSpPr>
        <p:spPr>
          <a:xfrm>
            <a:off x="6400640" y="3270250"/>
            <a:ext cx="2414056" cy="8534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4800" dirty="0" spc="-2">
                <a:solidFill>
                  <a:srgbClr val="F97316"/>
                </a:solidFill>
                <a:latin typeface="Outfit Black" pitchFamily="34" charset="0"/>
                <a:ea typeface="Outfit Black" pitchFamily="34" charset="-122"/>
                <a:cs typeface="Outfit Black" pitchFamily="34" charset="-120"/>
              </a:rPr>
              <a:t>4,200+</a:t>
            </a:r>
            <a:endParaRPr lang="en-US" sz="4800" dirty="0"/>
          </a:p>
        </p:txBody>
      </p:sp>
      <p:sp>
        <p:nvSpPr>
          <p:cNvPr id="18" name="Text 18"/>
          <p:cNvSpPr/>
          <p:nvPr/>
        </p:nvSpPr>
        <p:spPr>
          <a:xfrm>
            <a:off x="6400640" y="4089400"/>
            <a:ext cx="3447765" cy="1777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000" dirty="0">
                <a:solidFill>
                  <a:srgbClr val="71717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Enterprise customers trusting Prism in production</a:t>
            </a:r>
            <a:endParaRPr lang="en-US" sz="1000" dirty="0"/>
          </a:p>
        </p:txBody>
      </p:sp>
      <p:sp>
        <p:nvSpPr>
          <p:cNvPr id="19" name="Text 19"/>
          <p:cNvSpPr/>
          <p:nvPr/>
        </p:nvSpPr>
        <p:spPr>
          <a:xfrm>
            <a:off x="634984" y="6115050"/>
            <a:ext cx="2056877" cy="2489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400" dirty="0" i="1">
                <a:solidFill>
                  <a:srgbClr val="A1A1AA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 Scale that speaks for itself. </a:t>
            </a:r>
            <a:endParaRPr lang="en-US" sz="1400" dirty="0"/>
          </a:p>
        </p:txBody>
      </p:sp>
      <p:sp>
        <p:nvSpPr>
          <p:cNvPr id="20" name="Text 20"/>
          <p:cNvSpPr/>
          <p:nvPr/>
        </p:nvSpPr>
        <p:spPr>
          <a:xfrm>
            <a:off x="11445192" y="6235700"/>
            <a:ext cx="139399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>
                <a:solidFill>
                  <a:srgbClr val="D4D4D8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3" name="Shape 3"/>
          <p:cNvSpPr/>
          <p:nvPr/>
        </p:nvSpPr>
        <p:spPr>
          <a:xfrm>
            <a:off x="1523962" y="0"/>
            <a:ext cx="635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" name="Shape 4"/>
          <p:cNvSpPr/>
          <p:nvPr/>
        </p:nvSpPr>
        <p:spPr>
          <a:xfrm>
            <a:off x="3047924" y="0"/>
            <a:ext cx="635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Shape 5"/>
          <p:cNvSpPr/>
          <p:nvPr/>
        </p:nvSpPr>
        <p:spPr>
          <a:xfrm>
            <a:off x="4571886" y="0"/>
            <a:ext cx="635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Shape 6"/>
          <p:cNvSpPr/>
          <p:nvPr/>
        </p:nvSpPr>
        <p:spPr>
          <a:xfrm>
            <a:off x="6095848" y="0"/>
            <a:ext cx="635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Shape 7"/>
          <p:cNvSpPr/>
          <p:nvPr/>
        </p:nvSpPr>
        <p:spPr>
          <a:xfrm>
            <a:off x="7619810" y="0"/>
            <a:ext cx="635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Shape 8"/>
          <p:cNvSpPr/>
          <p:nvPr/>
        </p:nvSpPr>
        <p:spPr>
          <a:xfrm>
            <a:off x="9143771" y="0"/>
            <a:ext cx="635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9" name="Shape 9"/>
          <p:cNvSpPr/>
          <p:nvPr/>
        </p:nvSpPr>
        <p:spPr>
          <a:xfrm>
            <a:off x="10667733" y="0"/>
            <a:ext cx="635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0" name="Shape 10"/>
          <p:cNvSpPr/>
          <p:nvPr/>
        </p:nvSpPr>
        <p:spPr>
          <a:xfrm>
            <a:off x="0" y="1143000"/>
            <a:ext cx="12191695" cy="63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Shape 11"/>
          <p:cNvSpPr/>
          <p:nvPr/>
        </p:nvSpPr>
        <p:spPr>
          <a:xfrm>
            <a:off x="0" y="2286000"/>
            <a:ext cx="12191695" cy="63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Shape 12"/>
          <p:cNvSpPr/>
          <p:nvPr/>
        </p:nvSpPr>
        <p:spPr>
          <a:xfrm>
            <a:off x="0" y="3429000"/>
            <a:ext cx="12191695" cy="63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Shape 13"/>
          <p:cNvSpPr/>
          <p:nvPr/>
        </p:nvSpPr>
        <p:spPr>
          <a:xfrm>
            <a:off x="0" y="4572000"/>
            <a:ext cx="12191695" cy="63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Shape 14"/>
          <p:cNvSpPr/>
          <p:nvPr/>
        </p:nvSpPr>
        <p:spPr>
          <a:xfrm>
            <a:off x="0" y="5715000"/>
            <a:ext cx="12191695" cy="63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Shape 15"/>
          <p:cNvSpPr/>
          <p:nvPr/>
        </p:nvSpPr>
        <p:spPr>
          <a:xfrm>
            <a:off x="634984" y="1778000"/>
            <a:ext cx="2123327" cy="508000"/>
          </a:xfrm>
          <a:prstGeom prst="roundRect">
            <a:avLst>
              <a:gd name="adj" fmla="val 12500"/>
            </a:avLst>
          </a:prstGeom>
          <a:solidFill>
            <a:srgbClr val="A855F7">
              <a:alpha val="10000"/>
            </a:srgbClr>
          </a:solidFill>
          <a:ln w="6350">
            <a:solidFill>
              <a:srgbClr val="A855F7"/>
            </a:solidFill>
          </a:ln>
        </p:spPr>
      </p:sp>
      <p:sp>
        <p:nvSpPr>
          <p:cNvPr id="16" name="Shape 16"/>
          <p:cNvSpPr/>
          <p:nvPr/>
        </p:nvSpPr>
        <p:spPr>
          <a:xfrm>
            <a:off x="2834510" y="1778000"/>
            <a:ext cx="2123427" cy="508000"/>
          </a:xfrm>
          <a:prstGeom prst="roundRect">
            <a:avLst>
              <a:gd name="adj" fmla="val 12500"/>
            </a:avLst>
          </a:prstGeom>
          <a:solidFill>
            <a:srgbClr val="EC4899">
              <a:alpha val="10000"/>
            </a:srgbClr>
          </a:solidFill>
          <a:ln w="6350">
            <a:solidFill>
              <a:srgbClr val="EC4899"/>
            </a:solidFill>
          </a:ln>
        </p:spPr>
      </p:sp>
      <p:sp>
        <p:nvSpPr>
          <p:cNvPr id="17" name="Shape 17"/>
          <p:cNvSpPr/>
          <p:nvPr/>
        </p:nvSpPr>
        <p:spPr>
          <a:xfrm>
            <a:off x="5034134" y="1778000"/>
            <a:ext cx="2123327" cy="508000"/>
          </a:xfrm>
          <a:prstGeom prst="roundRect">
            <a:avLst>
              <a:gd name="adj" fmla="val 12500"/>
            </a:avLst>
          </a:prstGeom>
          <a:solidFill>
            <a:srgbClr val="F97316">
              <a:alpha val="10000"/>
            </a:srgbClr>
          </a:solidFill>
          <a:ln w="6350">
            <a:solidFill>
              <a:srgbClr val="F97316"/>
            </a:solidFill>
          </a:ln>
        </p:spPr>
      </p:sp>
      <p:sp>
        <p:nvSpPr>
          <p:cNvPr id="18" name="Shape 18"/>
          <p:cNvSpPr/>
          <p:nvPr/>
        </p:nvSpPr>
        <p:spPr>
          <a:xfrm>
            <a:off x="7233660" y="1778000"/>
            <a:ext cx="2123427" cy="508000"/>
          </a:xfrm>
          <a:prstGeom prst="roundRect">
            <a:avLst>
              <a:gd name="adj" fmla="val 12500"/>
            </a:avLst>
          </a:prstGeom>
          <a:solidFill>
            <a:srgbClr val="22C55E">
              <a:alpha val="10000"/>
            </a:srgbClr>
          </a:solidFill>
          <a:ln w="6350">
            <a:solidFill>
              <a:srgbClr val="22C55E"/>
            </a:solidFill>
          </a:ln>
        </p:spPr>
      </p:sp>
      <p:sp>
        <p:nvSpPr>
          <p:cNvPr id="19" name="Shape 19"/>
          <p:cNvSpPr/>
          <p:nvPr/>
        </p:nvSpPr>
        <p:spPr>
          <a:xfrm>
            <a:off x="9433284" y="1778000"/>
            <a:ext cx="2123427" cy="508000"/>
          </a:xfrm>
          <a:prstGeom prst="roundRect">
            <a:avLst>
              <a:gd name="adj" fmla="val 12500"/>
            </a:avLst>
          </a:prstGeom>
          <a:solidFill>
            <a:srgbClr val="3B82F6">
              <a:alpha val="10000"/>
            </a:srgbClr>
          </a:solidFill>
          <a:ln w="6350">
            <a:solidFill>
              <a:srgbClr val="3B82F6"/>
            </a:solidFill>
          </a:ln>
        </p:spPr>
      </p:sp>
      <p:sp>
        <p:nvSpPr>
          <p:cNvPr id="20" name="Shape 20"/>
          <p:cNvSpPr/>
          <p:nvPr/>
        </p:nvSpPr>
        <p:spPr>
          <a:xfrm>
            <a:off x="634984" y="2667000"/>
            <a:ext cx="10921727" cy="10160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A855F7">
                  <a:alpha val="8000"/>
                </a:srgbClr>
              </a:gs>
              <a:gs pos="50000">
                <a:srgbClr val="EC4899">
                  <a:alpha val="8000"/>
                </a:srgbClr>
              </a:gs>
              <a:gs pos="100000">
                <a:srgbClr val="F97316">
                  <a:alpha val="8000"/>
                </a:srgbClr>
              </a:gs>
            </a:gsLst>
            <a:lin ang="0" scaled="1"/>
          </a:gradFill>
          <a:ln w="6350">
            <a:solidFill>
              <a:srgbClr val="FFFFFF"/>
            </a:solidFill>
          </a:ln>
        </p:spPr>
      </p:sp>
      <p:sp>
        <p:nvSpPr>
          <p:cNvPr id="21" name="Shape 21"/>
          <p:cNvSpPr/>
          <p:nvPr/>
        </p:nvSpPr>
        <p:spPr>
          <a:xfrm>
            <a:off x="5080270" y="2921000"/>
            <a:ext cx="6350" cy="5080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2" name="Shape 22"/>
          <p:cNvSpPr/>
          <p:nvPr/>
        </p:nvSpPr>
        <p:spPr>
          <a:xfrm>
            <a:off x="7744127" y="2921000"/>
            <a:ext cx="6350" cy="5080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3" name="Shape 23"/>
          <p:cNvSpPr/>
          <p:nvPr/>
        </p:nvSpPr>
        <p:spPr>
          <a:xfrm>
            <a:off x="634984" y="4064000"/>
            <a:ext cx="2654234" cy="882650"/>
          </a:xfrm>
          <a:prstGeom prst="roundRect">
            <a:avLst>
              <a:gd name="adj" fmla="val 8633"/>
            </a:avLst>
          </a:prstGeom>
          <a:solidFill>
            <a:srgbClr val="FFFFFF">
              <a:alpha val="3000"/>
            </a:srgbClr>
          </a:solidFill>
          <a:ln w="6350">
            <a:solidFill>
              <a:srgbClr val="FFFFFF"/>
            </a:solidFill>
          </a:ln>
        </p:spPr>
      </p:sp>
      <p:sp>
        <p:nvSpPr>
          <p:cNvPr id="24" name="Shape 24"/>
          <p:cNvSpPr/>
          <p:nvPr/>
        </p:nvSpPr>
        <p:spPr>
          <a:xfrm>
            <a:off x="3390815" y="4064000"/>
            <a:ext cx="2654234" cy="882650"/>
          </a:xfrm>
          <a:prstGeom prst="roundRect">
            <a:avLst>
              <a:gd name="adj" fmla="val 8633"/>
            </a:avLst>
          </a:prstGeom>
          <a:solidFill>
            <a:srgbClr val="FFFFFF">
              <a:alpha val="3000"/>
            </a:srgbClr>
          </a:solidFill>
          <a:ln w="6350">
            <a:solidFill>
              <a:srgbClr val="FFFFFF"/>
            </a:solidFill>
          </a:ln>
        </p:spPr>
      </p:sp>
      <p:sp>
        <p:nvSpPr>
          <p:cNvPr id="25" name="Shape 25"/>
          <p:cNvSpPr/>
          <p:nvPr/>
        </p:nvSpPr>
        <p:spPr>
          <a:xfrm>
            <a:off x="6146646" y="4064000"/>
            <a:ext cx="2654234" cy="882650"/>
          </a:xfrm>
          <a:prstGeom prst="roundRect">
            <a:avLst>
              <a:gd name="adj" fmla="val 8633"/>
            </a:avLst>
          </a:prstGeom>
          <a:solidFill>
            <a:srgbClr val="FFFFFF">
              <a:alpha val="3000"/>
            </a:srgbClr>
          </a:solidFill>
          <a:ln w="6350">
            <a:solidFill>
              <a:srgbClr val="FFFFFF"/>
            </a:solidFill>
          </a:ln>
        </p:spPr>
      </p:sp>
      <p:sp>
        <p:nvSpPr>
          <p:cNvPr id="26" name="Shape 26"/>
          <p:cNvSpPr/>
          <p:nvPr/>
        </p:nvSpPr>
        <p:spPr>
          <a:xfrm>
            <a:off x="8902477" y="4064000"/>
            <a:ext cx="2654234" cy="882650"/>
          </a:xfrm>
          <a:prstGeom prst="roundRect">
            <a:avLst>
              <a:gd name="adj" fmla="val 8633"/>
            </a:avLst>
          </a:prstGeom>
          <a:solidFill>
            <a:srgbClr val="FFFFFF">
              <a:alpha val="3000"/>
            </a:srgbClr>
          </a:solidFill>
          <a:ln w="6350">
            <a:solidFill>
              <a:srgbClr val="FFFFFF"/>
            </a:solidFill>
          </a:ln>
        </p:spPr>
      </p:sp>
      <p:sp>
        <p:nvSpPr>
          <p:cNvPr id="27" name="Shape 27"/>
          <p:cNvSpPr/>
          <p:nvPr/>
        </p:nvSpPr>
        <p:spPr>
          <a:xfrm>
            <a:off x="634984" y="6096000"/>
            <a:ext cx="10921727" cy="381000"/>
          </a:xfrm>
          <a:prstGeom prst="roundRect">
            <a:avLst>
              <a:gd name="adj" fmla="val 16666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/>
            </a:solidFill>
          </a:ln>
        </p:spPr>
      </p:sp>
      <p:sp>
        <p:nvSpPr>
          <p:cNvPr id="28" name="Text 28"/>
          <p:cNvSpPr/>
          <p:nvPr/>
        </p:nvSpPr>
        <p:spPr>
          <a:xfrm>
            <a:off x="634984" y="508000"/>
            <a:ext cx="1651951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 spc="1">
                <a:solidFill>
                  <a:srgbClr val="FFFFFF">
                    <a:alpha val="30000"/>
                  </a:srgbClr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PLATFORM ARCHITECTURE</a:t>
            </a:r>
            <a:endParaRPr lang="en-US" sz="650" dirty="0"/>
          </a:p>
        </p:txBody>
      </p:sp>
      <p:sp>
        <p:nvSpPr>
          <p:cNvPr id="29" name="Text 29"/>
          <p:cNvSpPr/>
          <p:nvPr/>
        </p:nvSpPr>
        <p:spPr>
          <a:xfrm>
            <a:off x="634984" y="889000"/>
            <a:ext cx="6757496" cy="4267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2400" dirty="0" spc="0">
                <a:solidFill>
                  <a:srgbClr val="FFFFFF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 Built for scale. Designed for developers. </a:t>
            </a:r>
            <a:endParaRPr lang="en-US" sz="2400" dirty="0"/>
          </a:p>
        </p:txBody>
      </p:sp>
      <p:sp>
        <p:nvSpPr>
          <p:cNvPr id="30" name="Text 30"/>
          <p:cNvSpPr/>
          <p:nvPr/>
        </p:nvSpPr>
        <p:spPr>
          <a:xfrm>
            <a:off x="1539539" y="1971675"/>
            <a:ext cx="392772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50" dirty="0">
                <a:solidFill>
                  <a:srgbClr val="A855F7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Images</a:t>
            </a:r>
            <a:endParaRPr lang="en-US" sz="750" dirty="0"/>
          </a:p>
        </p:txBody>
      </p:sp>
      <p:sp>
        <p:nvSpPr>
          <p:cNvPr id="31" name="Text 31"/>
          <p:cNvSpPr/>
          <p:nvPr/>
        </p:nvSpPr>
        <p:spPr>
          <a:xfrm>
            <a:off x="3770913" y="1971675"/>
            <a:ext cx="313151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50" dirty="0">
                <a:solidFill>
                  <a:srgbClr val="EC4899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Audio</a:t>
            </a:r>
            <a:endParaRPr lang="en-US" sz="750" dirty="0"/>
          </a:p>
        </p:txBody>
      </p:sp>
      <p:sp>
        <p:nvSpPr>
          <p:cNvPr id="32" name="Text 32"/>
          <p:cNvSpPr/>
          <p:nvPr/>
        </p:nvSpPr>
        <p:spPr>
          <a:xfrm>
            <a:off x="6003775" y="1971675"/>
            <a:ext cx="230058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50" dirty="0">
                <a:solidFill>
                  <a:srgbClr val="F97316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Text</a:t>
            </a:r>
            <a:endParaRPr lang="en-US" sz="750" dirty="0"/>
          </a:p>
        </p:txBody>
      </p:sp>
      <p:sp>
        <p:nvSpPr>
          <p:cNvPr id="33" name="Text 33"/>
          <p:cNvSpPr/>
          <p:nvPr/>
        </p:nvSpPr>
        <p:spPr>
          <a:xfrm>
            <a:off x="8169170" y="1971675"/>
            <a:ext cx="315508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50" dirty="0">
                <a:solidFill>
                  <a:srgbClr val="22C55E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Video</a:t>
            </a:r>
            <a:endParaRPr lang="en-US" sz="750" dirty="0"/>
          </a:p>
        </p:txBody>
      </p:sp>
      <p:sp>
        <p:nvSpPr>
          <p:cNvPr id="34" name="Text 34"/>
          <p:cNvSpPr/>
          <p:nvPr/>
        </p:nvSpPr>
        <p:spPr>
          <a:xfrm>
            <a:off x="10251025" y="1971675"/>
            <a:ext cx="609808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50" dirty="0">
                <a:solidFill>
                  <a:srgbClr val="3B82F6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Documents</a:t>
            </a:r>
            <a:endParaRPr lang="en-US" sz="750" dirty="0"/>
          </a:p>
        </p:txBody>
      </p:sp>
      <p:sp>
        <p:nvSpPr>
          <p:cNvPr id="35" name="Text 35"/>
          <p:cNvSpPr/>
          <p:nvPr/>
        </p:nvSpPr>
        <p:spPr>
          <a:xfrm>
            <a:off x="5731922" y="2409825"/>
            <a:ext cx="909689" cy="1777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>
                    <a:alpha val="15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▼ ▼ ▼ ▼ ▼</a:t>
            </a:r>
            <a:endParaRPr lang="en-US" sz="1000" dirty="0"/>
          </a:p>
        </p:txBody>
      </p:sp>
      <p:sp>
        <p:nvSpPr>
          <p:cNvPr id="36" name="Text 36"/>
          <p:cNvSpPr/>
          <p:nvPr/>
        </p:nvSpPr>
        <p:spPr>
          <a:xfrm>
            <a:off x="2945136" y="2997200"/>
            <a:ext cx="1598126" cy="2133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Prism Core Engine</a:t>
            </a:r>
            <a:endParaRPr lang="en-US" sz="1200" dirty="0"/>
          </a:p>
        </p:txBody>
      </p:sp>
      <p:sp>
        <p:nvSpPr>
          <p:cNvPr id="37" name="Text 37"/>
          <p:cNvSpPr/>
          <p:nvPr/>
        </p:nvSpPr>
        <p:spPr>
          <a:xfrm>
            <a:off x="2596490" y="3238500"/>
            <a:ext cx="2469741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>
                    <a:alpha val="4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Unified multi-modal transformer · 1.2T parameters</a:t>
            </a:r>
            <a:endParaRPr lang="en-US" sz="700" dirty="0"/>
          </a:p>
        </p:txBody>
      </p:sp>
      <p:sp>
        <p:nvSpPr>
          <p:cNvPr id="38" name="Text 38"/>
          <p:cNvSpPr/>
          <p:nvPr/>
        </p:nvSpPr>
        <p:spPr>
          <a:xfrm>
            <a:off x="5927676" y="2997200"/>
            <a:ext cx="1219244" cy="2133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Routing Layer</a:t>
            </a:r>
            <a:endParaRPr lang="en-US" sz="1200" dirty="0"/>
          </a:p>
        </p:txBody>
      </p:sp>
      <p:sp>
        <p:nvSpPr>
          <p:cNvPr id="39" name="Text 39"/>
          <p:cNvSpPr/>
          <p:nvPr/>
        </p:nvSpPr>
        <p:spPr>
          <a:xfrm>
            <a:off x="5594607" y="3238500"/>
            <a:ext cx="2051916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>
                    <a:alpha val="4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Intelligent model selection · Auto-batching</a:t>
            </a:r>
            <a:endParaRPr lang="en-US" sz="700" dirty="0"/>
          </a:p>
        </p:txBody>
      </p:sp>
      <p:sp>
        <p:nvSpPr>
          <p:cNvPr id="40" name="Text 40"/>
          <p:cNvSpPr/>
          <p:nvPr/>
        </p:nvSpPr>
        <p:spPr>
          <a:xfrm>
            <a:off x="8456600" y="2997200"/>
            <a:ext cx="1175465" cy="2133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Safety Filters</a:t>
            </a:r>
            <a:endParaRPr lang="en-US" sz="1200" dirty="0"/>
          </a:p>
        </p:txBody>
      </p:sp>
      <p:sp>
        <p:nvSpPr>
          <p:cNvPr id="41" name="Text 41"/>
          <p:cNvSpPr/>
          <p:nvPr/>
        </p:nvSpPr>
        <p:spPr>
          <a:xfrm>
            <a:off x="8258465" y="3238500"/>
            <a:ext cx="1670926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>
                    <a:alpha val="4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Content moderation · PII detection</a:t>
            </a:r>
            <a:endParaRPr lang="en-US" sz="700" dirty="0"/>
          </a:p>
        </p:txBody>
      </p:sp>
      <p:sp>
        <p:nvSpPr>
          <p:cNvPr id="42" name="Text 42"/>
          <p:cNvSpPr/>
          <p:nvPr/>
        </p:nvSpPr>
        <p:spPr>
          <a:xfrm>
            <a:off x="5731922" y="3806825"/>
            <a:ext cx="909689" cy="1777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>
                    <a:alpha val="15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▼ ▼ ▼ ▼ ▼</a:t>
            </a:r>
            <a:endParaRPr lang="en-US" sz="1000" dirty="0"/>
          </a:p>
        </p:txBody>
      </p:sp>
      <p:sp>
        <p:nvSpPr>
          <p:cNvPr id="43" name="Text 43"/>
          <p:cNvSpPr/>
          <p:nvPr/>
        </p:nvSpPr>
        <p:spPr>
          <a:xfrm>
            <a:off x="844529" y="4273550"/>
            <a:ext cx="601499" cy="160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REST API</a:t>
            </a:r>
            <a:endParaRPr lang="en-US" sz="900" dirty="0"/>
          </a:p>
        </p:txBody>
      </p:sp>
      <p:sp>
        <p:nvSpPr>
          <p:cNvPr id="44" name="Text 44"/>
          <p:cNvSpPr/>
          <p:nvPr/>
        </p:nvSpPr>
        <p:spPr>
          <a:xfrm>
            <a:off x="844529" y="4476750"/>
            <a:ext cx="23469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50000"/>
              </a:lnSpc>
              <a:buNone/>
            </a:pPr>
            <a:r>
              <a:rPr lang="en-US" sz="700" dirty="0">
                <a:solidFill>
                  <a:srgbClr val="FFFFFF">
                    <a:alpha val="35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 JSON endpoints with streaming support, webhooks, and retry logic. </a:t>
            </a:r>
            <a:endParaRPr lang="en-US" sz="700" dirty="0"/>
          </a:p>
        </p:txBody>
      </p:sp>
      <p:sp>
        <p:nvSpPr>
          <p:cNvPr id="45" name="Text 45"/>
          <p:cNvSpPr/>
          <p:nvPr/>
        </p:nvSpPr>
        <p:spPr>
          <a:xfrm>
            <a:off x="3600360" y="4273550"/>
            <a:ext cx="352218" cy="160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SDKs</a:t>
            </a:r>
            <a:endParaRPr lang="en-US" sz="900" dirty="0"/>
          </a:p>
        </p:txBody>
      </p:sp>
      <p:sp>
        <p:nvSpPr>
          <p:cNvPr id="46" name="Text 46"/>
          <p:cNvSpPr/>
          <p:nvPr/>
        </p:nvSpPr>
        <p:spPr>
          <a:xfrm>
            <a:off x="3600360" y="4476750"/>
            <a:ext cx="23469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50000"/>
              </a:lnSpc>
              <a:buNone/>
            </a:pPr>
            <a:r>
              <a:rPr lang="en-US" sz="700" dirty="0">
                <a:solidFill>
                  <a:srgbClr val="FFFFFF">
                    <a:alpha val="35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 Python, Node, Go, Rust, Java — first-class support with type safety. </a:t>
            </a:r>
            <a:endParaRPr lang="en-US" sz="700" dirty="0"/>
          </a:p>
        </p:txBody>
      </p:sp>
      <p:sp>
        <p:nvSpPr>
          <p:cNvPr id="47" name="Text 47"/>
          <p:cNvSpPr/>
          <p:nvPr/>
        </p:nvSpPr>
        <p:spPr>
          <a:xfrm>
            <a:off x="6356191" y="4273550"/>
            <a:ext cx="813573" cy="160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Embeddings</a:t>
            </a:r>
            <a:endParaRPr lang="en-US" sz="900" dirty="0"/>
          </a:p>
        </p:txBody>
      </p:sp>
      <p:sp>
        <p:nvSpPr>
          <p:cNvPr id="48" name="Text 48"/>
          <p:cNvSpPr/>
          <p:nvPr/>
        </p:nvSpPr>
        <p:spPr>
          <a:xfrm>
            <a:off x="6356191" y="4476750"/>
            <a:ext cx="23469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50000"/>
              </a:lnSpc>
              <a:buNone/>
            </a:pPr>
            <a:r>
              <a:rPr lang="en-US" sz="700" dirty="0">
                <a:solidFill>
                  <a:srgbClr val="FFFFFF">
                    <a:alpha val="35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 Multi-modal vector embeddings for search, clustering, and RAG pipelines. </a:t>
            </a:r>
            <a:endParaRPr lang="en-US" sz="700" dirty="0"/>
          </a:p>
        </p:txBody>
      </p:sp>
      <p:sp>
        <p:nvSpPr>
          <p:cNvPr id="49" name="Text 49"/>
          <p:cNvSpPr/>
          <p:nvPr/>
        </p:nvSpPr>
        <p:spPr>
          <a:xfrm>
            <a:off x="9112022" y="4273550"/>
            <a:ext cx="766942" cy="160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Fine-tuning</a:t>
            </a:r>
            <a:endParaRPr lang="en-US" sz="900" dirty="0"/>
          </a:p>
        </p:txBody>
      </p:sp>
      <p:sp>
        <p:nvSpPr>
          <p:cNvPr id="50" name="Text 50"/>
          <p:cNvSpPr/>
          <p:nvPr/>
        </p:nvSpPr>
        <p:spPr>
          <a:xfrm>
            <a:off x="9112022" y="4476750"/>
            <a:ext cx="23469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50000"/>
              </a:lnSpc>
              <a:buNone/>
            </a:pPr>
            <a:r>
              <a:rPr lang="en-US" sz="700" dirty="0">
                <a:solidFill>
                  <a:srgbClr val="FFFFFF">
                    <a:alpha val="35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 Custom models trained on your data with one-click deployment. </a:t>
            </a:r>
            <a:endParaRPr lang="en-US" sz="700" dirty="0"/>
          </a:p>
        </p:txBody>
      </p:sp>
      <p:sp>
        <p:nvSpPr>
          <p:cNvPr id="51" name="Text 51"/>
          <p:cNvSpPr/>
          <p:nvPr/>
        </p:nvSpPr>
        <p:spPr>
          <a:xfrm>
            <a:off x="4049115" y="6235700"/>
            <a:ext cx="249033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 spc="1">
                <a:solidFill>
                  <a:srgbClr val="FFFFFF">
                    <a:alpha val="25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AWS</a:t>
            </a:r>
            <a:endParaRPr lang="en-US" sz="650" dirty="0"/>
          </a:p>
        </p:txBody>
      </p:sp>
      <p:sp>
        <p:nvSpPr>
          <p:cNvPr id="52" name="Text 52"/>
          <p:cNvSpPr/>
          <p:nvPr/>
        </p:nvSpPr>
        <p:spPr>
          <a:xfrm>
            <a:off x="4553134" y="6235700"/>
            <a:ext cx="244816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 spc="1">
                <a:solidFill>
                  <a:srgbClr val="FFFFFF">
                    <a:alpha val="25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GCP</a:t>
            </a:r>
            <a:endParaRPr lang="en-US" sz="650" dirty="0"/>
          </a:p>
        </p:txBody>
      </p:sp>
      <p:sp>
        <p:nvSpPr>
          <p:cNvPr id="53" name="Text 53"/>
          <p:cNvSpPr/>
          <p:nvPr/>
        </p:nvSpPr>
        <p:spPr>
          <a:xfrm>
            <a:off x="5053779" y="6235700"/>
            <a:ext cx="376650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 spc="1">
                <a:solidFill>
                  <a:srgbClr val="FFFFFF">
                    <a:alpha val="25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AZURE</a:t>
            </a:r>
            <a:endParaRPr lang="en-US" sz="650" dirty="0"/>
          </a:p>
        </p:txBody>
      </p:sp>
      <p:sp>
        <p:nvSpPr>
          <p:cNvPr id="54" name="Text 54"/>
          <p:cNvSpPr/>
          <p:nvPr/>
        </p:nvSpPr>
        <p:spPr>
          <a:xfrm>
            <a:off x="5659891" y="6235700"/>
            <a:ext cx="13394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>
                    <a:alpha val="15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·</a:t>
            </a:r>
            <a:endParaRPr lang="en-US" sz="650" dirty="0"/>
          </a:p>
        </p:txBody>
      </p:sp>
      <p:sp>
        <p:nvSpPr>
          <p:cNvPr id="55" name="Text 55"/>
          <p:cNvSpPr/>
          <p:nvPr/>
        </p:nvSpPr>
        <p:spPr>
          <a:xfrm>
            <a:off x="5975399" y="6235700"/>
            <a:ext cx="339816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 spc="1">
                <a:solidFill>
                  <a:srgbClr val="FFFFFF">
                    <a:alpha val="25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SOC 2</a:t>
            </a:r>
            <a:endParaRPr lang="en-US" sz="650" dirty="0"/>
          </a:p>
        </p:txBody>
      </p:sp>
      <p:sp>
        <p:nvSpPr>
          <p:cNvPr id="56" name="Text 56"/>
          <p:cNvSpPr/>
          <p:nvPr/>
        </p:nvSpPr>
        <p:spPr>
          <a:xfrm>
            <a:off x="6552044" y="6235700"/>
            <a:ext cx="346513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 spc="1">
                <a:solidFill>
                  <a:srgbClr val="FFFFFF">
                    <a:alpha val="25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HIPAA</a:t>
            </a:r>
            <a:endParaRPr lang="en-US" sz="650" dirty="0"/>
          </a:p>
        </p:txBody>
      </p:sp>
      <p:sp>
        <p:nvSpPr>
          <p:cNvPr id="57" name="Text 57"/>
          <p:cNvSpPr/>
          <p:nvPr/>
        </p:nvSpPr>
        <p:spPr>
          <a:xfrm>
            <a:off x="7134047" y="6235700"/>
            <a:ext cx="324065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 spc="1">
                <a:solidFill>
                  <a:srgbClr val="FFFFFF">
                    <a:alpha val="25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GDPR</a:t>
            </a:r>
            <a:endParaRPr lang="en-US" sz="650" dirty="0"/>
          </a:p>
        </p:txBody>
      </p:sp>
      <p:sp>
        <p:nvSpPr>
          <p:cNvPr id="58" name="Text 58"/>
          <p:cNvSpPr/>
          <p:nvPr/>
        </p:nvSpPr>
        <p:spPr>
          <a:xfrm>
            <a:off x="7698091" y="6235700"/>
            <a:ext cx="555487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 spc="1">
                <a:solidFill>
                  <a:srgbClr val="FFFFFF">
                    <a:alpha val="25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ISO 27001</a:t>
            </a:r>
            <a:endParaRPr lang="en-US" sz="650" dirty="0"/>
          </a:p>
        </p:txBody>
      </p:sp>
      <p:sp>
        <p:nvSpPr>
          <p:cNvPr id="59" name="Text 59"/>
          <p:cNvSpPr/>
          <p:nvPr/>
        </p:nvSpPr>
        <p:spPr>
          <a:xfrm>
            <a:off x="11449954" y="6235700"/>
            <a:ext cx="133446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>
                    <a:alpha val="20000"/>
                  </a:srgbClr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3"/>
          <p:cNvSpPr/>
          <p:nvPr/>
        </p:nvSpPr>
        <p:spPr>
          <a:xfrm>
            <a:off x="634984" y="1905000"/>
            <a:ext cx="3534679" cy="298450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6350">
            <a:solidFill>
              <a:srgbClr val="E4E4E7"/>
            </a:solidFill>
          </a:ln>
        </p:spPr>
      </p:sp>
      <p:sp>
        <p:nvSpPr>
          <p:cNvPr id="4" name="Shape 4"/>
          <p:cNvSpPr/>
          <p:nvPr/>
        </p:nvSpPr>
        <p:spPr>
          <a:xfrm>
            <a:off x="895328" y="3317875"/>
            <a:ext cx="3013992" cy="6350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5" name="Shape 5"/>
          <p:cNvSpPr/>
          <p:nvPr/>
        </p:nvSpPr>
        <p:spPr>
          <a:xfrm>
            <a:off x="4322059" y="1905000"/>
            <a:ext cx="3547478" cy="2997200"/>
          </a:xfrm>
          <a:prstGeom prst="roundRect">
            <a:avLst>
              <a:gd name="adj" fmla="val 3390"/>
            </a:avLst>
          </a:prstGeom>
          <a:solidFill>
            <a:srgbClr val="0F0F0F"/>
          </a:solidFill>
          <a:ln w="12700">
            <a:solidFill>
              <a:srgbClr val="A855F7"/>
            </a:solidFill>
          </a:ln>
        </p:spPr>
      </p:sp>
      <p:sp>
        <p:nvSpPr>
          <p:cNvPr id="6" name="Shape 6"/>
          <p:cNvSpPr/>
          <p:nvPr/>
        </p:nvSpPr>
        <p:spPr>
          <a:xfrm>
            <a:off x="5629829" y="1816100"/>
            <a:ext cx="931839" cy="1714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A855F7"/>
              </a:gs>
              <a:gs pos="100000">
                <a:srgbClr val="EC4899"/>
              </a:gs>
            </a:gsLst>
            <a:lin ang="0" scaled="1"/>
          </a:gradFill>
          <a:ln/>
        </p:spPr>
      </p:sp>
      <p:sp>
        <p:nvSpPr>
          <p:cNvPr id="7" name="Shape 7"/>
          <p:cNvSpPr/>
          <p:nvPr/>
        </p:nvSpPr>
        <p:spPr>
          <a:xfrm>
            <a:off x="4588752" y="3324225"/>
            <a:ext cx="3014091" cy="63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Shape 8"/>
          <p:cNvSpPr/>
          <p:nvPr/>
        </p:nvSpPr>
        <p:spPr>
          <a:xfrm>
            <a:off x="8021933" y="1905000"/>
            <a:ext cx="3534778" cy="298450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6350">
            <a:solidFill>
              <a:srgbClr val="E4E4E7"/>
            </a:solidFill>
          </a:ln>
        </p:spPr>
      </p:sp>
      <p:sp>
        <p:nvSpPr>
          <p:cNvPr id="9" name="Shape 9"/>
          <p:cNvSpPr/>
          <p:nvPr/>
        </p:nvSpPr>
        <p:spPr>
          <a:xfrm>
            <a:off x="8282277" y="3317875"/>
            <a:ext cx="3014091" cy="6350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10" name="Text 10"/>
          <p:cNvSpPr/>
          <p:nvPr/>
        </p:nvSpPr>
        <p:spPr>
          <a:xfrm>
            <a:off x="895328" y="2438400"/>
            <a:ext cx="1064343" cy="4978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2800" dirty="0">
                <a:solidFill>
                  <a:srgbClr val="0F0F0F"/>
                </a:solidFill>
                <a:latin typeface="Outfit Black" pitchFamily="34" charset="0"/>
                <a:ea typeface="Outfit Black" pitchFamily="34" charset="-122"/>
                <a:cs typeface="Outfit Black" pitchFamily="34" charset="-120"/>
              </a:rPr>
              <a:t>$0</a:t>
            </a:r>
            <a:r>
              <a:rPr lang="en-US" sz="900" dirty="0">
                <a:solidFill>
                  <a:srgbClr val="A1A1A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/month</a:t>
            </a:r>
            <a:endParaRPr lang="en-US" sz="900" dirty="0"/>
          </a:p>
        </p:txBody>
      </p:sp>
      <p:sp>
        <p:nvSpPr>
          <p:cNvPr id="11" name="Text 11"/>
          <p:cNvSpPr/>
          <p:nvPr/>
        </p:nvSpPr>
        <p:spPr>
          <a:xfrm>
            <a:off x="4588752" y="2444750"/>
            <a:ext cx="1543929" cy="4978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Outfit Black" pitchFamily="34" charset="0"/>
                <a:ea typeface="Outfit Black" pitchFamily="34" charset="-122"/>
                <a:cs typeface="Outfit Black" pitchFamily="34" charset="-120"/>
              </a:rPr>
              <a:t>$299</a:t>
            </a:r>
            <a:r>
              <a:rPr lang="en-US" sz="900" dirty="0">
                <a:solidFill>
                  <a:srgbClr val="FFFFFF">
                    <a:alpha val="4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/month</a:t>
            </a:r>
            <a:endParaRPr lang="en-US" sz="900" dirty="0"/>
          </a:p>
        </p:txBody>
      </p:sp>
      <p:sp>
        <p:nvSpPr>
          <p:cNvPr id="12" name="Text 12"/>
          <p:cNvSpPr/>
          <p:nvPr/>
        </p:nvSpPr>
        <p:spPr>
          <a:xfrm>
            <a:off x="634984" y="508000"/>
            <a:ext cx="519645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 spc="1">
                <a:solidFill>
                  <a:srgbClr val="A1A1AA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PRICING</a:t>
            </a:r>
            <a:endParaRPr lang="en-US" sz="650" dirty="0"/>
          </a:p>
        </p:txBody>
      </p:sp>
      <p:sp>
        <p:nvSpPr>
          <p:cNvPr id="13" name="Text 13"/>
          <p:cNvSpPr/>
          <p:nvPr/>
        </p:nvSpPr>
        <p:spPr>
          <a:xfrm>
            <a:off x="634984" y="889000"/>
            <a:ext cx="5433455" cy="4978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2800" dirty="0" spc="-1">
                <a:solidFill>
                  <a:srgbClr val="0F0F0F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 Simple, predictable pricing. </a:t>
            </a:r>
            <a:endParaRPr lang="en-US" sz="2800" dirty="0"/>
          </a:p>
        </p:txBody>
      </p:sp>
      <p:sp>
        <p:nvSpPr>
          <p:cNvPr id="14" name="Text 14"/>
          <p:cNvSpPr/>
          <p:nvPr/>
        </p:nvSpPr>
        <p:spPr>
          <a:xfrm>
            <a:off x="895328" y="2216150"/>
            <a:ext cx="589841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50" dirty="0" spc="1">
                <a:solidFill>
                  <a:srgbClr val="A1A1AA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STARTER</a:t>
            </a:r>
            <a:endParaRPr lang="en-US" sz="750" dirty="0"/>
          </a:p>
        </p:txBody>
      </p:sp>
      <p:sp>
        <p:nvSpPr>
          <p:cNvPr id="15" name="Text 15"/>
          <p:cNvSpPr/>
          <p:nvPr/>
        </p:nvSpPr>
        <p:spPr>
          <a:xfrm>
            <a:off x="895328" y="2978150"/>
            <a:ext cx="2289415" cy="142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50000"/>
              </a:lnSpc>
              <a:buNone/>
            </a:pPr>
            <a:r>
              <a:rPr lang="en-US" sz="800" dirty="0">
                <a:solidFill>
                  <a:srgbClr val="71717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 For developers exploring multi-modal AI. </a:t>
            </a:r>
            <a:endParaRPr lang="en-US" sz="800" dirty="0"/>
          </a:p>
        </p:txBody>
      </p:sp>
      <p:sp>
        <p:nvSpPr>
          <p:cNvPr id="16" name="Text 16"/>
          <p:cNvSpPr/>
          <p:nvPr/>
        </p:nvSpPr>
        <p:spPr>
          <a:xfrm>
            <a:off x="895328" y="3575050"/>
            <a:ext cx="3164691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220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 1,000 API calls/day</a:t>
            </a:r>
            <a:endParaRPr lang="en-US" sz="750" dirty="0"/>
          </a:p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220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 All modalities</a:t>
            </a:r>
            <a:endParaRPr lang="en-US" sz="750" dirty="0"/>
          </a:p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220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 Community support</a:t>
            </a:r>
            <a:endParaRPr lang="en-US" sz="750" dirty="0"/>
          </a:p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220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 Standard rate limits</a:t>
            </a:r>
            <a:endParaRPr lang="en-US" sz="750" dirty="0"/>
          </a:p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220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 Playground access </a:t>
            </a:r>
            <a:endParaRPr lang="en-US" sz="750" dirty="0"/>
          </a:p>
        </p:txBody>
      </p:sp>
      <p:sp>
        <p:nvSpPr>
          <p:cNvPr id="17" name="Text 17"/>
          <p:cNvSpPr/>
          <p:nvPr/>
        </p:nvSpPr>
        <p:spPr>
          <a:xfrm>
            <a:off x="5756826" y="1854200"/>
            <a:ext cx="847307" cy="106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00" dirty="0" spc="1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MOST POPULAR</a:t>
            </a:r>
            <a:endParaRPr lang="en-US" sz="600" dirty="0"/>
          </a:p>
        </p:txBody>
      </p:sp>
      <p:sp>
        <p:nvSpPr>
          <p:cNvPr id="18" name="Text 18"/>
          <p:cNvSpPr/>
          <p:nvPr/>
        </p:nvSpPr>
        <p:spPr>
          <a:xfrm>
            <a:off x="4588752" y="2222500"/>
            <a:ext cx="277309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50" dirty="0" spc="1">
                <a:solidFill>
                  <a:srgbClr val="A855F7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PRO</a:t>
            </a:r>
            <a:endParaRPr lang="en-US" sz="750" dirty="0"/>
          </a:p>
        </p:txBody>
      </p:sp>
      <p:sp>
        <p:nvSpPr>
          <p:cNvPr id="19" name="Text 19"/>
          <p:cNvSpPr/>
          <p:nvPr/>
        </p:nvSpPr>
        <p:spPr>
          <a:xfrm>
            <a:off x="4588752" y="2984500"/>
            <a:ext cx="2423109" cy="142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50000"/>
              </a:lnSpc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 For teams building production applications. </a:t>
            </a:r>
            <a:endParaRPr lang="en-US" sz="800" dirty="0"/>
          </a:p>
        </p:txBody>
      </p:sp>
      <p:sp>
        <p:nvSpPr>
          <p:cNvPr id="20" name="Text 20"/>
          <p:cNvSpPr/>
          <p:nvPr/>
        </p:nvSpPr>
        <p:spPr>
          <a:xfrm>
            <a:off x="4588752" y="3581400"/>
            <a:ext cx="3164796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22000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 100K API calls/day</a:t>
            </a:r>
            <a:endParaRPr lang="en-US" sz="750" dirty="0"/>
          </a:p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22000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 Fine-tuning access</a:t>
            </a:r>
            <a:endParaRPr lang="en-US" sz="750" dirty="0"/>
          </a:p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22000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 Priority support (4h SLA)</a:t>
            </a:r>
            <a:endParaRPr lang="en-US" sz="750" dirty="0"/>
          </a:p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22000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 Custom rate limits</a:t>
            </a:r>
            <a:endParaRPr lang="en-US" sz="750" dirty="0"/>
          </a:p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22000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 Team management </a:t>
            </a:r>
            <a:endParaRPr lang="en-US" sz="750" dirty="0"/>
          </a:p>
        </p:txBody>
      </p:sp>
      <p:sp>
        <p:nvSpPr>
          <p:cNvPr id="21" name="Text 21"/>
          <p:cNvSpPr/>
          <p:nvPr/>
        </p:nvSpPr>
        <p:spPr>
          <a:xfrm>
            <a:off x="8282277" y="2216150"/>
            <a:ext cx="816550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50" dirty="0" spc="1">
                <a:solidFill>
                  <a:srgbClr val="A1A1AA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ENTERPRISE</a:t>
            </a:r>
            <a:endParaRPr lang="en-US" sz="750" dirty="0"/>
          </a:p>
        </p:txBody>
      </p:sp>
      <p:sp>
        <p:nvSpPr>
          <p:cNvPr id="22" name="Text 22"/>
          <p:cNvSpPr/>
          <p:nvPr/>
        </p:nvSpPr>
        <p:spPr>
          <a:xfrm>
            <a:off x="8282277" y="2438400"/>
            <a:ext cx="1612636" cy="4978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2800" dirty="0">
                <a:solidFill>
                  <a:srgbClr val="0F0F0F"/>
                </a:solidFill>
                <a:latin typeface="Outfit Black" pitchFamily="34" charset="0"/>
                <a:ea typeface="Outfit Black" pitchFamily="34" charset="-122"/>
                <a:cs typeface="Outfit Black" pitchFamily="34" charset="-120"/>
              </a:rPr>
              <a:t>Custom</a:t>
            </a:r>
            <a:endParaRPr lang="en-US" sz="2800" dirty="0"/>
          </a:p>
        </p:txBody>
      </p:sp>
      <p:sp>
        <p:nvSpPr>
          <p:cNvPr id="23" name="Text 23"/>
          <p:cNvSpPr/>
          <p:nvPr/>
        </p:nvSpPr>
        <p:spPr>
          <a:xfrm>
            <a:off x="8282277" y="2978150"/>
            <a:ext cx="2510296" cy="142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50000"/>
              </a:lnSpc>
              <a:buNone/>
            </a:pPr>
            <a:r>
              <a:rPr lang="en-US" sz="800" dirty="0">
                <a:solidFill>
                  <a:srgbClr val="71717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 For organizations with specific requirements. </a:t>
            </a:r>
            <a:endParaRPr lang="en-US" sz="800" dirty="0"/>
          </a:p>
        </p:txBody>
      </p:sp>
      <p:sp>
        <p:nvSpPr>
          <p:cNvPr id="24" name="Text 24"/>
          <p:cNvSpPr/>
          <p:nvPr/>
        </p:nvSpPr>
        <p:spPr>
          <a:xfrm>
            <a:off x="8282277" y="3575050"/>
            <a:ext cx="3164796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220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 Unlimited API calls</a:t>
            </a:r>
            <a:endParaRPr lang="en-US" sz="750" dirty="0"/>
          </a:p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220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 Dedicated infrastructure</a:t>
            </a:r>
            <a:endParaRPr lang="en-US" sz="750" dirty="0"/>
          </a:p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220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 24/7 support + TAM</a:t>
            </a:r>
            <a:endParaRPr lang="en-US" sz="750" dirty="0"/>
          </a:p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220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 SSO / SCIM / audit logs</a:t>
            </a:r>
            <a:endParaRPr lang="en-US" sz="750" dirty="0"/>
          </a:p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220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 On-prem deployment </a:t>
            </a:r>
            <a:endParaRPr lang="en-US" sz="750" dirty="0"/>
          </a:p>
        </p:txBody>
      </p:sp>
      <p:sp>
        <p:nvSpPr>
          <p:cNvPr id="25" name="Text 25"/>
          <p:cNvSpPr/>
          <p:nvPr/>
        </p:nvSpPr>
        <p:spPr>
          <a:xfrm>
            <a:off x="11448466" y="6235700"/>
            <a:ext cx="135306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>
                <a:solidFill>
                  <a:srgbClr val="D4D4D8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0F0F"/>
              </a:gs>
              <a:gs pos="50000">
                <a:srgbClr val="1A0A2E"/>
              </a:gs>
              <a:gs pos="100000">
                <a:srgbClr val="2D1B69"/>
              </a:gs>
            </a:gsLst>
            <a:lin ang="4200000" scaled="1"/>
          </a:gradFill>
          <a:ln/>
        </p:spPr>
      </p:sp>
      <p:sp>
        <p:nvSpPr>
          <p:cNvPr id="3" name="Shape 3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gradFill>
            <a:gsLst>
              <a:gs pos="0">
                <a:srgbClr val="A855F7"/>
              </a:gs>
              <a:gs pos="50000">
                <a:srgbClr val="EC4899"/>
              </a:gs>
              <a:gs pos="100000">
                <a:srgbClr val="F97316"/>
              </a:gs>
            </a:gsLst>
            <a:lin ang="0" scaled="1"/>
          </a:gradFill>
          <a:ln/>
        </p:spPr>
      </p:sp>
      <p:sp>
        <p:nvSpPr>
          <p:cNvPr id="4" name="Shape 4"/>
          <p:cNvSpPr/>
          <p:nvPr/>
        </p:nvSpPr>
        <p:spPr>
          <a:xfrm>
            <a:off x="1650959" y="-1016000"/>
            <a:ext cx="8889778" cy="8890000"/>
          </a:xfrm>
          <a:prstGeom prst="roundRect">
            <a:avLst>
              <a:gd name="adj" fmla="val 50000"/>
            </a:avLst>
          </a:prstGeom>
          <a:gradFill rotWithShape="0">
            <a:gsLst>
              <a:gs pos="35000">
                <a:srgbClr val="A855F7">
                  <a:alpha val="8000"/>
                </a:srgbClr>
              </a:gs>
              <a:gs pos="36750">
                <a:srgbClr val="7E40B9">
                  <a:alpha val="6000"/>
                </a:srgbClr>
              </a:gs>
              <a:gs pos="38500">
                <a:srgbClr val="542B7C">
                  <a:alpha val="4000"/>
                </a:srgbClr>
              </a:gs>
              <a:gs pos="40250">
                <a:srgbClr val="2A153E">
                  <a:alpha val="2000"/>
                </a:srgbClr>
              </a:gs>
              <a:gs pos="42000">
                <a:srgbClr val="000000">
                  <a:alpha val="0"/>
                </a:srgbClr>
              </a:gs>
            </a:gsLst>
            <a:path path="circle">
              <a:fillToRect l="25000" t="25000" r="25000" b="25000"/>
            </a:path>
          </a:gradFill>
          <a:ln/>
        </p:spPr>
      </p:sp>
      <p:sp>
        <p:nvSpPr>
          <p:cNvPr id="5" name="Shape 5"/>
          <p:cNvSpPr/>
          <p:nvPr/>
        </p:nvSpPr>
        <p:spPr>
          <a:xfrm>
            <a:off x="5924402" y="6413500"/>
            <a:ext cx="63498" cy="63500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/>
        </p:spPr>
      </p:sp>
      <p:sp>
        <p:nvSpPr>
          <p:cNvPr id="6" name="Shape 6"/>
          <p:cNvSpPr/>
          <p:nvPr/>
        </p:nvSpPr>
        <p:spPr>
          <a:xfrm>
            <a:off x="6064098" y="6413500"/>
            <a:ext cx="63498" cy="6350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7" name="Shape 7"/>
          <p:cNvSpPr/>
          <p:nvPr/>
        </p:nvSpPr>
        <p:spPr>
          <a:xfrm>
            <a:off x="6203795" y="6413500"/>
            <a:ext cx="63498" cy="635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8" name="Text 8"/>
          <p:cNvSpPr/>
          <p:nvPr/>
        </p:nvSpPr>
        <p:spPr>
          <a:xfrm>
            <a:off x="5456300" y="2343150"/>
            <a:ext cx="1598746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 spc="1">
                <a:solidFill>
                  <a:srgbClr val="FFFFFF">
                    <a:alpha val="30000"/>
                  </a:srgbClr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START BUILDING TODAY</a:t>
            </a:r>
            <a:endParaRPr lang="en-US" sz="650" dirty="0"/>
          </a:p>
        </p:txBody>
      </p:sp>
      <p:sp>
        <p:nvSpPr>
          <p:cNvPr id="9" name="Text 9"/>
          <p:cNvSpPr/>
          <p:nvPr/>
        </p:nvSpPr>
        <p:spPr>
          <a:xfrm>
            <a:off x="2637367" y="2628900"/>
            <a:ext cx="7262810" cy="1466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algn="ctr">
              <a:spcBef>
                <a:spcPts val="0"/>
              </a:spcBef>
              <a:spcAft>
                <a:spcPts val="0"/>
              </a:spcAft>
              <a:lnSpc>
                <a:spcPct val="105000"/>
              </a:lnSpc>
              <a:buNone/>
            </a:pPr>
            <a:r>
              <a:rPr lang="en-US" sz="5000" dirty="0" spc="-2">
                <a:solidFill>
                  <a:srgbClr val="FFFFFF"/>
                </a:solidFill>
                <a:latin typeface="Outfit Black" pitchFamily="34" charset="0"/>
                <a:ea typeface="Outfit Black" pitchFamily="34" charset="-122"/>
                <a:cs typeface="Outfit Black" pitchFamily="34" charset="-120"/>
              </a:rPr>
              <a:t> The platform that</a:t>
            </a:r>
            <a:endParaRPr lang="en-US" sz="5000" dirty="0"/>
          </a:p>
          <a:p>
            <a:pPr indent="0" marL="0" algn="ctr">
              <a:spcBef>
                <a:spcPts val="0"/>
              </a:spcBef>
              <a:spcAft>
                <a:spcPts val="0"/>
              </a:spcAft>
              <a:lnSpc>
                <a:spcPct val="105000"/>
              </a:lnSpc>
              <a:buNone/>
            </a:pPr>
            <a:r>
              <a:rPr lang="en-US" sz="5000" dirty="0" spc="-2">
                <a:solidFill>
                  <a:srgbClr val="FFFFFF"/>
                </a:solidFill>
                <a:latin typeface="Outfit Black" pitchFamily="34" charset="0"/>
                <a:ea typeface="Outfit Black" pitchFamily="34" charset="-122"/>
                <a:cs typeface="Outfit Black" pitchFamily="34" charset="-120"/>
              </a:rPr>
              <a:t>understands </a:t>
            </a:r>
            <a:r>
              <a:rPr lang="en-US" sz="5000" dirty="0" spc="-2">
                <a:gradFill>
                  <a:gsLst>
                    <a:gs pos="0">
                      <a:srgbClr val="A855F7"/>
                    </a:gs>
                    <a:gs pos="50000">
                      <a:srgbClr val="EC4899"/>
                    </a:gs>
                    <a:gs pos="100000">
                      <a:srgbClr val="F97316"/>
                    </a:gs>
                  </a:gsLst>
                  <a:lin ang="0" scaled="1"/>
                </a:gradFill>
                <a:latin typeface="Outfit Black" pitchFamily="34" charset="0"/>
                <a:ea typeface="Outfit Black" pitchFamily="34" charset="-122"/>
                <a:cs typeface="Outfit Black" pitchFamily="34" charset="-120"/>
              </a:rPr>
              <a:t>everything.</a:t>
            </a:r>
            <a:endParaRPr lang="en-US" sz="5000" dirty="0"/>
          </a:p>
        </p:txBody>
      </p:sp>
      <p:sp>
        <p:nvSpPr>
          <p:cNvPr id="10" name="Text 10"/>
          <p:cNvSpPr/>
          <p:nvPr/>
        </p:nvSpPr>
        <p:spPr>
          <a:xfrm>
            <a:off x="5673881" y="4337050"/>
            <a:ext cx="1054917" cy="1955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>
                    <a:alpha val="4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 prism.ai/start 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slide-gen</Application>
  <PresentationFormat>On-screen Show (16:9)</PresentationFormat>
  <Paragraphs>0</Paragraphs>
  <Slides>7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slide-gen</dc:creator>
  <cp:lastModifiedBy>slide-gen</cp:lastModifiedBy>
  <cp:revision>1</cp:revision>
  <dcterms:created xsi:type="dcterms:W3CDTF">2026-03-27T22:35:15Z</dcterms:created>
  <dcterms:modified xsi:type="dcterms:W3CDTF">2026-03-27T22:35:15Z</dcterms:modified>
</cp:coreProperties>
</file>