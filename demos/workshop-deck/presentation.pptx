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Set expectations for hands-on workshop.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agenda. Emphasize that each section has exercises.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mental model before diving into code.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people 10 minutes. Walk around and help.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contrast. This is the 'aha' moment.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up. These are the three things to remember.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links. Mention the Discord for follow-up questions.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508000"/>
            <a:ext cx="2114497" cy="247650"/>
          </a:xfrm>
          <a:prstGeom prst="roundRect">
            <a:avLst>
              <a:gd name="adj" fmla="val 20512"/>
            </a:avLst>
          </a:prstGeom>
          <a:solidFill>
            <a:srgbClr val="22D3EE">
              <a:alpha val="8000"/>
            </a:srgbClr>
          </a:solidFill>
          <a:ln w="6350">
            <a:solidFill>
              <a:srgbClr val="22D3EE"/>
            </a:solidFill>
          </a:ln>
        </p:spPr>
      </p:sp>
      <p:sp>
        <p:nvSpPr>
          <p:cNvPr id="4" name="Shape 4"/>
          <p:cNvSpPr/>
          <p:nvPr/>
        </p:nvSpPr>
        <p:spPr>
          <a:xfrm>
            <a:off x="768331" y="606425"/>
            <a:ext cx="50799" cy="508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</p:sp>
      <p:sp>
        <p:nvSpPr>
          <p:cNvPr id="5" name="Shape 5"/>
          <p:cNvSpPr/>
          <p:nvPr/>
        </p:nvSpPr>
        <p:spPr>
          <a:xfrm>
            <a:off x="634984" y="5740400"/>
            <a:ext cx="355591" cy="355600"/>
          </a:xfrm>
          <a:prstGeom prst="roundRect">
            <a:avLst>
              <a:gd name="adj" fmla="val 21429"/>
            </a:avLst>
          </a:prstGeom>
          <a:gradFill>
            <a:gsLst>
              <a:gs pos="0">
                <a:srgbClr val="22D3EE"/>
              </a:gs>
              <a:gs pos="100000">
                <a:srgbClr val="A3E635"/>
              </a:gs>
            </a:gsLst>
            <a:lin ang="2700000" scaled="1"/>
          </a:gradFill>
          <a:ln/>
        </p:spPr>
      </p:sp>
      <p:sp>
        <p:nvSpPr>
          <p:cNvPr id="6" name="Text 6"/>
          <p:cNvSpPr/>
          <p:nvPr/>
        </p:nvSpPr>
        <p:spPr>
          <a:xfrm>
            <a:off x="882628" y="577850"/>
            <a:ext cx="2166883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 WORKSHOP · 90 MINUTES</a:t>
            </a:r>
            <a:endParaRPr lang="en-US" sz="650" dirty="0"/>
          </a:p>
        </p:txBody>
      </p:sp>
      <p:sp>
        <p:nvSpPr>
          <p:cNvPr id="7" name="Text 7"/>
          <p:cNvSpPr/>
          <p:nvPr/>
        </p:nvSpPr>
        <p:spPr>
          <a:xfrm>
            <a:off x="634984" y="1479550"/>
            <a:ext cx="866753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10000"/>
              </a:lnSpc>
              <a:buNone/>
            </a:pPr>
            <a:r>
              <a:rPr lang="en-US" sz="4000" dirty="0" b="1" spc="-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Building Production</a:t>
            </a:r>
            <a:endParaRPr lang="en-US" sz="40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10000"/>
              </a:lnSpc>
              <a:buNone/>
            </a:pPr>
            <a:r>
              <a:rPr lang="en-US" sz="4000" dirty="0" b="1" spc="-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APIs with </a:t>
            </a:r>
            <a:r>
              <a:rPr lang="en-US" sz="4000" dirty="0" b="1" spc="-1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TypeScript</a:t>
            </a:r>
            <a:endParaRPr lang="en-US" sz="4000" dirty="0"/>
          </a:p>
        </p:txBody>
      </p:sp>
      <p:sp>
        <p:nvSpPr>
          <p:cNvPr id="8" name="Text 8"/>
          <p:cNvSpPr/>
          <p:nvPr/>
        </p:nvSpPr>
        <p:spPr>
          <a:xfrm>
            <a:off x="634984" y="2870200"/>
            <a:ext cx="4667133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From zero to deployed — type-safe routes, database integration, auth middleware, and CI/CD. Everything you need to ship confidently. </a:t>
            </a:r>
            <a:endParaRPr lang="en-US" sz="1100" dirty="0"/>
          </a:p>
        </p:txBody>
      </p:sp>
      <p:sp>
        <p:nvSpPr>
          <p:cNvPr id="9" name="Text 9"/>
          <p:cNvSpPr/>
          <p:nvPr/>
        </p:nvSpPr>
        <p:spPr>
          <a:xfrm>
            <a:off x="1117572" y="5788025"/>
            <a:ext cx="1035198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Devon Hartley</a:t>
            </a:r>
            <a:endParaRPr lang="en-US" sz="900" dirty="0"/>
          </a:p>
        </p:txBody>
      </p:sp>
      <p:sp>
        <p:nvSpPr>
          <p:cNvPr id="10" name="Text 10"/>
          <p:cNvSpPr/>
          <p:nvPr/>
        </p:nvSpPr>
        <p:spPr>
          <a:xfrm>
            <a:off x="1117572" y="5927725"/>
            <a:ext cx="2429434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Staff Engineer @ Vercel · @devonhartley</a:t>
            </a:r>
            <a:endParaRPr lang="en-US" sz="750" dirty="0"/>
          </a:p>
        </p:txBody>
      </p:sp>
      <p:sp>
        <p:nvSpPr>
          <p:cNvPr id="11" name="Text 11"/>
          <p:cNvSpPr/>
          <p:nvPr/>
        </p:nvSpPr>
        <p:spPr>
          <a:xfrm>
            <a:off x="9575561" y="5880100"/>
            <a:ext cx="208020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algn="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Prerequisites: Node 20+, Docker, VS Code</a:t>
            </a:r>
            <a:endParaRPr lang="en-US" sz="650" dirty="0"/>
          </a:p>
          <a:p>
            <a:pPr indent="0" marL="0" algn="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Repo: github.com/devon/ts-api-workshop 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3"/>
          <p:cNvSpPr/>
          <p:nvPr/>
        </p:nvSpPr>
        <p:spPr>
          <a:xfrm>
            <a:off x="1035024" y="2032000"/>
            <a:ext cx="12700" cy="2933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Shape 4"/>
          <p:cNvSpPr/>
          <p:nvPr/>
        </p:nvSpPr>
        <p:spPr>
          <a:xfrm>
            <a:off x="1650959" y="2070100"/>
            <a:ext cx="88898" cy="889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Shape 5"/>
          <p:cNvSpPr/>
          <p:nvPr/>
        </p:nvSpPr>
        <p:spPr>
          <a:xfrm>
            <a:off x="1650959" y="2717800"/>
            <a:ext cx="88898" cy="8890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/>
        </p:spPr>
      </p:sp>
      <p:sp>
        <p:nvSpPr>
          <p:cNvPr id="6" name="Shape 6"/>
          <p:cNvSpPr/>
          <p:nvPr/>
        </p:nvSpPr>
        <p:spPr>
          <a:xfrm>
            <a:off x="1650959" y="3365500"/>
            <a:ext cx="88898" cy="889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7" name="Shape 7"/>
          <p:cNvSpPr/>
          <p:nvPr/>
        </p:nvSpPr>
        <p:spPr>
          <a:xfrm>
            <a:off x="1650959" y="4013200"/>
            <a:ext cx="88898" cy="889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8" name="Shape 8"/>
          <p:cNvSpPr/>
          <p:nvPr/>
        </p:nvSpPr>
        <p:spPr>
          <a:xfrm>
            <a:off x="1650959" y="4660900"/>
            <a:ext cx="88898" cy="889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9" name="Text 9"/>
          <p:cNvSpPr/>
          <p:nvPr/>
        </p:nvSpPr>
        <p:spPr>
          <a:xfrm>
            <a:off x="634984" y="508000"/>
            <a:ext cx="545814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AGENDA</a:t>
            </a:r>
            <a:endParaRPr lang="en-US" sz="650" dirty="0"/>
          </a:p>
        </p:txBody>
      </p:sp>
      <p:sp>
        <p:nvSpPr>
          <p:cNvPr id="10" name="Text 10"/>
          <p:cNvSpPr/>
          <p:nvPr/>
        </p:nvSpPr>
        <p:spPr>
          <a:xfrm>
            <a:off x="11209950" y="508000"/>
            <a:ext cx="433451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08</a:t>
            </a:r>
            <a:endParaRPr lang="en-US" sz="650" dirty="0"/>
          </a:p>
        </p:txBody>
      </p:sp>
      <p:sp>
        <p:nvSpPr>
          <p:cNvPr id="11" name="Text 11"/>
          <p:cNvSpPr/>
          <p:nvPr/>
        </p:nvSpPr>
        <p:spPr>
          <a:xfrm>
            <a:off x="634984" y="1016000"/>
            <a:ext cx="4276097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b="1" spc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What we'll build today. </a:t>
            </a:r>
            <a:endParaRPr lang="en-US" sz="2400" dirty="0"/>
          </a:p>
        </p:txBody>
      </p:sp>
      <p:sp>
        <p:nvSpPr>
          <p:cNvPr id="12" name="Text 12"/>
          <p:cNvSpPr/>
          <p:nvPr/>
        </p:nvSpPr>
        <p:spPr>
          <a:xfrm>
            <a:off x="634984" y="2057400"/>
            <a:ext cx="78579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0:00 – 0:15 </a:t>
            </a:r>
            <a:endParaRPr lang="en-US" sz="750" dirty="0"/>
          </a:p>
        </p:txBody>
      </p:sp>
      <p:sp>
        <p:nvSpPr>
          <p:cNvPr id="13" name="Text 13"/>
          <p:cNvSpPr/>
          <p:nvPr/>
        </p:nvSpPr>
        <p:spPr>
          <a:xfrm>
            <a:off x="1943051" y="2032000"/>
            <a:ext cx="2420505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Project setup &amp; scaffolding</a:t>
            </a:r>
            <a:endParaRPr lang="en-US" sz="1100" dirty="0"/>
          </a:p>
        </p:txBody>
      </p:sp>
      <p:sp>
        <p:nvSpPr>
          <p:cNvPr id="14" name="Text 14"/>
          <p:cNvSpPr/>
          <p:nvPr/>
        </p:nvSpPr>
        <p:spPr>
          <a:xfrm>
            <a:off x="1943051" y="2241550"/>
            <a:ext cx="5908453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Initialize a Hono app with TypeScript strict mode, configure ESLint, Prettier, and path aliases. </a:t>
            </a:r>
            <a:endParaRPr lang="en-US" sz="800" dirty="0"/>
          </a:p>
        </p:txBody>
      </p:sp>
      <p:sp>
        <p:nvSpPr>
          <p:cNvPr id="15" name="Text 15"/>
          <p:cNvSpPr/>
          <p:nvPr/>
        </p:nvSpPr>
        <p:spPr>
          <a:xfrm>
            <a:off x="634984" y="2705100"/>
            <a:ext cx="78579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0:15 – 0:35 </a:t>
            </a:r>
            <a:endParaRPr lang="en-US" sz="750" dirty="0"/>
          </a:p>
        </p:txBody>
      </p:sp>
      <p:sp>
        <p:nvSpPr>
          <p:cNvPr id="16" name="Text 16"/>
          <p:cNvSpPr/>
          <p:nvPr/>
        </p:nvSpPr>
        <p:spPr>
          <a:xfrm>
            <a:off x="1943051" y="2679700"/>
            <a:ext cx="2337411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Type-safe routes with Zod</a:t>
            </a:r>
            <a:endParaRPr lang="en-US" sz="1100" dirty="0"/>
          </a:p>
        </p:txBody>
      </p:sp>
      <p:sp>
        <p:nvSpPr>
          <p:cNvPr id="17" name="Text 17"/>
          <p:cNvSpPr/>
          <p:nvPr/>
        </p:nvSpPr>
        <p:spPr>
          <a:xfrm>
            <a:off x="1943051" y="2889250"/>
            <a:ext cx="6685068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Define request/response schemas, build validated endpoints, and generate OpenAPI docs automatically. </a:t>
            </a:r>
            <a:endParaRPr lang="en-US" sz="800" dirty="0"/>
          </a:p>
        </p:txBody>
      </p:sp>
      <p:sp>
        <p:nvSpPr>
          <p:cNvPr id="18" name="Text 18"/>
          <p:cNvSpPr/>
          <p:nvPr/>
        </p:nvSpPr>
        <p:spPr>
          <a:xfrm>
            <a:off x="634984" y="3352800"/>
            <a:ext cx="78579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0:35 – 0:55 </a:t>
            </a:r>
            <a:endParaRPr lang="en-US" sz="750" dirty="0"/>
          </a:p>
        </p:txBody>
      </p:sp>
      <p:sp>
        <p:nvSpPr>
          <p:cNvPr id="19" name="Text 19"/>
          <p:cNvSpPr/>
          <p:nvPr/>
        </p:nvSpPr>
        <p:spPr>
          <a:xfrm>
            <a:off x="1943051" y="3327400"/>
            <a:ext cx="2405746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Database with Drizzle ORM</a:t>
            </a:r>
            <a:endParaRPr lang="en-US" sz="1100" dirty="0"/>
          </a:p>
        </p:txBody>
      </p:sp>
      <p:sp>
        <p:nvSpPr>
          <p:cNvPr id="20" name="Text 20"/>
          <p:cNvSpPr/>
          <p:nvPr/>
        </p:nvSpPr>
        <p:spPr>
          <a:xfrm>
            <a:off x="1943051" y="3536950"/>
            <a:ext cx="5779720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Connect Postgres via Docker, define schemas, run migrations, and write type-safe queries. </a:t>
            </a:r>
            <a:endParaRPr lang="en-US" sz="800" dirty="0"/>
          </a:p>
        </p:txBody>
      </p:sp>
      <p:sp>
        <p:nvSpPr>
          <p:cNvPr id="21" name="Text 21"/>
          <p:cNvSpPr/>
          <p:nvPr/>
        </p:nvSpPr>
        <p:spPr>
          <a:xfrm>
            <a:off x="634984" y="4000500"/>
            <a:ext cx="78579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0:55 – 1:15 </a:t>
            </a:r>
            <a:endParaRPr lang="en-US" sz="750" dirty="0"/>
          </a:p>
        </p:txBody>
      </p:sp>
      <p:sp>
        <p:nvSpPr>
          <p:cNvPr id="22" name="Text 22"/>
          <p:cNvSpPr/>
          <p:nvPr/>
        </p:nvSpPr>
        <p:spPr>
          <a:xfrm>
            <a:off x="1943051" y="3975100"/>
            <a:ext cx="2385655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Auth middleware &amp; testing</a:t>
            </a:r>
            <a:endParaRPr lang="en-US" sz="1100" dirty="0"/>
          </a:p>
        </p:txBody>
      </p:sp>
      <p:sp>
        <p:nvSpPr>
          <p:cNvPr id="23" name="Text 23"/>
          <p:cNvSpPr/>
          <p:nvPr/>
        </p:nvSpPr>
        <p:spPr>
          <a:xfrm>
            <a:off x="1943051" y="4184650"/>
            <a:ext cx="5629159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JWT auth middleware, role-based guards, integration tests with Vitest, and test fixtures. </a:t>
            </a:r>
            <a:endParaRPr lang="en-US" sz="800" dirty="0"/>
          </a:p>
        </p:txBody>
      </p:sp>
      <p:sp>
        <p:nvSpPr>
          <p:cNvPr id="24" name="Text 24"/>
          <p:cNvSpPr/>
          <p:nvPr/>
        </p:nvSpPr>
        <p:spPr>
          <a:xfrm>
            <a:off x="634984" y="4648200"/>
            <a:ext cx="78579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1:15 – 1:30 </a:t>
            </a:r>
            <a:endParaRPr lang="en-US" sz="750" dirty="0"/>
          </a:p>
        </p:txBody>
      </p:sp>
      <p:sp>
        <p:nvSpPr>
          <p:cNvPr id="25" name="Text 25"/>
          <p:cNvSpPr/>
          <p:nvPr/>
        </p:nvSpPr>
        <p:spPr>
          <a:xfrm>
            <a:off x="1943051" y="4622800"/>
            <a:ext cx="1920331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Deploy to production</a:t>
            </a:r>
            <a:endParaRPr lang="en-US" sz="1100" dirty="0"/>
          </a:p>
        </p:txBody>
      </p:sp>
      <p:sp>
        <p:nvSpPr>
          <p:cNvPr id="26" name="Text 26"/>
          <p:cNvSpPr/>
          <p:nvPr/>
        </p:nvSpPr>
        <p:spPr>
          <a:xfrm>
            <a:off x="1943051" y="4832350"/>
            <a:ext cx="5403442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Dockerfile, GitHub Actions CI, deploy to Fly.io, health checks, and monitoring basics. 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508000"/>
            <a:ext cx="152396" cy="152400"/>
          </a:xfrm>
          <a:prstGeom prst="roundRect">
            <a:avLst>
              <a:gd name="adj" fmla="val 25000"/>
            </a:avLst>
          </a:prstGeom>
          <a:solidFill>
            <a:srgbClr val="A3E635"/>
          </a:solidFill>
          <a:ln/>
        </p:spPr>
      </p:sp>
      <p:sp>
        <p:nvSpPr>
          <p:cNvPr id="4" name="Shape 4"/>
          <p:cNvSpPr/>
          <p:nvPr/>
        </p:nvSpPr>
        <p:spPr>
          <a:xfrm>
            <a:off x="634984" y="2574131"/>
            <a:ext cx="253994" cy="254000"/>
          </a:xfrm>
          <a:prstGeom prst="roundRect">
            <a:avLst>
              <a:gd name="adj" fmla="val 25000"/>
            </a:avLst>
          </a:prstGeom>
          <a:solidFill>
            <a:srgbClr val="A3E635">
              <a:alpha val="10000"/>
            </a:srgbClr>
          </a:solidFill>
          <a:ln w="6350">
            <a:solidFill>
              <a:srgbClr val="A3E635"/>
            </a:solidFill>
          </a:ln>
        </p:spPr>
      </p:sp>
      <p:sp>
        <p:nvSpPr>
          <p:cNvPr id="5" name="Shape 5"/>
          <p:cNvSpPr/>
          <p:nvPr/>
        </p:nvSpPr>
        <p:spPr>
          <a:xfrm>
            <a:off x="634984" y="2967831"/>
            <a:ext cx="253994" cy="254000"/>
          </a:xfrm>
          <a:prstGeom prst="roundRect">
            <a:avLst>
              <a:gd name="adj" fmla="val 25000"/>
            </a:avLst>
          </a:prstGeom>
          <a:solidFill>
            <a:srgbClr val="A3E635">
              <a:alpha val="10000"/>
            </a:srgbClr>
          </a:solidFill>
          <a:ln w="6350">
            <a:solidFill>
              <a:srgbClr val="A3E635"/>
            </a:solidFill>
          </a:ln>
        </p:spPr>
      </p:sp>
      <p:sp>
        <p:nvSpPr>
          <p:cNvPr id="6" name="Shape 6"/>
          <p:cNvSpPr/>
          <p:nvPr/>
        </p:nvSpPr>
        <p:spPr>
          <a:xfrm>
            <a:off x="634984" y="3361531"/>
            <a:ext cx="253994" cy="254000"/>
          </a:xfrm>
          <a:prstGeom prst="roundRect">
            <a:avLst>
              <a:gd name="adj" fmla="val 25000"/>
            </a:avLst>
          </a:prstGeom>
          <a:solidFill>
            <a:srgbClr val="A3E635">
              <a:alpha val="10000"/>
            </a:srgbClr>
          </a:solidFill>
          <a:ln w="6350">
            <a:solidFill>
              <a:srgbClr val="A3E635"/>
            </a:solidFill>
          </a:ln>
        </p:spPr>
      </p:sp>
      <p:sp>
        <p:nvSpPr>
          <p:cNvPr id="7" name="Shape 7"/>
          <p:cNvSpPr/>
          <p:nvPr/>
        </p:nvSpPr>
        <p:spPr>
          <a:xfrm>
            <a:off x="5968851" y="1016000"/>
            <a:ext cx="5587860" cy="4953000"/>
          </a:xfrm>
          <a:prstGeom prst="roundRect">
            <a:avLst>
              <a:gd name="adj" fmla="val 1538"/>
            </a:avLst>
          </a:prstGeom>
          <a:solidFill>
            <a:srgbClr val="0D1117"/>
          </a:solidFill>
          <a:ln w="6350">
            <a:solidFill>
              <a:srgbClr val="334155"/>
            </a:solidFill>
          </a:ln>
        </p:spPr>
      </p:sp>
      <p:sp>
        <p:nvSpPr>
          <p:cNvPr id="8" name="Shape 8"/>
          <p:cNvSpPr/>
          <p:nvPr/>
        </p:nvSpPr>
        <p:spPr>
          <a:xfrm>
            <a:off x="5975201" y="1022350"/>
            <a:ext cx="5575161" cy="254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9"/>
          <p:cNvSpPr/>
          <p:nvPr/>
        </p:nvSpPr>
        <p:spPr>
          <a:xfrm>
            <a:off x="5975201" y="1273175"/>
            <a:ext cx="5575161" cy="635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10"/>
          <p:cNvSpPr/>
          <p:nvPr/>
        </p:nvSpPr>
        <p:spPr>
          <a:xfrm>
            <a:off x="685088" y="530225"/>
            <a:ext cx="65235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>
                <a:solidFill>
                  <a:srgbClr val="0F172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650" dirty="0"/>
          </a:p>
        </p:txBody>
      </p:sp>
      <p:sp>
        <p:nvSpPr>
          <p:cNvPr id="11" name="Text 11"/>
          <p:cNvSpPr/>
          <p:nvPr/>
        </p:nvSpPr>
        <p:spPr>
          <a:xfrm>
            <a:off x="863578" y="530225"/>
            <a:ext cx="1234995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TYPE-SAFE ROUTES</a:t>
            </a:r>
            <a:endParaRPr lang="en-US" sz="650" dirty="0"/>
          </a:p>
        </p:txBody>
      </p:sp>
      <p:sp>
        <p:nvSpPr>
          <p:cNvPr id="12" name="Text 12"/>
          <p:cNvSpPr/>
          <p:nvPr/>
        </p:nvSpPr>
        <p:spPr>
          <a:xfrm>
            <a:off x="11209950" y="530225"/>
            <a:ext cx="433451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08</a:t>
            </a:r>
            <a:endParaRPr lang="en-US" sz="650" dirty="0"/>
          </a:p>
        </p:txBody>
      </p:sp>
      <p:sp>
        <p:nvSpPr>
          <p:cNvPr id="13" name="Text 13"/>
          <p:cNvSpPr/>
          <p:nvPr/>
        </p:nvSpPr>
        <p:spPr>
          <a:xfrm>
            <a:off x="634984" y="1003300"/>
            <a:ext cx="5067173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b="1" spc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The type system is</a:t>
            </a:r>
            <a:endParaRPr lang="en-US" sz="24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b="1" spc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your </a:t>
            </a:r>
            <a:r>
              <a:rPr lang="en-US" sz="2400" dirty="0" b="1" spc="0">
                <a:solidFill>
                  <a:srgbClr val="A3E6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runtime guard</a:t>
            </a:r>
            <a:r>
              <a:rPr lang="en-US" sz="2400" dirty="0" b="1" spc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. </a:t>
            </a:r>
            <a:endParaRPr lang="en-US" sz="2400" dirty="0"/>
          </a:p>
        </p:txBody>
      </p:sp>
      <p:sp>
        <p:nvSpPr>
          <p:cNvPr id="14" name="Text 14"/>
          <p:cNvSpPr/>
          <p:nvPr/>
        </p:nvSpPr>
        <p:spPr>
          <a:xfrm>
            <a:off x="634984" y="1950641"/>
            <a:ext cx="5067173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7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Define your API contract once with Zod schemas. Get compile-time safety, runtime validation, and auto-generated documentation — from a single source of truth. </a:t>
            </a:r>
            <a:endParaRPr lang="en-US" sz="900" dirty="0"/>
          </a:p>
        </p:txBody>
      </p:sp>
      <p:sp>
        <p:nvSpPr>
          <p:cNvPr id="15" name="Text 15"/>
          <p:cNvSpPr/>
          <p:nvPr/>
        </p:nvSpPr>
        <p:spPr>
          <a:xfrm>
            <a:off x="708603" y="2643981"/>
            <a:ext cx="13344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700" dirty="0"/>
          </a:p>
        </p:txBody>
      </p:sp>
      <p:sp>
        <p:nvSpPr>
          <p:cNvPr id="16" name="Text 16"/>
          <p:cNvSpPr/>
          <p:nvPr/>
        </p:nvSpPr>
        <p:spPr>
          <a:xfrm>
            <a:off x="990575" y="2567781"/>
            <a:ext cx="2871071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Compile-time errors, not runtime crashes</a:t>
            </a:r>
            <a:endParaRPr lang="en-US" sz="850" dirty="0"/>
          </a:p>
        </p:txBody>
      </p:sp>
      <p:sp>
        <p:nvSpPr>
          <p:cNvPr id="17" name="Text 17"/>
          <p:cNvSpPr/>
          <p:nvPr/>
        </p:nvSpPr>
        <p:spPr>
          <a:xfrm>
            <a:off x="990575" y="2713831"/>
            <a:ext cx="3535572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TypeScript catches schema mismatches before you deploy</a:t>
            </a:r>
            <a:endParaRPr lang="en-US" sz="750" dirty="0"/>
          </a:p>
        </p:txBody>
      </p:sp>
      <p:sp>
        <p:nvSpPr>
          <p:cNvPr id="18" name="Text 18"/>
          <p:cNvSpPr/>
          <p:nvPr/>
        </p:nvSpPr>
        <p:spPr>
          <a:xfrm>
            <a:off x="708603" y="3037681"/>
            <a:ext cx="13344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700" dirty="0"/>
          </a:p>
        </p:txBody>
      </p:sp>
      <p:sp>
        <p:nvSpPr>
          <p:cNvPr id="19" name="Text 19"/>
          <p:cNvSpPr/>
          <p:nvPr/>
        </p:nvSpPr>
        <p:spPr>
          <a:xfrm>
            <a:off x="990575" y="2961481"/>
            <a:ext cx="2025128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Automatic request validation</a:t>
            </a:r>
            <a:endParaRPr lang="en-US" sz="850" dirty="0"/>
          </a:p>
        </p:txBody>
      </p:sp>
      <p:sp>
        <p:nvSpPr>
          <p:cNvPr id="20" name="Text 20"/>
          <p:cNvSpPr/>
          <p:nvPr/>
        </p:nvSpPr>
        <p:spPr>
          <a:xfrm>
            <a:off x="990575" y="3107531"/>
            <a:ext cx="327413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Zod parses and validates every incoming request body</a:t>
            </a:r>
            <a:endParaRPr lang="en-US" sz="750" dirty="0"/>
          </a:p>
        </p:txBody>
      </p:sp>
      <p:sp>
        <p:nvSpPr>
          <p:cNvPr id="21" name="Text 21"/>
          <p:cNvSpPr/>
          <p:nvPr/>
        </p:nvSpPr>
        <p:spPr>
          <a:xfrm>
            <a:off x="708603" y="3431381"/>
            <a:ext cx="13344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700" dirty="0"/>
          </a:p>
        </p:txBody>
      </p:sp>
      <p:sp>
        <p:nvSpPr>
          <p:cNvPr id="22" name="Text 22"/>
          <p:cNvSpPr/>
          <p:nvPr/>
        </p:nvSpPr>
        <p:spPr>
          <a:xfrm>
            <a:off x="990575" y="3355181"/>
            <a:ext cx="1521854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OpenAPI docs for free</a:t>
            </a:r>
            <a:endParaRPr lang="en-US" sz="850" dirty="0"/>
          </a:p>
        </p:txBody>
      </p:sp>
      <p:sp>
        <p:nvSpPr>
          <p:cNvPr id="23" name="Text 23"/>
          <p:cNvSpPr/>
          <p:nvPr/>
        </p:nvSpPr>
        <p:spPr>
          <a:xfrm>
            <a:off x="990575" y="3501231"/>
            <a:ext cx="3722470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Generate Swagger UI from your Zod schemas — always in sync</a:t>
            </a:r>
            <a:endParaRPr lang="en-US" sz="750" dirty="0"/>
          </a:p>
        </p:txBody>
      </p:sp>
      <p:sp>
        <p:nvSpPr>
          <p:cNvPr id="24" name="Text 24"/>
          <p:cNvSpPr/>
          <p:nvPr/>
        </p:nvSpPr>
        <p:spPr>
          <a:xfrm>
            <a:off x="6076798" y="1095375"/>
            <a:ext cx="857229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routes/users.ts</a:t>
            </a:r>
            <a:endParaRPr lang="en-US" sz="600" dirty="0"/>
          </a:p>
        </p:txBody>
      </p:sp>
      <p:sp>
        <p:nvSpPr>
          <p:cNvPr id="25" name="Text 25"/>
          <p:cNvSpPr/>
          <p:nvPr/>
        </p:nvSpPr>
        <p:spPr>
          <a:xfrm>
            <a:off x="6152996" y="1454150"/>
            <a:ext cx="1533760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z }</a:t>
            </a: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7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'zod'</a:t>
            </a:r>
            <a:endParaRPr lang="en-US" sz="700" dirty="0"/>
          </a:p>
        </p:txBody>
      </p:sp>
      <p:sp>
        <p:nvSpPr>
          <p:cNvPr id="26" name="Text 26"/>
          <p:cNvSpPr/>
          <p:nvPr/>
        </p:nvSpPr>
        <p:spPr>
          <a:xfrm>
            <a:off x="6152996" y="1623020"/>
            <a:ext cx="180052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Hono }</a:t>
            </a: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7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'hono'</a:t>
            </a:r>
            <a:endParaRPr lang="en-US" sz="700" dirty="0"/>
          </a:p>
        </p:txBody>
      </p:sp>
      <p:sp>
        <p:nvSpPr>
          <p:cNvPr id="27" name="Text 27"/>
          <p:cNvSpPr/>
          <p:nvPr/>
        </p:nvSpPr>
        <p:spPr>
          <a:xfrm>
            <a:off x="6152996" y="1791891"/>
            <a:ext cx="320071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zValidator }</a:t>
            </a: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7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'@hono/zod-validator'</a:t>
            </a:r>
            <a:endParaRPr lang="en-US" sz="700" dirty="0"/>
          </a:p>
        </p:txBody>
      </p:sp>
      <p:sp>
        <p:nvSpPr>
          <p:cNvPr id="28" name="Text 28"/>
          <p:cNvSpPr/>
          <p:nvPr/>
        </p:nvSpPr>
        <p:spPr>
          <a:xfrm>
            <a:off x="6152996" y="2129631"/>
            <a:ext cx="1800279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Define the contract once</a:t>
            </a:r>
            <a:endParaRPr lang="en-US" sz="700" dirty="0"/>
          </a:p>
        </p:txBody>
      </p:sp>
      <p:sp>
        <p:nvSpPr>
          <p:cNvPr id="29" name="Text 29"/>
          <p:cNvSpPr/>
          <p:nvPr/>
        </p:nvSpPr>
        <p:spPr>
          <a:xfrm>
            <a:off x="6152996" y="2298502"/>
            <a:ext cx="1933725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7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CreateUser</a:t>
            </a: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z.object({</a:t>
            </a:r>
            <a:endParaRPr lang="en-US" sz="700" dirty="0"/>
          </a:p>
        </p:txBody>
      </p:sp>
      <p:sp>
        <p:nvSpPr>
          <p:cNvPr id="30" name="Text 30"/>
          <p:cNvSpPr/>
          <p:nvPr/>
        </p:nvSpPr>
        <p:spPr>
          <a:xfrm>
            <a:off x="6152996" y="2467372"/>
            <a:ext cx="1600358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name: z.string().min(</a:t>
            </a:r>
            <a:r>
              <a:rPr lang="en-US" sz="7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</a:t>
            </a:r>
            <a:endParaRPr lang="en-US" sz="700" dirty="0"/>
          </a:p>
        </p:txBody>
      </p:sp>
      <p:sp>
        <p:nvSpPr>
          <p:cNvPr id="31" name="Text 31"/>
          <p:cNvSpPr/>
          <p:nvPr/>
        </p:nvSpPr>
        <p:spPr>
          <a:xfrm>
            <a:off x="6152996" y="2636242"/>
            <a:ext cx="173355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email: z.string().email(),</a:t>
            </a:r>
            <a:endParaRPr lang="en-US" sz="700" dirty="0"/>
          </a:p>
        </p:txBody>
      </p:sp>
      <p:sp>
        <p:nvSpPr>
          <p:cNvPr id="32" name="Text 32"/>
          <p:cNvSpPr/>
          <p:nvPr/>
        </p:nvSpPr>
        <p:spPr>
          <a:xfrm>
            <a:off x="6152996" y="2805112"/>
            <a:ext cx="2133894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role: z.enum([</a:t>
            </a:r>
            <a:r>
              <a:rPr lang="en-US" sz="7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'admin'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 </a:t>
            </a:r>
            <a:r>
              <a:rPr lang="en-US" sz="7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'user'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]),</a:t>
            </a:r>
            <a:endParaRPr lang="en-US" sz="700" dirty="0"/>
          </a:p>
        </p:txBody>
      </p:sp>
      <p:sp>
        <p:nvSpPr>
          <p:cNvPr id="33" name="Text 33"/>
          <p:cNvSpPr/>
          <p:nvPr/>
        </p:nvSpPr>
        <p:spPr>
          <a:xfrm>
            <a:off x="6152996" y="2973983"/>
            <a:ext cx="13344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</a:t>
            </a:r>
            <a:endParaRPr lang="en-US" sz="700" dirty="0"/>
          </a:p>
        </p:txBody>
      </p:sp>
      <p:sp>
        <p:nvSpPr>
          <p:cNvPr id="34" name="Text 34"/>
          <p:cNvSpPr/>
          <p:nvPr/>
        </p:nvSpPr>
        <p:spPr>
          <a:xfrm>
            <a:off x="6152996" y="3311723"/>
            <a:ext cx="233356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Route is fully typed + validated</a:t>
            </a:r>
            <a:endParaRPr lang="en-US" sz="700" dirty="0"/>
          </a:p>
        </p:txBody>
      </p:sp>
      <p:sp>
        <p:nvSpPr>
          <p:cNvPr id="35" name="Text 35"/>
          <p:cNvSpPr/>
          <p:nvPr/>
        </p:nvSpPr>
        <p:spPr>
          <a:xfrm>
            <a:off x="6152996" y="3480594"/>
            <a:ext cx="600134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app.post(</a:t>
            </a:r>
            <a:endParaRPr lang="en-US" sz="700" dirty="0"/>
          </a:p>
        </p:txBody>
      </p:sp>
      <p:sp>
        <p:nvSpPr>
          <p:cNvPr id="36" name="Text 36"/>
          <p:cNvSpPr/>
          <p:nvPr/>
        </p:nvSpPr>
        <p:spPr>
          <a:xfrm>
            <a:off x="6152996" y="3649464"/>
            <a:ext cx="600134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'/users'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700" dirty="0"/>
          </a:p>
        </p:txBody>
      </p:sp>
      <p:sp>
        <p:nvSpPr>
          <p:cNvPr id="37" name="Text 37"/>
          <p:cNvSpPr/>
          <p:nvPr/>
        </p:nvSpPr>
        <p:spPr>
          <a:xfrm>
            <a:off x="6152996" y="3818334"/>
            <a:ext cx="206704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zValidator(</a:t>
            </a:r>
            <a:r>
              <a:rPr lang="en-US" sz="7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'json'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CreateUser),</a:t>
            </a:r>
            <a:endParaRPr lang="en-US" sz="700" dirty="0"/>
          </a:p>
        </p:txBody>
      </p:sp>
      <p:sp>
        <p:nvSpPr>
          <p:cNvPr id="38" name="Text 38"/>
          <p:cNvSpPr/>
          <p:nvPr/>
        </p:nvSpPr>
        <p:spPr>
          <a:xfrm>
            <a:off x="6152996" y="3987205"/>
            <a:ext cx="933625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(c) </a:t>
            </a: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=&gt;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{</a:t>
            </a:r>
            <a:endParaRPr lang="en-US" sz="700" dirty="0"/>
          </a:p>
        </p:txBody>
      </p:sp>
      <p:sp>
        <p:nvSpPr>
          <p:cNvPr id="39" name="Text 39"/>
          <p:cNvSpPr/>
          <p:nvPr/>
        </p:nvSpPr>
        <p:spPr>
          <a:xfrm>
            <a:off x="6152996" y="4156075"/>
            <a:ext cx="2000200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body is typed as CreateUser</a:t>
            </a:r>
            <a:endParaRPr lang="en-US" sz="700" dirty="0"/>
          </a:p>
        </p:txBody>
      </p:sp>
      <p:sp>
        <p:nvSpPr>
          <p:cNvPr id="40" name="Text 40"/>
          <p:cNvSpPr/>
          <p:nvPr/>
        </p:nvSpPr>
        <p:spPr>
          <a:xfrm>
            <a:off x="6152996" y="4324945"/>
            <a:ext cx="2133770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body </a:t>
            </a: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c.req.valid(</a:t>
            </a:r>
            <a:r>
              <a:rPr lang="en-US" sz="7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'json'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700" dirty="0"/>
          </a:p>
        </p:txBody>
      </p:sp>
      <p:sp>
        <p:nvSpPr>
          <p:cNvPr id="41" name="Text 41"/>
          <p:cNvSpPr/>
          <p:nvPr/>
        </p:nvSpPr>
        <p:spPr>
          <a:xfrm>
            <a:off x="6152996" y="4493816"/>
            <a:ext cx="2333815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user </a:t>
            </a: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db.insert(users)</a:t>
            </a:r>
            <a:endParaRPr lang="en-US" sz="700" dirty="0"/>
          </a:p>
        </p:txBody>
      </p:sp>
      <p:sp>
        <p:nvSpPr>
          <p:cNvPr id="42" name="Text 42"/>
          <p:cNvSpPr/>
          <p:nvPr/>
        </p:nvSpPr>
        <p:spPr>
          <a:xfrm>
            <a:off x="6152996" y="4662686"/>
            <a:ext cx="1666833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.values(body).returning()</a:t>
            </a:r>
            <a:endParaRPr lang="en-US" sz="700" dirty="0"/>
          </a:p>
        </p:txBody>
      </p:sp>
      <p:sp>
        <p:nvSpPr>
          <p:cNvPr id="43" name="Text 43"/>
          <p:cNvSpPr/>
          <p:nvPr/>
        </p:nvSpPr>
        <p:spPr>
          <a:xfrm>
            <a:off x="6152996" y="4831556"/>
            <a:ext cx="1600358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c.json(user, </a:t>
            </a:r>
            <a:r>
              <a:rPr lang="en-US" sz="7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</a:t>
            </a: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700" dirty="0"/>
          </a:p>
        </p:txBody>
      </p:sp>
      <p:sp>
        <p:nvSpPr>
          <p:cNvPr id="44" name="Text 44"/>
          <p:cNvSpPr/>
          <p:nvPr/>
        </p:nvSpPr>
        <p:spPr>
          <a:xfrm>
            <a:off x="6152996" y="5000427"/>
            <a:ext cx="66723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}</a:t>
            </a:r>
            <a:endParaRPr lang="en-US" sz="700" dirty="0"/>
          </a:p>
        </p:txBody>
      </p:sp>
      <p:sp>
        <p:nvSpPr>
          <p:cNvPr id="45" name="Text 45"/>
          <p:cNvSpPr/>
          <p:nvPr/>
        </p:nvSpPr>
        <p:spPr>
          <a:xfrm>
            <a:off x="6152996" y="5169297"/>
            <a:ext cx="66723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90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2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508000"/>
            <a:ext cx="1748786" cy="279400"/>
          </a:xfrm>
          <a:prstGeom prst="roundRect">
            <a:avLst>
              <a:gd name="adj" fmla="val 22727"/>
            </a:avLst>
          </a:prstGeom>
          <a:solidFill>
            <a:srgbClr val="FBBF24">
              <a:alpha val="10000"/>
            </a:srgbClr>
          </a:solidFill>
          <a:ln w="6350">
            <a:solidFill>
              <a:srgbClr val="FBBF24"/>
            </a:solidFill>
          </a:ln>
        </p:spPr>
      </p:sp>
      <p:sp>
        <p:nvSpPr>
          <p:cNvPr id="4" name="Shape 4"/>
          <p:cNvSpPr/>
          <p:nvPr/>
        </p:nvSpPr>
        <p:spPr>
          <a:xfrm>
            <a:off x="634984" y="2806700"/>
            <a:ext cx="6400640" cy="4445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</p:sp>
      <p:sp>
        <p:nvSpPr>
          <p:cNvPr id="5" name="Shape 5"/>
          <p:cNvSpPr/>
          <p:nvPr/>
        </p:nvSpPr>
        <p:spPr>
          <a:xfrm>
            <a:off x="793730" y="2940050"/>
            <a:ext cx="177796" cy="177800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FBBF24"/>
            </a:solidFill>
          </a:ln>
        </p:spPr>
      </p:sp>
      <p:sp>
        <p:nvSpPr>
          <p:cNvPr id="6" name="Shape 6"/>
          <p:cNvSpPr/>
          <p:nvPr/>
        </p:nvSpPr>
        <p:spPr>
          <a:xfrm>
            <a:off x="634984" y="3327400"/>
            <a:ext cx="6400640" cy="4445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</p:sp>
      <p:sp>
        <p:nvSpPr>
          <p:cNvPr id="7" name="Shape 7"/>
          <p:cNvSpPr/>
          <p:nvPr/>
        </p:nvSpPr>
        <p:spPr>
          <a:xfrm>
            <a:off x="793730" y="3460750"/>
            <a:ext cx="177796" cy="177800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FBBF24"/>
            </a:solidFill>
          </a:ln>
        </p:spPr>
      </p:sp>
      <p:sp>
        <p:nvSpPr>
          <p:cNvPr id="8" name="Shape 8"/>
          <p:cNvSpPr/>
          <p:nvPr/>
        </p:nvSpPr>
        <p:spPr>
          <a:xfrm>
            <a:off x="634984" y="3848100"/>
            <a:ext cx="6400640" cy="4445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</p:sp>
      <p:sp>
        <p:nvSpPr>
          <p:cNvPr id="9" name="Shape 9"/>
          <p:cNvSpPr/>
          <p:nvPr/>
        </p:nvSpPr>
        <p:spPr>
          <a:xfrm>
            <a:off x="793730" y="3981450"/>
            <a:ext cx="177796" cy="177800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FBBF2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34984" y="4368800"/>
            <a:ext cx="6400640" cy="4445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93730" y="4502150"/>
            <a:ext cx="177796" cy="177800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FBBF24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34984" y="4889500"/>
            <a:ext cx="6400640" cy="4445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</p:sp>
      <p:sp>
        <p:nvSpPr>
          <p:cNvPr id="13" name="Shape 13"/>
          <p:cNvSpPr/>
          <p:nvPr/>
        </p:nvSpPr>
        <p:spPr>
          <a:xfrm>
            <a:off x="793730" y="5022850"/>
            <a:ext cx="177796" cy="177800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3E635"/>
            </a:solidFill>
          </a:ln>
        </p:spPr>
      </p:sp>
      <p:sp>
        <p:nvSpPr>
          <p:cNvPr id="14" name="Shape 14"/>
          <p:cNvSpPr/>
          <p:nvPr/>
        </p:nvSpPr>
        <p:spPr>
          <a:xfrm>
            <a:off x="7289618" y="2806700"/>
            <a:ext cx="4267093" cy="2324100"/>
          </a:xfrm>
          <a:prstGeom prst="roundRect">
            <a:avLst>
              <a:gd name="adj" fmla="val 3279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</p:sp>
      <p:sp>
        <p:nvSpPr>
          <p:cNvPr id="15" name="Text 15"/>
          <p:cNvSpPr/>
          <p:nvPr/>
        </p:nvSpPr>
        <p:spPr>
          <a:xfrm>
            <a:off x="793730" y="590550"/>
            <a:ext cx="178911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 2 · 10 MINUTES</a:t>
            </a:r>
            <a:endParaRPr lang="en-US" sz="700" dirty="0"/>
          </a:p>
        </p:txBody>
      </p:sp>
      <p:sp>
        <p:nvSpPr>
          <p:cNvPr id="16" name="Text 16"/>
          <p:cNvSpPr/>
          <p:nvPr/>
        </p:nvSpPr>
        <p:spPr>
          <a:xfrm>
            <a:off x="634984" y="1123950"/>
            <a:ext cx="600060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15000"/>
              </a:lnSpc>
              <a:buNone/>
            </a:pPr>
            <a:r>
              <a:rPr lang="en-US" sz="2800" dirty="0" b="1" spc="-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Build a </a:t>
            </a:r>
            <a:r>
              <a:rPr lang="en-US" sz="2800" dirty="0" b="1" spc="-1">
                <a:solidFill>
                  <a:srgbClr val="FBBF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CRUD API</a:t>
            </a:r>
            <a:r>
              <a:rPr lang="en-US" sz="2800" dirty="0" b="1" spc="-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for a</a:t>
            </a:r>
            <a:endParaRPr lang="en-US" sz="28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15000"/>
              </a:lnSpc>
              <a:buNone/>
            </a:pPr>
            <a:r>
              <a:rPr lang="en-US" sz="2800" dirty="0" b="1" spc="-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todo list. </a:t>
            </a:r>
            <a:endParaRPr lang="en-US" sz="2800" dirty="0"/>
          </a:p>
        </p:txBody>
      </p:sp>
      <p:sp>
        <p:nvSpPr>
          <p:cNvPr id="17" name="Text 17"/>
          <p:cNvSpPr/>
          <p:nvPr/>
        </p:nvSpPr>
        <p:spPr>
          <a:xfrm>
            <a:off x="634984" y="2540000"/>
            <a:ext cx="841230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FBBF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YOUR TASKS</a:t>
            </a:r>
            <a:endParaRPr lang="en-US" sz="700" dirty="0"/>
          </a:p>
        </p:txBody>
      </p:sp>
      <p:sp>
        <p:nvSpPr>
          <p:cNvPr id="18" name="Text 18"/>
          <p:cNvSpPr/>
          <p:nvPr/>
        </p:nvSpPr>
        <p:spPr>
          <a:xfrm>
            <a:off x="857824" y="2974975"/>
            <a:ext cx="62010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650" dirty="0"/>
          </a:p>
        </p:txBody>
      </p:sp>
      <p:sp>
        <p:nvSpPr>
          <p:cNvPr id="19" name="Text 19"/>
          <p:cNvSpPr/>
          <p:nvPr/>
        </p:nvSpPr>
        <p:spPr>
          <a:xfrm>
            <a:off x="1073123" y="2962275"/>
            <a:ext cx="3508783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Define a </a:t>
            </a:r>
            <a:r>
              <a:rPr lang="en-US" sz="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TodoSchema</a:t>
            </a:r>
            <a:r>
              <a:rPr lang="en-US" sz="800" dirty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with Zod (title, completed, priority)</a:t>
            </a:r>
            <a:endParaRPr lang="en-US" sz="800" dirty="0"/>
          </a:p>
        </p:txBody>
      </p:sp>
      <p:sp>
        <p:nvSpPr>
          <p:cNvPr id="20" name="Text 20"/>
          <p:cNvSpPr/>
          <p:nvPr/>
        </p:nvSpPr>
        <p:spPr>
          <a:xfrm>
            <a:off x="857824" y="3495675"/>
            <a:ext cx="62010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650" dirty="0"/>
          </a:p>
        </p:txBody>
      </p:sp>
      <p:sp>
        <p:nvSpPr>
          <p:cNvPr id="21" name="Text 21"/>
          <p:cNvSpPr/>
          <p:nvPr/>
        </p:nvSpPr>
        <p:spPr>
          <a:xfrm>
            <a:off x="1073123" y="3482975"/>
            <a:ext cx="3375213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Create </a:t>
            </a:r>
            <a:r>
              <a:rPr lang="en-US" sz="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/todos</a:t>
            </a:r>
            <a:r>
              <a:rPr lang="en-US" sz="800" dirty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with optional </a:t>
            </a:r>
            <a:r>
              <a:rPr lang="en-US" sz="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?completed=true</a:t>
            </a:r>
            <a:r>
              <a:rPr lang="en-US" sz="800" dirty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filter</a:t>
            </a:r>
            <a:endParaRPr lang="en-US" sz="800" dirty="0"/>
          </a:p>
        </p:txBody>
      </p:sp>
      <p:sp>
        <p:nvSpPr>
          <p:cNvPr id="22" name="Text 22"/>
          <p:cNvSpPr/>
          <p:nvPr/>
        </p:nvSpPr>
        <p:spPr>
          <a:xfrm>
            <a:off x="857824" y="4016375"/>
            <a:ext cx="62010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650" dirty="0"/>
          </a:p>
        </p:txBody>
      </p:sp>
      <p:sp>
        <p:nvSpPr>
          <p:cNvPr id="23" name="Text 23"/>
          <p:cNvSpPr/>
          <p:nvPr/>
        </p:nvSpPr>
        <p:spPr>
          <a:xfrm>
            <a:off x="1073123" y="4003675"/>
            <a:ext cx="2909889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Create </a:t>
            </a:r>
            <a:r>
              <a:rPr lang="en-US" sz="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/todos</a:t>
            </a:r>
            <a:r>
              <a:rPr lang="en-US" sz="800" dirty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with validated JSON body</a:t>
            </a:r>
            <a:endParaRPr lang="en-US" sz="800" dirty="0"/>
          </a:p>
        </p:txBody>
      </p:sp>
      <p:sp>
        <p:nvSpPr>
          <p:cNvPr id="24" name="Text 24"/>
          <p:cNvSpPr/>
          <p:nvPr/>
        </p:nvSpPr>
        <p:spPr>
          <a:xfrm>
            <a:off x="857824" y="4537075"/>
            <a:ext cx="62010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650" dirty="0"/>
          </a:p>
        </p:txBody>
      </p:sp>
      <p:sp>
        <p:nvSpPr>
          <p:cNvPr id="25" name="Text 25"/>
          <p:cNvSpPr/>
          <p:nvPr/>
        </p:nvSpPr>
        <p:spPr>
          <a:xfrm>
            <a:off x="1073123" y="4524375"/>
            <a:ext cx="3303778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Create </a:t>
            </a:r>
            <a:r>
              <a:rPr lang="en-US" sz="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PATCH /todos/:id</a:t>
            </a:r>
            <a:r>
              <a:rPr lang="en-US" sz="800" dirty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with partial update schema</a:t>
            </a:r>
            <a:endParaRPr lang="en-US" sz="800" dirty="0"/>
          </a:p>
        </p:txBody>
      </p:sp>
      <p:sp>
        <p:nvSpPr>
          <p:cNvPr id="26" name="Text 26"/>
          <p:cNvSpPr/>
          <p:nvPr/>
        </p:nvSpPr>
        <p:spPr>
          <a:xfrm>
            <a:off x="857725" y="5057775"/>
            <a:ext cx="62134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★</a:t>
            </a:r>
            <a:endParaRPr lang="en-US" sz="650" dirty="0"/>
          </a:p>
        </p:txBody>
      </p:sp>
      <p:sp>
        <p:nvSpPr>
          <p:cNvPr id="27" name="Text 27"/>
          <p:cNvSpPr/>
          <p:nvPr/>
        </p:nvSpPr>
        <p:spPr>
          <a:xfrm>
            <a:off x="1073123" y="5045075"/>
            <a:ext cx="2869210" cy="142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00" dirty="0">
                <a:solidFill>
                  <a:srgbClr val="A3E6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Bonus: Add pagination with </a:t>
            </a:r>
            <a:r>
              <a:rPr lang="en-US" sz="7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?page=1&amp;limit=10</a:t>
            </a:r>
            <a:endParaRPr lang="en-US" sz="700" dirty="0"/>
          </a:p>
        </p:txBody>
      </p:sp>
      <p:sp>
        <p:nvSpPr>
          <p:cNvPr id="28" name="Text 28"/>
          <p:cNvSpPr/>
          <p:nvPr/>
        </p:nvSpPr>
        <p:spPr>
          <a:xfrm>
            <a:off x="7289618" y="2540000"/>
            <a:ext cx="417825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HINTS</a:t>
            </a:r>
            <a:endParaRPr lang="en-US" sz="700" dirty="0"/>
          </a:p>
        </p:txBody>
      </p:sp>
      <p:sp>
        <p:nvSpPr>
          <p:cNvPr id="29" name="Text 29"/>
          <p:cNvSpPr/>
          <p:nvPr/>
        </p:nvSpPr>
        <p:spPr>
          <a:xfrm>
            <a:off x="7473763" y="3022600"/>
            <a:ext cx="1933601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Partial schemas for PATCH:</a:t>
            </a:r>
            <a:endParaRPr lang="en-US" sz="700" dirty="0"/>
          </a:p>
        </p:txBody>
      </p:sp>
      <p:sp>
        <p:nvSpPr>
          <p:cNvPr id="30" name="Text 30"/>
          <p:cNvSpPr/>
          <p:nvPr/>
        </p:nvSpPr>
        <p:spPr>
          <a:xfrm>
            <a:off x="7473763" y="3200400"/>
            <a:ext cx="133346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00" dirty="0">
                <a:solidFill>
                  <a:srgbClr val="E2E8F0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CreateTodo</a:t>
            </a:r>
            <a:r>
              <a:rPr lang="en-US" sz="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.partial()</a:t>
            </a:r>
            <a:endParaRPr lang="en-US" sz="700" dirty="0"/>
          </a:p>
        </p:txBody>
      </p:sp>
      <p:sp>
        <p:nvSpPr>
          <p:cNvPr id="31" name="Text 31"/>
          <p:cNvSpPr/>
          <p:nvPr/>
        </p:nvSpPr>
        <p:spPr>
          <a:xfrm>
            <a:off x="7473763" y="3556000"/>
            <a:ext cx="173355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Query param validation:</a:t>
            </a:r>
            <a:endParaRPr lang="en-US" sz="700" dirty="0"/>
          </a:p>
        </p:txBody>
      </p:sp>
      <p:sp>
        <p:nvSpPr>
          <p:cNvPr id="32" name="Text 32"/>
          <p:cNvSpPr/>
          <p:nvPr/>
        </p:nvSpPr>
        <p:spPr>
          <a:xfrm>
            <a:off x="7473763" y="3733800"/>
            <a:ext cx="1800403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00" dirty="0">
                <a:solidFill>
                  <a:srgbClr val="E2E8F0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zValidator(</a:t>
            </a:r>
            <a:r>
              <a:rPr lang="en-US" sz="700" dirty="0">
                <a:solidFill>
                  <a:srgbClr val="A5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'query'</a:t>
            </a:r>
            <a:r>
              <a:rPr lang="en-US" sz="700" dirty="0">
                <a:solidFill>
                  <a:srgbClr val="E2E8F0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schema)</a:t>
            </a:r>
            <a:endParaRPr lang="en-US" sz="700" dirty="0"/>
          </a:p>
        </p:txBody>
      </p:sp>
      <p:sp>
        <p:nvSpPr>
          <p:cNvPr id="33" name="Text 33"/>
          <p:cNvSpPr/>
          <p:nvPr/>
        </p:nvSpPr>
        <p:spPr>
          <a:xfrm>
            <a:off x="7473763" y="4089400"/>
            <a:ext cx="1600234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Coerce query strings:</a:t>
            </a:r>
            <a:endParaRPr lang="en-US" sz="700" dirty="0"/>
          </a:p>
        </p:txBody>
      </p:sp>
      <p:sp>
        <p:nvSpPr>
          <p:cNvPr id="34" name="Text 34"/>
          <p:cNvSpPr/>
          <p:nvPr/>
        </p:nvSpPr>
        <p:spPr>
          <a:xfrm>
            <a:off x="7473763" y="4267200"/>
            <a:ext cx="1867002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00" dirty="0">
                <a:solidFill>
                  <a:srgbClr val="E2E8F0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z.coerce.number().default(</a:t>
            </a:r>
            <a:r>
              <a:rPr lang="en-US" sz="700" dirty="0">
                <a:solidFill>
                  <a:srgbClr val="79C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700" dirty="0">
                <a:solidFill>
                  <a:srgbClr val="E2E8F0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700" dirty="0"/>
          </a:p>
        </p:txBody>
      </p:sp>
      <p:sp>
        <p:nvSpPr>
          <p:cNvPr id="35" name="Text 35"/>
          <p:cNvSpPr/>
          <p:nvPr/>
        </p:nvSpPr>
        <p:spPr>
          <a:xfrm>
            <a:off x="7473763" y="4622800"/>
            <a:ext cx="1466913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Check the solution:</a:t>
            </a:r>
            <a:endParaRPr lang="en-US" sz="700" dirty="0"/>
          </a:p>
        </p:txBody>
      </p:sp>
      <p:sp>
        <p:nvSpPr>
          <p:cNvPr id="36" name="Text 36"/>
          <p:cNvSpPr/>
          <p:nvPr/>
        </p:nvSpPr>
        <p:spPr>
          <a:xfrm>
            <a:off x="7473763" y="4800600"/>
            <a:ext cx="173355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00" dirty="0">
                <a:solidFill>
                  <a:srgbClr val="E2E8F0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checkout </a:t>
            </a:r>
            <a:r>
              <a:rPr lang="en-US" sz="7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solution/ex-2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1905000"/>
            <a:ext cx="5359266" cy="2155825"/>
          </a:xfrm>
          <a:prstGeom prst="roundRect">
            <a:avLst>
              <a:gd name="adj" fmla="val 4713"/>
            </a:avLst>
          </a:prstGeom>
          <a:solidFill>
            <a:srgbClr val="DC2626">
              <a:alpha val="4000"/>
            </a:srgbClr>
          </a:solidFill>
          <a:ln w="6350">
            <a:solidFill>
              <a:srgbClr val="DC2626"/>
            </a:solidFill>
          </a:ln>
        </p:spPr>
      </p:sp>
      <p:sp>
        <p:nvSpPr>
          <p:cNvPr id="4" name="Shape 4"/>
          <p:cNvSpPr/>
          <p:nvPr/>
        </p:nvSpPr>
        <p:spPr>
          <a:xfrm>
            <a:off x="6197445" y="1905000"/>
            <a:ext cx="5359266" cy="2155825"/>
          </a:xfrm>
          <a:prstGeom prst="roundRect">
            <a:avLst>
              <a:gd name="adj" fmla="val 4713"/>
            </a:avLst>
          </a:prstGeom>
          <a:solidFill>
            <a:srgbClr val="22D3EE">
              <a:alpha val="4000"/>
            </a:srgbClr>
          </a:solidFill>
          <a:ln w="6350">
            <a:solidFill>
              <a:srgbClr val="22D3EE"/>
            </a:solidFill>
          </a:ln>
        </p:spPr>
      </p:sp>
      <p:sp>
        <p:nvSpPr>
          <p:cNvPr id="5" name="Shape 5"/>
          <p:cNvSpPr/>
          <p:nvPr/>
        </p:nvSpPr>
        <p:spPr>
          <a:xfrm>
            <a:off x="634984" y="5594350"/>
            <a:ext cx="10921727" cy="755650"/>
          </a:xfrm>
          <a:prstGeom prst="roundRect">
            <a:avLst>
              <a:gd name="adj" fmla="val 10084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</p:sp>
      <p:sp>
        <p:nvSpPr>
          <p:cNvPr id="6" name="Text 6"/>
          <p:cNvSpPr/>
          <p:nvPr/>
        </p:nvSpPr>
        <p:spPr>
          <a:xfrm>
            <a:off x="634984" y="508000"/>
            <a:ext cx="1077365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IT MATTERS</a:t>
            </a:r>
            <a:endParaRPr lang="en-US" sz="650" dirty="0"/>
          </a:p>
        </p:txBody>
      </p:sp>
      <p:sp>
        <p:nvSpPr>
          <p:cNvPr id="7" name="Text 7"/>
          <p:cNvSpPr/>
          <p:nvPr/>
        </p:nvSpPr>
        <p:spPr>
          <a:xfrm>
            <a:off x="11209950" y="508000"/>
            <a:ext cx="433451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08</a:t>
            </a:r>
            <a:endParaRPr lang="en-US" sz="650" dirty="0"/>
          </a:p>
        </p:txBody>
      </p:sp>
      <p:sp>
        <p:nvSpPr>
          <p:cNvPr id="8" name="Text 8"/>
          <p:cNvSpPr/>
          <p:nvPr/>
        </p:nvSpPr>
        <p:spPr>
          <a:xfrm>
            <a:off x="634984" y="1016000"/>
            <a:ext cx="2796038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b="1" spc="0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What changes. </a:t>
            </a:r>
            <a:endParaRPr lang="en-US" sz="2400" dirty="0"/>
          </a:p>
        </p:txBody>
      </p:sp>
      <p:sp>
        <p:nvSpPr>
          <p:cNvPr id="9" name="Text 9"/>
          <p:cNvSpPr/>
          <p:nvPr/>
        </p:nvSpPr>
        <p:spPr>
          <a:xfrm>
            <a:off x="895328" y="2165350"/>
            <a:ext cx="188287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EF444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BEFORE · UNTYPED EXPRESS</a:t>
            </a:r>
            <a:endParaRPr lang="en-US" sz="700" dirty="0"/>
          </a:p>
        </p:txBody>
      </p:sp>
      <p:sp>
        <p:nvSpPr>
          <p:cNvPr id="10" name="Text 10"/>
          <p:cNvSpPr/>
          <p:nvPr/>
        </p:nvSpPr>
        <p:spPr>
          <a:xfrm>
            <a:off x="895328" y="2495550"/>
            <a:ext cx="109014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✕</a:t>
            </a:r>
            <a:endParaRPr lang="en-US" sz="900" dirty="0"/>
          </a:p>
        </p:txBody>
      </p:sp>
      <p:sp>
        <p:nvSpPr>
          <p:cNvPr id="11" name="Text 11"/>
          <p:cNvSpPr/>
          <p:nvPr/>
        </p:nvSpPr>
        <p:spPr>
          <a:xfrm>
            <a:off x="1058737" y="2495550"/>
            <a:ext cx="3742686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Manual </a:t>
            </a:r>
            <a:r>
              <a:rPr lang="en-US" sz="700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req.body</a:t>
            </a:r>
            <a:r>
              <a:rPr lang="en-US" sz="850" dirty="0">
                <a:solidFill>
                  <a:srgbClr val="E2E8F0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parsing — crashes on malformed JSON </a:t>
            </a:r>
            <a:endParaRPr lang="en-US" sz="850" dirty="0"/>
          </a:p>
        </p:txBody>
      </p:sp>
      <p:sp>
        <p:nvSpPr>
          <p:cNvPr id="12" name="Text 12"/>
          <p:cNvSpPr/>
          <p:nvPr/>
        </p:nvSpPr>
        <p:spPr>
          <a:xfrm>
            <a:off x="895328" y="2784475"/>
            <a:ext cx="109014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✕</a:t>
            </a:r>
            <a:endParaRPr lang="en-US" sz="900" dirty="0"/>
          </a:p>
        </p:txBody>
      </p:sp>
      <p:sp>
        <p:nvSpPr>
          <p:cNvPr id="13" name="Text 13"/>
          <p:cNvSpPr/>
          <p:nvPr/>
        </p:nvSpPr>
        <p:spPr>
          <a:xfrm>
            <a:off x="1058737" y="2784475"/>
            <a:ext cx="3159914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API docs written by hand — stale within a week </a:t>
            </a:r>
            <a:endParaRPr lang="en-US" sz="850" dirty="0"/>
          </a:p>
        </p:txBody>
      </p:sp>
      <p:sp>
        <p:nvSpPr>
          <p:cNvPr id="14" name="Text 14"/>
          <p:cNvSpPr/>
          <p:nvPr/>
        </p:nvSpPr>
        <p:spPr>
          <a:xfrm>
            <a:off x="895328" y="3073400"/>
            <a:ext cx="109014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✕</a:t>
            </a:r>
            <a:endParaRPr lang="en-US" sz="900" dirty="0"/>
          </a:p>
        </p:txBody>
      </p:sp>
      <p:sp>
        <p:nvSpPr>
          <p:cNvPr id="15" name="Text 15"/>
          <p:cNvSpPr/>
          <p:nvPr/>
        </p:nvSpPr>
        <p:spPr>
          <a:xfrm>
            <a:off x="1058737" y="3073400"/>
            <a:ext cx="3013322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Type errors discovered in production at 3am </a:t>
            </a:r>
            <a:endParaRPr lang="en-US" sz="850" dirty="0"/>
          </a:p>
        </p:txBody>
      </p:sp>
      <p:sp>
        <p:nvSpPr>
          <p:cNvPr id="16" name="Text 16"/>
          <p:cNvSpPr/>
          <p:nvPr/>
        </p:nvSpPr>
        <p:spPr>
          <a:xfrm>
            <a:off x="895328" y="3362325"/>
            <a:ext cx="109014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✕</a:t>
            </a:r>
            <a:endParaRPr lang="en-US" sz="900" dirty="0"/>
          </a:p>
        </p:txBody>
      </p:sp>
      <p:sp>
        <p:nvSpPr>
          <p:cNvPr id="17" name="Text 17"/>
          <p:cNvSpPr/>
          <p:nvPr/>
        </p:nvSpPr>
        <p:spPr>
          <a:xfrm>
            <a:off x="1058737" y="3362325"/>
            <a:ext cx="2796163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Frontend and backend types drift silently </a:t>
            </a:r>
            <a:endParaRPr lang="en-US" sz="850" dirty="0"/>
          </a:p>
        </p:txBody>
      </p:sp>
      <p:sp>
        <p:nvSpPr>
          <p:cNvPr id="18" name="Text 18"/>
          <p:cNvSpPr/>
          <p:nvPr/>
        </p:nvSpPr>
        <p:spPr>
          <a:xfrm>
            <a:off x="895328" y="3651250"/>
            <a:ext cx="109014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✕</a:t>
            </a:r>
            <a:endParaRPr lang="en-US" sz="900" dirty="0"/>
          </a:p>
        </p:txBody>
      </p:sp>
      <p:sp>
        <p:nvSpPr>
          <p:cNvPr id="19" name="Text 19"/>
          <p:cNvSpPr/>
          <p:nvPr/>
        </p:nvSpPr>
        <p:spPr>
          <a:xfrm>
            <a:off x="1058737" y="3651250"/>
            <a:ext cx="3046684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400+ lines of validation boilerplate per route </a:t>
            </a:r>
            <a:endParaRPr lang="en-US" sz="850" dirty="0"/>
          </a:p>
        </p:txBody>
      </p:sp>
      <p:sp>
        <p:nvSpPr>
          <p:cNvPr id="20" name="Text 20"/>
          <p:cNvSpPr/>
          <p:nvPr/>
        </p:nvSpPr>
        <p:spPr>
          <a:xfrm>
            <a:off x="6457789" y="2165350"/>
            <a:ext cx="2087138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AFTER · HONO + ZOD + DRIZZLE</a:t>
            </a:r>
            <a:endParaRPr lang="en-US" sz="700" dirty="0"/>
          </a:p>
        </p:txBody>
      </p:sp>
      <p:sp>
        <p:nvSpPr>
          <p:cNvPr id="21" name="Text 21"/>
          <p:cNvSpPr/>
          <p:nvPr/>
        </p:nvSpPr>
        <p:spPr>
          <a:xfrm>
            <a:off x="6457789" y="2495550"/>
            <a:ext cx="109262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2"/>
          <p:cNvSpPr/>
          <p:nvPr/>
        </p:nvSpPr>
        <p:spPr>
          <a:xfrm>
            <a:off x="6621396" y="2495550"/>
            <a:ext cx="4361919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Auto-validated requests — invalid input returns 400 with details </a:t>
            </a:r>
            <a:endParaRPr lang="en-US" sz="850" dirty="0"/>
          </a:p>
        </p:txBody>
      </p:sp>
      <p:sp>
        <p:nvSpPr>
          <p:cNvPr id="23" name="Text 23"/>
          <p:cNvSpPr/>
          <p:nvPr/>
        </p:nvSpPr>
        <p:spPr>
          <a:xfrm>
            <a:off x="6457789" y="2784475"/>
            <a:ext cx="109262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4"/>
          <p:cNvSpPr/>
          <p:nvPr/>
        </p:nvSpPr>
        <p:spPr>
          <a:xfrm>
            <a:off x="6621396" y="2784475"/>
            <a:ext cx="3965426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OpenAPI spec generated from schemas — always accurate </a:t>
            </a:r>
            <a:endParaRPr lang="en-US" sz="850" dirty="0"/>
          </a:p>
        </p:txBody>
      </p:sp>
      <p:sp>
        <p:nvSpPr>
          <p:cNvPr id="25" name="Text 25"/>
          <p:cNvSpPr/>
          <p:nvPr/>
        </p:nvSpPr>
        <p:spPr>
          <a:xfrm>
            <a:off x="6457789" y="3073400"/>
            <a:ext cx="109262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6"/>
          <p:cNvSpPr/>
          <p:nvPr/>
        </p:nvSpPr>
        <p:spPr>
          <a:xfrm>
            <a:off x="6621396" y="3073400"/>
            <a:ext cx="3871543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Type errors caught at compile time — before code review </a:t>
            </a:r>
            <a:endParaRPr lang="en-US" sz="850" dirty="0"/>
          </a:p>
        </p:txBody>
      </p:sp>
      <p:sp>
        <p:nvSpPr>
          <p:cNvPr id="27" name="Text 27"/>
          <p:cNvSpPr/>
          <p:nvPr/>
        </p:nvSpPr>
        <p:spPr>
          <a:xfrm>
            <a:off x="6457789" y="3362325"/>
            <a:ext cx="109262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8"/>
          <p:cNvSpPr/>
          <p:nvPr/>
        </p:nvSpPr>
        <p:spPr>
          <a:xfrm>
            <a:off x="6621396" y="3362325"/>
            <a:ext cx="3592869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Shared Zod schemas between frontend and backend </a:t>
            </a:r>
            <a:endParaRPr lang="en-US" sz="850" dirty="0"/>
          </a:p>
        </p:txBody>
      </p:sp>
      <p:sp>
        <p:nvSpPr>
          <p:cNvPr id="29" name="Text 29"/>
          <p:cNvSpPr/>
          <p:nvPr/>
        </p:nvSpPr>
        <p:spPr>
          <a:xfrm>
            <a:off x="6457789" y="3651250"/>
            <a:ext cx="109262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30"/>
          <p:cNvSpPr/>
          <p:nvPr/>
        </p:nvSpPr>
        <p:spPr>
          <a:xfrm>
            <a:off x="6621396" y="3651250"/>
            <a:ext cx="2992115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>
                    <a:alpha val="7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5 lines of schema = validation + types + docs </a:t>
            </a:r>
            <a:endParaRPr lang="en-US" sz="850" dirty="0"/>
          </a:p>
        </p:txBody>
      </p:sp>
      <p:sp>
        <p:nvSpPr>
          <p:cNvPr id="31" name="Text 31"/>
          <p:cNvSpPr/>
          <p:nvPr/>
        </p:nvSpPr>
        <p:spPr>
          <a:xfrm>
            <a:off x="895328" y="5778500"/>
            <a:ext cx="845075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b="1">
                <a:solidFill>
                  <a:srgbClr val="A3E6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67%</a:t>
            </a:r>
            <a:endParaRPr lang="en-US" sz="2400" dirty="0"/>
          </a:p>
        </p:txBody>
      </p:sp>
      <p:sp>
        <p:nvSpPr>
          <p:cNvPr id="32" name="Text 32"/>
          <p:cNvSpPr/>
          <p:nvPr/>
        </p:nvSpPr>
        <p:spPr>
          <a:xfrm>
            <a:off x="1774582" y="5902325"/>
            <a:ext cx="8325361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fewer production type-related incidents in teams that adopted this stack (Source: 2025 State of TypeScript Report) 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2390775"/>
            <a:ext cx="10921727" cy="635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Shape 4"/>
          <p:cNvSpPr/>
          <p:nvPr/>
        </p:nvSpPr>
        <p:spPr>
          <a:xfrm>
            <a:off x="634984" y="3514725"/>
            <a:ext cx="10921727" cy="635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5"/>
          <p:cNvSpPr/>
          <p:nvPr/>
        </p:nvSpPr>
        <p:spPr>
          <a:xfrm>
            <a:off x="634984" y="508000"/>
            <a:ext cx="1050452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TAKEAWAYS</a:t>
            </a:r>
            <a:endParaRPr lang="en-US" sz="650" dirty="0"/>
          </a:p>
        </p:txBody>
      </p:sp>
      <p:sp>
        <p:nvSpPr>
          <p:cNvPr id="6" name="Text 6"/>
          <p:cNvSpPr/>
          <p:nvPr/>
        </p:nvSpPr>
        <p:spPr>
          <a:xfrm>
            <a:off x="11209950" y="508000"/>
            <a:ext cx="433451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08</a:t>
            </a:r>
            <a:endParaRPr lang="en-US" sz="650" dirty="0"/>
          </a:p>
        </p:txBody>
      </p:sp>
      <p:sp>
        <p:nvSpPr>
          <p:cNvPr id="7" name="Text 7"/>
          <p:cNvSpPr/>
          <p:nvPr/>
        </p:nvSpPr>
        <p:spPr>
          <a:xfrm>
            <a:off x="634984" y="1492250"/>
            <a:ext cx="761981" cy="711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00000"/>
              </a:lnSpc>
              <a:buNone/>
            </a:pPr>
            <a:r>
              <a:rPr lang="en-US" sz="4000" dirty="0" b="1">
                <a:solidFill>
                  <a:srgbClr val="22D3EE">
                    <a:alpha val="1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8"/>
          <p:cNvSpPr/>
          <p:nvPr/>
        </p:nvSpPr>
        <p:spPr>
          <a:xfrm>
            <a:off x="1650959" y="1574800"/>
            <a:ext cx="9722450" cy="284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0000"/>
              </a:lnSpc>
              <a:buNone/>
            </a:pPr>
            <a:r>
              <a:rPr lang="en-US" sz="160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Define your contract once — in Zod — and let everything else derive from it. </a:t>
            </a:r>
            <a:endParaRPr lang="en-US" sz="1600" dirty="0"/>
          </a:p>
        </p:txBody>
      </p:sp>
      <p:sp>
        <p:nvSpPr>
          <p:cNvPr id="9" name="Text 9"/>
          <p:cNvSpPr/>
          <p:nvPr/>
        </p:nvSpPr>
        <p:spPr>
          <a:xfrm>
            <a:off x="1650959" y="1915120"/>
            <a:ext cx="6764317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Types, validation, documentation, and client SDK generation. Single source of truth eliminates drift. </a:t>
            </a:r>
            <a:endParaRPr lang="en-US" sz="850" dirty="0"/>
          </a:p>
        </p:txBody>
      </p:sp>
      <p:sp>
        <p:nvSpPr>
          <p:cNvPr id="10" name="Text 10"/>
          <p:cNvSpPr/>
          <p:nvPr/>
        </p:nvSpPr>
        <p:spPr>
          <a:xfrm>
            <a:off x="634984" y="2616200"/>
            <a:ext cx="761981" cy="711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00000"/>
              </a:lnSpc>
              <a:buNone/>
            </a:pPr>
            <a:r>
              <a:rPr lang="en-US" sz="4000" dirty="0" b="1">
                <a:solidFill>
                  <a:srgbClr val="A3E635">
                    <a:alpha val="1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11"/>
          <p:cNvSpPr/>
          <p:nvPr/>
        </p:nvSpPr>
        <p:spPr>
          <a:xfrm>
            <a:off x="1650959" y="2698750"/>
            <a:ext cx="7975376" cy="284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0000"/>
              </a:lnSpc>
              <a:buNone/>
            </a:pPr>
            <a:r>
              <a:rPr lang="en-US" sz="160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Test the integration, not the units. Hit a real database in tests. </a:t>
            </a:r>
            <a:endParaRPr lang="en-US" sz="1600" dirty="0"/>
          </a:p>
        </p:txBody>
      </p:sp>
      <p:sp>
        <p:nvSpPr>
          <p:cNvPr id="12" name="Text 12"/>
          <p:cNvSpPr/>
          <p:nvPr/>
        </p:nvSpPr>
        <p:spPr>
          <a:xfrm>
            <a:off x="1650959" y="3039070"/>
            <a:ext cx="6522105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Docker Compose + test fixtures + transactions = fast, reliable, realistic tests that catch real bugs. </a:t>
            </a:r>
            <a:endParaRPr lang="en-US" sz="850" dirty="0"/>
          </a:p>
        </p:txBody>
      </p:sp>
      <p:sp>
        <p:nvSpPr>
          <p:cNvPr id="13" name="Text 13"/>
          <p:cNvSpPr/>
          <p:nvPr/>
        </p:nvSpPr>
        <p:spPr>
          <a:xfrm>
            <a:off x="634984" y="3740150"/>
            <a:ext cx="761981" cy="711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00000"/>
              </a:lnSpc>
              <a:buNone/>
            </a:pPr>
            <a:r>
              <a:rPr lang="en-US" sz="4000" dirty="0" b="1">
                <a:solidFill>
                  <a:srgbClr val="FBBF24">
                    <a:alpha val="1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4"/>
          <p:cNvSpPr/>
          <p:nvPr/>
        </p:nvSpPr>
        <p:spPr>
          <a:xfrm>
            <a:off x="1650959" y="3822700"/>
            <a:ext cx="7204465" cy="284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30000"/>
              </a:lnSpc>
              <a:buNone/>
            </a:pPr>
            <a:r>
              <a:rPr lang="en-US" sz="1600" dirty="0" b="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Ship on day one. Iterate from production, not localhost. </a:t>
            </a:r>
            <a:endParaRPr lang="en-US" sz="1600" dirty="0"/>
          </a:p>
        </p:txBody>
      </p:sp>
      <p:sp>
        <p:nvSpPr>
          <p:cNvPr id="15" name="Text 15"/>
          <p:cNvSpPr/>
          <p:nvPr/>
        </p:nvSpPr>
        <p:spPr>
          <a:xfrm>
            <a:off x="1650959" y="4163020"/>
            <a:ext cx="7274413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A deployed "hello world" with CI/CD is worth more than a perfect local setup. Get the pipeline working first. 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3"/>
          <p:cNvSpPr/>
          <p:nvPr/>
        </p:nvSpPr>
        <p:spPr>
          <a:xfrm>
            <a:off x="1523962" y="3048000"/>
            <a:ext cx="2963193" cy="78740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4614152" y="3048000"/>
            <a:ext cx="2963292" cy="78740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</p:sp>
      <p:sp>
        <p:nvSpPr>
          <p:cNvPr id="5" name="Shape 5"/>
          <p:cNvSpPr/>
          <p:nvPr/>
        </p:nvSpPr>
        <p:spPr>
          <a:xfrm>
            <a:off x="7704441" y="3048000"/>
            <a:ext cx="2963193" cy="78740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</p:sp>
      <p:sp>
        <p:nvSpPr>
          <p:cNvPr id="6" name="Shape 6"/>
          <p:cNvSpPr/>
          <p:nvPr/>
        </p:nvSpPr>
        <p:spPr>
          <a:xfrm>
            <a:off x="1523962" y="5788025"/>
            <a:ext cx="9143771" cy="635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7"/>
          <p:cNvSpPr/>
          <p:nvPr/>
        </p:nvSpPr>
        <p:spPr>
          <a:xfrm>
            <a:off x="-50" y="1270000"/>
            <a:ext cx="1280128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3600" dirty="0" b="1" spc="-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 Thanks for building</a:t>
            </a:r>
            <a:endParaRPr lang="en-US" sz="3600" dirty="0"/>
          </a:p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3600" dirty="0" b="1" spc="-1">
                <a:solidFill>
                  <a:srgbClr val="E2E8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with me today. </a:t>
            </a:r>
            <a:endParaRPr lang="en-US" sz="3600" dirty="0"/>
          </a:p>
        </p:txBody>
      </p:sp>
      <p:sp>
        <p:nvSpPr>
          <p:cNvPr id="8" name="Text 8"/>
          <p:cNvSpPr/>
          <p:nvPr/>
        </p:nvSpPr>
        <p:spPr>
          <a:xfrm>
            <a:off x="1708107" y="3232150"/>
            <a:ext cx="1158102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22D3E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WORKSHOP REPO</a:t>
            </a:r>
            <a:endParaRPr lang="en-US" sz="700" dirty="0"/>
          </a:p>
        </p:txBody>
      </p:sp>
      <p:sp>
        <p:nvSpPr>
          <p:cNvPr id="9" name="Text 9"/>
          <p:cNvSpPr/>
          <p:nvPr/>
        </p:nvSpPr>
        <p:spPr>
          <a:xfrm>
            <a:off x="1708107" y="3422650"/>
            <a:ext cx="27246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github.com/devon/</a:t>
            </a:r>
            <a:endParaRPr lang="en-US" sz="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ts-api-workshop </a:t>
            </a:r>
            <a:endParaRPr lang="en-US" sz="700" dirty="0"/>
          </a:p>
        </p:txBody>
      </p:sp>
      <p:sp>
        <p:nvSpPr>
          <p:cNvPr id="10" name="Text 10"/>
          <p:cNvSpPr/>
          <p:nvPr/>
        </p:nvSpPr>
        <p:spPr>
          <a:xfrm>
            <a:off x="4798297" y="3232150"/>
            <a:ext cx="1050700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A3E63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SLIDES &amp; NOTES</a:t>
            </a:r>
            <a:endParaRPr lang="en-US" sz="700" dirty="0"/>
          </a:p>
        </p:txBody>
      </p:sp>
      <p:sp>
        <p:nvSpPr>
          <p:cNvPr id="11" name="Text 11"/>
          <p:cNvSpPr/>
          <p:nvPr/>
        </p:nvSpPr>
        <p:spPr>
          <a:xfrm>
            <a:off x="4798297" y="3422650"/>
            <a:ext cx="272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devon.dev/talks/</a:t>
            </a:r>
            <a:endParaRPr lang="en-US" sz="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ts-api-workshop </a:t>
            </a:r>
            <a:endParaRPr lang="en-US" sz="700" dirty="0"/>
          </a:p>
        </p:txBody>
      </p:sp>
      <p:sp>
        <p:nvSpPr>
          <p:cNvPr id="12" name="Text 12"/>
          <p:cNvSpPr/>
          <p:nvPr/>
        </p:nvSpPr>
        <p:spPr>
          <a:xfrm>
            <a:off x="7888586" y="3232150"/>
            <a:ext cx="842470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FBBF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QUESTIONS?</a:t>
            </a:r>
            <a:endParaRPr lang="en-US" sz="700" dirty="0"/>
          </a:p>
        </p:txBody>
      </p:sp>
      <p:sp>
        <p:nvSpPr>
          <p:cNvPr id="13" name="Text 13"/>
          <p:cNvSpPr/>
          <p:nvPr/>
        </p:nvSpPr>
        <p:spPr>
          <a:xfrm>
            <a:off x="7888586" y="3422650"/>
            <a:ext cx="27246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Discord: devon.dev/chat</a:t>
            </a:r>
            <a:endParaRPr lang="en-US" sz="7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Twitter: @devonhartley </a:t>
            </a:r>
            <a:endParaRPr lang="en-US" sz="700" dirty="0"/>
          </a:p>
        </p:txBody>
      </p:sp>
      <p:sp>
        <p:nvSpPr>
          <p:cNvPr id="14" name="Text 14"/>
          <p:cNvSpPr/>
          <p:nvPr/>
        </p:nvSpPr>
        <p:spPr>
          <a:xfrm>
            <a:off x="1523962" y="5978525"/>
            <a:ext cx="1231522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64748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FURTHER READING</a:t>
            </a:r>
            <a:endParaRPr lang="en-US" sz="700" dirty="0"/>
          </a:p>
        </p:txBody>
      </p:sp>
      <p:sp>
        <p:nvSpPr>
          <p:cNvPr id="15" name="Text 15"/>
          <p:cNvSpPr/>
          <p:nvPr/>
        </p:nvSpPr>
        <p:spPr>
          <a:xfrm>
            <a:off x="2763173" y="5975350"/>
            <a:ext cx="899768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>
                    <a:alpha val="5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hono.dev/docs</a:t>
            </a:r>
            <a:endParaRPr lang="en-US" sz="750" dirty="0"/>
          </a:p>
        </p:txBody>
      </p:sp>
      <p:sp>
        <p:nvSpPr>
          <p:cNvPr id="16" name="Text 16"/>
          <p:cNvSpPr/>
          <p:nvPr/>
        </p:nvSpPr>
        <p:spPr>
          <a:xfrm>
            <a:off x="3635383" y="5975350"/>
            <a:ext cx="3125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·</a:t>
            </a:r>
            <a:endParaRPr lang="en-US" sz="750" dirty="0"/>
          </a:p>
        </p:txBody>
      </p:sp>
      <p:sp>
        <p:nvSpPr>
          <p:cNvPr id="17" name="Text 17"/>
          <p:cNvSpPr/>
          <p:nvPr/>
        </p:nvSpPr>
        <p:spPr>
          <a:xfrm>
            <a:off x="3812782" y="5975350"/>
            <a:ext cx="47053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>
                    <a:alpha val="5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zod.dev</a:t>
            </a:r>
            <a:endParaRPr lang="en-US" sz="750" dirty="0"/>
          </a:p>
        </p:txBody>
      </p:sp>
      <p:sp>
        <p:nvSpPr>
          <p:cNvPr id="18" name="Text 18"/>
          <p:cNvSpPr/>
          <p:nvPr/>
        </p:nvSpPr>
        <p:spPr>
          <a:xfrm>
            <a:off x="4341605" y="5975350"/>
            <a:ext cx="3125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·</a:t>
            </a:r>
            <a:endParaRPr lang="en-US" sz="750" dirty="0"/>
          </a:p>
        </p:txBody>
      </p:sp>
      <p:sp>
        <p:nvSpPr>
          <p:cNvPr id="19" name="Text 19"/>
          <p:cNvSpPr/>
          <p:nvPr/>
        </p:nvSpPr>
        <p:spPr>
          <a:xfrm>
            <a:off x="4519003" y="5975350"/>
            <a:ext cx="1001836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>
                    <a:alpha val="5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orm.drizzle.team</a:t>
            </a:r>
            <a:endParaRPr lang="en-US" sz="750" dirty="0"/>
          </a:p>
        </p:txBody>
      </p:sp>
      <p:sp>
        <p:nvSpPr>
          <p:cNvPr id="20" name="Text 20"/>
          <p:cNvSpPr/>
          <p:nvPr/>
        </p:nvSpPr>
        <p:spPr>
          <a:xfrm>
            <a:off x="5472869" y="5975350"/>
            <a:ext cx="3125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·</a:t>
            </a:r>
            <a:endParaRPr lang="en-US" sz="750" dirty="0"/>
          </a:p>
        </p:txBody>
      </p:sp>
      <p:sp>
        <p:nvSpPr>
          <p:cNvPr id="21" name="Text 21"/>
          <p:cNvSpPr/>
          <p:nvPr/>
        </p:nvSpPr>
        <p:spPr>
          <a:xfrm>
            <a:off x="5650267" y="5975350"/>
            <a:ext cx="624690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>
                    <a:alpha val="5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fly.io/docs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slide-gen</Application>
  <PresentationFormat>On-screen Show (16:9)</PresentationFormat>
  <Paragraphs>0</Paragraphs>
  <Slides>7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slide-gen</dc:creator>
  <cp:lastModifiedBy>slide-gen</cp:lastModifiedBy>
  <cp:revision>1</cp:revision>
  <dcterms:created xsi:type="dcterms:W3CDTF">2026-03-27T23:37:31Z</dcterms:created>
  <dcterms:modified xsi:type="dcterms:W3CDTF">2026-03-27T23:37:31Z</dcterms:modified>
</cp:coreProperties>
</file>